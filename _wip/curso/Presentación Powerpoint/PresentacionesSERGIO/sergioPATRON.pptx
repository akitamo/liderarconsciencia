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60" r:id="rId3"/>
    <p:sldId id="262" r:id="rId4"/>
    <p:sldId id="269" r:id="rId5"/>
    <p:sldId id="263" r:id="rId6"/>
    <p:sldId id="258" r:id="rId7"/>
    <p:sldId id="271" r:id="rId8"/>
    <p:sldId id="276" r:id="rId9"/>
    <p:sldId id="282" r:id="rId10"/>
    <p:sldId id="297" r:id="rId11"/>
    <p:sldId id="298" r:id="rId12"/>
    <p:sldId id="284" r:id="rId13"/>
    <p:sldId id="264" r:id="rId14"/>
    <p:sldId id="290" r:id="rId15"/>
    <p:sldId id="292" r:id="rId16"/>
    <p:sldId id="293" r:id="rId17"/>
    <p:sldId id="267" r:id="rId18"/>
    <p:sldId id="294" r:id="rId19"/>
    <p:sldId id="304" r:id="rId20"/>
    <p:sldId id="283" r:id="rId21"/>
    <p:sldId id="305" r:id="rId22"/>
    <p:sldId id="300" r:id="rId23"/>
    <p:sldId id="301" r:id="rId24"/>
    <p:sldId id="302" r:id="rId25"/>
    <p:sldId id="303"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987F"/>
    <a:srgbClr val="FDFCFA"/>
    <a:srgbClr val="1F3A3D"/>
    <a:srgbClr val="DC8060"/>
    <a:srgbClr val="8890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10"/>
  </p:normalViewPr>
  <p:slideViewPr>
    <p:cSldViewPr snapToGrid="0" snapToObjects="1">
      <p:cViewPr varScale="1">
        <p:scale>
          <a:sx n="102" d="100"/>
          <a:sy n="102" d="100"/>
        </p:scale>
        <p:origin x="582"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5849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489E-2614-F580-EF0A-A7817948A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81338-06CE-5306-18B7-DB4465032A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12A901-8402-BB5C-0BD2-41367C5E7A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28B5FA-82C2-3F78-8BCA-CE66141F81C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03496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764AA-40B6-7333-E452-841B37A13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60495-36B3-70CE-2652-D8FCF80DE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AF581-D47C-A082-65EC-74AB2AF4A5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76897F-F68A-8DA5-60E7-A560D869DFC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46133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módulo no es solo información; es una invitación a un cambio de perspectiva fundamental. Pasamos de sentirnos abrumados por la magnitud de la tormenta a reconocer nuestro poder. De la impotencia, a la certeza de que nuestra presencia es la primera y más poderosa herramienta de cambio. Es un giro de 180 grados en cómo nos posicionamos ante los desafíos. Y ahora, vamos a anclar esa certeza con una práctica.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vamos a hacer nuestra primera práctica juntos, una meditación de intención. Es un momento para conectar con el propósito profundo de por qué estamos aquí. Cierren los ojos, tomen tres respiraciones profundas y permitan que su cuerpo se asiente. Traigan a su mente la razón por la que están aquí, lo que los trajo a este programa. No necesitan una respuesta elaborada, solo noten lo que surge. Luego, pregúntense: ¿Qué tipo de líder quiero ser? No qué quiero lograr, sino quién quiero ser en mi liderazgo. Establezcan una intención simple para este programa, una dirección, una cualidad que quieren cultivar. Guarden esa intención; volveremos a ella al final del programa. Cuando estén listos, abran los ojos. Esta intención es la semilla que vamos a plantar.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les invito a una breve pausa para la honestidad. De las tres respuestas que hemos visto —la desconexión, el cinismo o el agotamiento— ¿cuál reconoces más en ti últimamente? No hay respuestas correctas o incorrectas, solo un espacio para la autoobservación. Esta reflexión es el primer paso para entender dónde estamos y cómo podemos empezar a cambiar. Y es el punto de partida para explorar una forma diferente de liderar.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2" name="Image 0" descr="preencoded.png"/>
          <p:cNvPicPr>
            <a:picLocks noChangeAspect="1"/>
          </p:cNvPicPr>
          <p:nvPr userDrawn="1"/>
        </p:nvPicPr>
        <p:blipFill>
          <a:blip r:embed="rId2"/>
          <a:stretch>
            <a:fillRect/>
          </a:stretch>
        </p:blipFill>
        <p:spPr>
          <a:xfrm>
            <a:off x="0" y="26549"/>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97BF97D7-45C8-1BA2-72ED-F39ED1266C61}"/>
              </a:ext>
            </a:extLst>
          </p:cNvPr>
          <p:cNvPicPr>
            <a:picLocks noChangeAspect="1"/>
          </p:cNvPicPr>
          <p:nvPr userDrawn="1"/>
        </p:nvPicPr>
        <p:blipFill>
          <a:blip r:embed="rId3"/>
          <a:stretch>
            <a:fillRect/>
          </a:stretch>
        </p:blipFill>
        <p:spPr>
          <a:xfrm>
            <a:off x="12632" y="0"/>
            <a:ext cx="9144000" cy="5143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714375" y="1006041"/>
            <a:ext cx="6786563" cy="233958"/>
          </a:xfrm>
          <a:prstGeom prst="rect">
            <a:avLst/>
          </a:prstGeom>
          <a:noFill/>
        </p:spPr>
        <p:txBody>
          <a:bodyPr wrap="square">
            <a:spAutoFit/>
          </a:bodyPr>
          <a:lstStyle/>
          <a:p>
            <a:pPr algn="l"/>
            <a:r>
              <a:rPr sz="1200" b="1">
                <a:solidFill>
                  <a:srgbClr val="DC8060"/>
                </a:solidFill>
                <a:latin typeface="Montserrat"/>
              </a:rPr>
              <a:t>Módulo 04</a:t>
            </a:r>
          </a:p>
        </p:txBody>
      </p:sp>
      <p:sp>
        <p:nvSpPr>
          <p:cNvPr id="4" name="TextBox 3"/>
          <p:cNvSpPr txBox="1"/>
          <p:nvPr/>
        </p:nvSpPr>
        <p:spPr>
          <a:xfrm>
            <a:off x="714375" y="1454311"/>
            <a:ext cx="6786563" cy="1200150"/>
          </a:xfrm>
          <a:prstGeom prst="rect">
            <a:avLst/>
          </a:prstGeom>
          <a:noFill/>
        </p:spPr>
        <p:txBody>
          <a:bodyPr wrap="square">
            <a:spAutoFit/>
          </a:bodyPr>
          <a:lstStyle/>
          <a:p>
            <a:pPr algn="l"/>
            <a:r>
              <a:rPr sz="4145" b="1" dirty="0" err="1">
                <a:solidFill>
                  <a:srgbClr val="FFFFFF"/>
                </a:solidFill>
                <a:latin typeface="Montserrat"/>
              </a:rPr>
              <a:t>Consciente</a:t>
            </a:r>
            <a:r>
              <a:rPr sz="4145" b="1" dirty="0">
                <a:solidFill>
                  <a:srgbClr val="FFFFFF"/>
                </a:solidFill>
                <a:latin typeface="Montserrat"/>
              </a:rPr>
              <a:t> de lo</a:t>
            </a:r>
          </a:p>
          <a:p>
            <a:pPr algn="l"/>
            <a:r>
              <a:rPr sz="4145" b="1" dirty="0" err="1">
                <a:solidFill>
                  <a:srgbClr val="FFFFFF"/>
                </a:solidFill>
                <a:latin typeface="Montserrat"/>
              </a:rPr>
              <a:t>que</a:t>
            </a:r>
            <a:r>
              <a:rPr sz="4145" b="1" dirty="0">
                <a:solidFill>
                  <a:srgbClr val="FFFFFF"/>
                </a:solidFill>
                <a:latin typeface="Montserrat"/>
              </a:rPr>
              <a:t> </a:t>
            </a:r>
            <a:r>
              <a:rPr sz="4145" b="1" dirty="0" err="1">
                <a:solidFill>
                  <a:srgbClr val="FFFFFF"/>
                </a:solidFill>
                <a:latin typeface="Montserrat"/>
              </a:rPr>
              <a:t>Necesito</a:t>
            </a:r>
            <a:endParaRPr sz="4145" b="1" dirty="0">
              <a:solidFill>
                <a:srgbClr val="FFFFFF"/>
              </a:solidFill>
              <a:latin typeface="Montserrat"/>
            </a:endParaRPr>
          </a:p>
        </p:txBody>
      </p:sp>
      <p:sp>
        <p:nvSpPr>
          <p:cNvPr id="5" name="TextBox 4"/>
          <p:cNvSpPr txBox="1"/>
          <p:nvPr/>
        </p:nvSpPr>
        <p:spPr>
          <a:xfrm>
            <a:off x="1035844" y="3497424"/>
            <a:ext cx="6465094" cy="640035"/>
          </a:xfrm>
          <a:prstGeom prst="rect">
            <a:avLst/>
          </a:prstGeom>
          <a:noFill/>
        </p:spPr>
        <p:txBody>
          <a:bodyPr wrap="square">
            <a:spAutoFit/>
          </a:bodyPr>
          <a:lstStyle/>
          <a:p>
            <a:pPr algn="l"/>
            <a:r>
              <a:rPr sz="2200" b="0">
                <a:solidFill>
                  <a:srgbClr val="E0EBEB"/>
                </a:solidFill>
                <a:latin typeface="Montserrat"/>
              </a:rPr>
              <a:t>"Cuidarte no es egoísmo; es la condición para poder liderar."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714375" y="1617166"/>
            <a:ext cx="1471054" cy="1028700"/>
          </a:xfrm>
          <a:prstGeom prst="rect">
            <a:avLst/>
          </a:prstGeom>
          <a:noFill/>
        </p:spPr>
        <p:txBody>
          <a:bodyPr wrap="square">
            <a:spAutoFit/>
          </a:bodyPr>
          <a:lstStyle/>
          <a:p>
            <a:pPr algn="l"/>
            <a:r>
              <a:rPr sz="9327" b="1">
                <a:solidFill>
                  <a:srgbClr val="DC8060"/>
                </a:solidFill>
                <a:latin typeface="Montserrat"/>
              </a:rPr>
              <a:t>01</a:t>
            </a:r>
          </a:p>
        </p:txBody>
      </p:sp>
      <p:sp>
        <p:nvSpPr>
          <p:cNvPr id="4" name="TextBox 3"/>
          <p:cNvSpPr txBox="1"/>
          <p:nvPr/>
        </p:nvSpPr>
        <p:spPr>
          <a:xfrm>
            <a:off x="3042679" y="1688604"/>
            <a:ext cx="4920816" cy="194667"/>
          </a:xfrm>
          <a:prstGeom prst="rect">
            <a:avLst/>
          </a:prstGeom>
          <a:noFill/>
        </p:spPr>
        <p:txBody>
          <a:bodyPr wrap="square">
            <a:spAutoFit/>
          </a:bodyPr>
          <a:lstStyle/>
          <a:p>
            <a:pPr algn="l"/>
            <a:r>
              <a:rPr sz="1200" b="1">
                <a:solidFill>
                  <a:srgbClr val="E0EBEB"/>
                </a:solidFill>
                <a:latin typeface="Montserrat"/>
              </a:rPr>
              <a:t>TEMA</a:t>
            </a:r>
          </a:p>
        </p:txBody>
      </p:sp>
      <p:sp>
        <p:nvSpPr>
          <p:cNvPr id="5" name="TextBox 4"/>
          <p:cNvSpPr txBox="1"/>
          <p:nvPr/>
        </p:nvSpPr>
        <p:spPr>
          <a:xfrm>
            <a:off x="3042679" y="2026146"/>
            <a:ext cx="4920816" cy="1005818"/>
          </a:xfrm>
          <a:prstGeom prst="rect">
            <a:avLst/>
          </a:prstGeom>
          <a:noFill/>
        </p:spPr>
        <p:txBody>
          <a:bodyPr wrap="square">
            <a:spAutoFit/>
          </a:bodyPr>
          <a:lstStyle/>
          <a:p>
            <a:pPr algn="l"/>
            <a:r>
              <a:rPr sz="3294" b="1">
                <a:solidFill>
                  <a:srgbClr val="FFFFFF"/>
                </a:solidFill>
                <a:latin typeface="Montserrat"/>
              </a:rPr>
              <a:t>El Mito del</a:t>
            </a:r>
          </a:p>
          <a:p>
            <a:pPr algn="l"/>
            <a:r>
              <a:rPr sz="3294" b="1">
                <a:solidFill>
                  <a:srgbClr val="FFFFFF"/>
                </a:solidFill>
                <a:latin typeface="Montserrat"/>
              </a:rPr>
              <a:t>Líder Inagotable</a:t>
            </a:r>
          </a:p>
        </p:txBody>
      </p:sp>
      <p:sp>
        <p:nvSpPr>
          <p:cNvPr id="6" name="TextBox 5"/>
          <p:cNvSpPr txBox="1"/>
          <p:nvPr/>
        </p:nvSpPr>
        <p:spPr>
          <a:xfrm>
            <a:off x="3042679" y="3246276"/>
            <a:ext cx="4920816" cy="280029"/>
          </a:xfrm>
          <a:prstGeom prst="rect">
            <a:avLst/>
          </a:prstGeom>
          <a:noFill/>
        </p:spPr>
        <p:txBody>
          <a:bodyPr wrap="square">
            <a:spAutoFit/>
          </a:bodyPr>
          <a:lstStyle/>
          <a:p>
            <a:pPr algn="l"/>
            <a:r>
              <a:rPr sz="1200" b="0">
                <a:solidFill>
                  <a:srgbClr val="E0EBEB"/>
                </a:solidFill>
                <a:latin typeface="Montserrat"/>
              </a:rPr>
              <a:t>Del autocuidado como lujo al autocuidado como necesidad del liderazgo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REENCUADRE</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El autocuidado como competencia de liderazgo</a:t>
            </a:r>
            <a:endParaRPr lang="en-US" sz="2200" dirty="0"/>
          </a:p>
        </p:txBody>
      </p:sp>
      <p:sp>
        <p:nvSpPr>
          <p:cNvPr id="5" name="Text 2"/>
          <p:cNvSpPr/>
          <p:nvPr/>
        </p:nvSpPr>
        <p:spPr>
          <a:xfrm>
            <a:off x="571500" y="1371600"/>
            <a:ext cx="3714750" cy="357188"/>
          </a:xfrm>
          <a:prstGeom prst="rect">
            <a:avLst/>
          </a:prstGeom>
          <a:noFill/>
          <a:ln/>
        </p:spPr>
        <p:txBody>
          <a:bodyPr wrap="square" lIns="0" tIns="0" rIns="0" bIns="136017" rtlCol="0" anchor="t">
            <a:spAutoFit/>
          </a:bodyPr>
          <a:lstStyle/>
          <a:p>
            <a:pPr marL="0" indent="0" algn="l">
              <a:lnSpc>
                <a:spcPts val="1800"/>
              </a:lnSpc>
              <a:buNone/>
            </a:pPr>
            <a:r>
              <a:rPr lang="en-US" sz="1200" b="1" dirty="0">
                <a:solidFill>
                  <a:srgbClr val="889088"/>
                </a:solidFill>
              </a:rPr>
              <a:t>Lo que NO es</a:t>
            </a:r>
            <a:endParaRPr lang="en-US" sz="1200" dirty="0"/>
          </a:p>
        </p:txBody>
      </p:sp>
      <p:pic>
        <p:nvPicPr>
          <p:cNvPr id="6" name="Image 1" descr="preencoded.png"/>
          <p:cNvPicPr>
            <a:picLocks noChangeAspect="1"/>
          </p:cNvPicPr>
          <p:nvPr/>
        </p:nvPicPr>
        <p:blipFill>
          <a:blip r:embed="rId3"/>
          <a:stretch>
            <a:fillRect/>
          </a:stretch>
        </p:blipFill>
        <p:spPr>
          <a:xfrm>
            <a:off x="669727" y="2071688"/>
            <a:ext cx="89297" cy="200025"/>
          </a:xfrm>
          <a:prstGeom prst="rect">
            <a:avLst/>
          </a:prstGeom>
        </p:spPr>
      </p:pic>
      <p:sp>
        <p:nvSpPr>
          <p:cNvPr id="7" name="Text 3"/>
          <p:cNvSpPr/>
          <p:nvPr/>
        </p:nvSpPr>
        <p:spPr>
          <a:xfrm>
            <a:off x="1000125" y="2077380"/>
            <a:ext cx="502490" cy="188612"/>
          </a:xfrm>
          <a:prstGeom prst="rect">
            <a:avLst/>
          </a:prstGeom>
          <a:noFill/>
          <a:ln/>
        </p:spPr>
        <p:txBody>
          <a:bodyPr wrap="none" lIns="0" tIns="0" rIns="0" bIns="0" rtlCol="0" anchor="t">
            <a:spAutoFit/>
          </a:bodyPr>
          <a:lstStyle/>
          <a:p>
            <a:pPr marL="0" indent="0" algn="l">
              <a:lnSpc>
                <a:spcPts val="1500"/>
              </a:lnSpc>
              <a:buNone/>
            </a:pPr>
            <a:r>
              <a:rPr lang="en-US" sz="900" dirty="0">
                <a:solidFill>
                  <a:srgbClr val="889088"/>
                </a:solidFill>
              </a:rPr>
              <a:t>Un extra</a:t>
            </a:r>
            <a:endParaRPr lang="en-US" sz="900" dirty="0"/>
          </a:p>
        </p:txBody>
      </p:sp>
      <p:pic>
        <p:nvPicPr>
          <p:cNvPr id="8" name="Image 2" descr="preencoded.png"/>
          <p:cNvPicPr>
            <a:picLocks noChangeAspect="1"/>
          </p:cNvPicPr>
          <p:nvPr/>
        </p:nvPicPr>
        <p:blipFill>
          <a:blip r:embed="rId3"/>
          <a:stretch>
            <a:fillRect/>
          </a:stretch>
        </p:blipFill>
        <p:spPr>
          <a:xfrm>
            <a:off x="669727" y="2621756"/>
            <a:ext cx="89297" cy="200025"/>
          </a:xfrm>
          <a:prstGeom prst="rect">
            <a:avLst/>
          </a:prstGeom>
        </p:spPr>
      </p:pic>
      <p:sp>
        <p:nvSpPr>
          <p:cNvPr id="9" name="Text 4"/>
          <p:cNvSpPr/>
          <p:nvPr/>
        </p:nvSpPr>
        <p:spPr>
          <a:xfrm>
            <a:off x="1000125" y="2627449"/>
            <a:ext cx="2666907" cy="188612"/>
          </a:xfrm>
          <a:prstGeom prst="rect">
            <a:avLst/>
          </a:prstGeom>
          <a:noFill/>
          <a:ln/>
        </p:spPr>
        <p:txBody>
          <a:bodyPr wrap="none" lIns="0" tIns="0" rIns="0" bIns="0" rtlCol="0" anchor="t">
            <a:spAutoFit/>
          </a:bodyPr>
          <a:lstStyle/>
          <a:p>
            <a:pPr marL="0" indent="0" algn="l">
              <a:lnSpc>
                <a:spcPts val="1500"/>
              </a:lnSpc>
              <a:buNone/>
            </a:pPr>
            <a:r>
              <a:rPr lang="en-US" sz="900" dirty="0">
                <a:solidFill>
                  <a:srgbClr val="889088"/>
                </a:solidFill>
              </a:rPr>
              <a:t>Una recompensa por haber trabajado mucho</a:t>
            </a:r>
            <a:endParaRPr lang="en-US" sz="900" dirty="0"/>
          </a:p>
        </p:txBody>
      </p:sp>
      <p:pic>
        <p:nvPicPr>
          <p:cNvPr id="10" name="Image 3" descr="preencoded.png"/>
          <p:cNvPicPr>
            <a:picLocks noChangeAspect="1"/>
          </p:cNvPicPr>
          <p:nvPr/>
        </p:nvPicPr>
        <p:blipFill>
          <a:blip r:embed="rId3"/>
          <a:stretch>
            <a:fillRect/>
          </a:stretch>
        </p:blipFill>
        <p:spPr>
          <a:xfrm>
            <a:off x="669727" y="3171825"/>
            <a:ext cx="89297" cy="200025"/>
          </a:xfrm>
          <a:prstGeom prst="rect">
            <a:avLst/>
          </a:prstGeom>
        </p:spPr>
      </p:pic>
      <p:sp>
        <p:nvSpPr>
          <p:cNvPr id="11" name="Text 5"/>
          <p:cNvSpPr/>
          <p:nvPr/>
        </p:nvSpPr>
        <p:spPr>
          <a:xfrm>
            <a:off x="1000125" y="3177518"/>
            <a:ext cx="1591047" cy="188612"/>
          </a:xfrm>
          <a:prstGeom prst="rect">
            <a:avLst/>
          </a:prstGeom>
          <a:noFill/>
          <a:ln/>
        </p:spPr>
        <p:txBody>
          <a:bodyPr wrap="none" lIns="0" tIns="0" rIns="0" bIns="0" rtlCol="0" anchor="t">
            <a:spAutoFit/>
          </a:bodyPr>
          <a:lstStyle/>
          <a:p>
            <a:pPr marL="0" indent="0" algn="l">
              <a:lnSpc>
                <a:spcPts val="1500"/>
              </a:lnSpc>
              <a:buNone/>
            </a:pPr>
            <a:r>
              <a:rPr lang="en-US" sz="900" dirty="0">
                <a:solidFill>
                  <a:srgbClr val="889088"/>
                </a:solidFill>
              </a:rPr>
              <a:t>Tiempo "robado" al trabajo</a:t>
            </a:r>
            <a:endParaRPr lang="en-US" sz="900" dirty="0"/>
          </a:p>
        </p:txBody>
      </p:sp>
      <p:pic>
        <p:nvPicPr>
          <p:cNvPr id="12" name="Image 4" descr="preencoded.png"/>
          <p:cNvPicPr>
            <a:picLocks noChangeAspect="1"/>
          </p:cNvPicPr>
          <p:nvPr/>
        </p:nvPicPr>
        <p:blipFill>
          <a:blip r:embed="rId3"/>
          <a:stretch>
            <a:fillRect/>
          </a:stretch>
        </p:blipFill>
        <p:spPr>
          <a:xfrm>
            <a:off x="669727" y="3721894"/>
            <a:ext cx="89297" cy="200025"/>
          </a:xfrm>
          <a:prstGeom prst="rect">
            <a:avLst/>
          </a:prstGeom>
        </p:spPr>
      </p:pic>
      <p:sp>
        <p:nvSpPr>
          <p:cNvPr id="13" name="Text 6"/>
          <p:cNvSpPr/>
          <p:nvPr/>
        </p:nvSpPr>
        <p:spPr>
          <a:xfrm>
            <a:off x="1000125" y="3727586"/>
            <a:ext cx="1082167" cy="188612"/>
          </a:xfrm>
          <a:prstGeom prst="rect">
            <a:avLst/>
          </a:prstGeom>
          <a:noFill/>
          <a:ln/>
        </p:spPr>
        <p:txBody>
          <a:bodyPr wrap="none" lIns="0" tIns="0" rIns="0" bIns="0" rtlCol="0" anchor="t">
            <a:spAutoFit/>
          </a:bodyPr>
          <a:lstStyle/>
          <a:p>
            <a:pPr marL="0" indent="0" algn="l">
              <a:lnSpc>
                <a:spcPts val="1500"/>
              </a:lnSpc>
              <a:buNone/>
            </a:pPr>
            <a:r>
              <a:rPr lang="en-US" sz="900" dirty="0">
                <a:solidFill>
                  <a:srgbClr val="889088"/>
                </a:solidFill>
              </a:rPr>
              <a:t>Señal de debilidad</a:t>
            </a:r>
            <a:endParaRPr lang="en-US" sz="900" dirty="0"/>
          </a:p>
        </p:txBody>
      </p:sp>
      <p:sp>
        <p:nvSpPr>
          <p:cNvPr id="14" name="Text 7"/>
          <p:cNvSpPr/>
          <p:nvPr/>
        </p:nvSpPr>
        <p:spPr>
          <a:xfrm>
            <a:off x="4857750" y="1371600"/>
            <a:ext cx="3714750" cy="371475"/>
          </a:xfrm>
          <a:prstGeom prst="rect">
            <a:avLst/>
          </a:prstGeom>
          <a:noFill/>
          <a:ln/>
        </p:spPr>
        <p:txBody>
          <a:bodyPr wrap="square" lIns="0" tIns="0" rIns="0" bIns="136017" rtlCol="0" anchor="t">
            <a:spAutoFit/>
          </a:bodyPr>
          <a:lstStyle/>
          <a:p>
            <a:pPr marL="0" indent="0" algn="l">
              <a:lnSpc>
                <a:spcPts val="1800"/>
              </a:lnSpc>
              <a:buNone/>
            </a:pPr>
            <a:r>
              <a:rPr lang="en-US" sz="1200" b="1" dirty="0">
                <a:solidFill>
                  <a:srgbClr val="DC8060"/>
                </a:solidFill>
              </a:rPr>
              <a:t>Lo que SÍ es</a:t>
            </a:r>
            <a:endParaRPr lang="en-US" sz="1200" dirty="0"/>
          </a:p>
        </p:txBody>
      </p:sp>
      <p:pic>
        <p:nvPicPr>
          <p:cNvPr id="15" name="Image 5" descr="preencoded.png"/>
          <p:cNvPicPr>
            <a:picLocks noChangeAspect="1"/>
          </p:cNvPicPr>
          <p:nvPr/>
        </p:nvPicPr>
        <p:blipFill>
          <a:blip r:embed="rId4"/>
          <a:stretch>
            <a:fillRect/>
          </a:stretch>
        </p:blipFill>
        <p:spPr>
          <a:xfrm>
            <a:off x="4914900" y="2085975"/>
            <a:ext cx="171450" cy="228600"/>
          </a:xfrm>
          <a:prstGeom prst="rect">
            <a:avLst/>
          </a:prstGeom>
        </p:spPr>
      </p:pic>
      <p:sp>
        <p:nvSpPr>
          <p:cNvPr id="16" name="Text 8"/>
          <p:cNvSpPr/>
          <p:nvPr/>
        </p:nvSpPr>
        <p:spPr>
          <a:xfrm>
            <a:off x="5286375" y="2097416"/>
            <a:ext cx="2303525" cy="205718"/>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Condición para la claridad mental</a:t>
            </a:r>
            <a:endParaRPr lang="en-US" sz="900" dirty="0"/>
          </a:p>
        </p:txBody>
      </p:sp>
      <p:pic>
        <p:nvPicPr>
          <p:cNvPr id="17" name="Image 6" descr="preencoded.png"/>
          <p:cNvPicPr>
            <a:picLocks noChangeAspect="1"/>
          </p:cNvPicPr>
          <p:nvPr/>
        </p:nvPicPr>
        <p:blipFill>
          <a:blip r:embed="rId4"/>
          <a:stretch>
            <a:fillRect/>
          </a:stretch>
        </p:blipFill>
        <p:spPr>
          <a:xfrm>
            <a:off x="4914900" y="2671763"/>
            <a:ext cx="171450" cy="228600"/>
          </a:xfrm>
          <a:prstGeom prst="rect">
            <a:avLst/>
          </a:prstGeom>
        </p:spPr>
      </p:pic>
      <p:sp>
        <p:nvSpPr>
          <p:cNvPr id="18" name="Text 9"/>
          <p:cNvSpPr/>
          <p:nvPr/>
        </p:nvSpPr>
        <p:spPr>
          <a:xfrm>
            <a:off x="5286375" y="2683204"/>
            <a:ext cx="2666293" cy="205718"/>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Requisito para la regulación emocional</a:t>
            </a:r>
            <a:endParaRPr lang="en-US" sz="900" dirty="0"/>
          </a:p>
        </p:txBody>
      </p:sp>
      <p:pic>
        <p:nvPicPr>
          <p:cNvPr id="19" name="Image 7" descr="preencoded.png"/>
          <p:cNvPicPr>
            <a:picLocks noChangeAspect="1"/>
          </p:cNvPicPr>
          <p:nvPr/>
        </p:nvPicPr>
        <p:blipFill>
          <a:blip r:embed="rId4"/>
          <a:stretch>
            <a:fillRect/>
          </a:stretch>
        </p:blipFill>
        <p:spPr>
          <a:xfrm>
            <a:off x="4914900" y="3257550"/>
            <a:ext cx="171450" cy="228600"/>
          </a:xfrm>
          <a:prstGeom prst="rect">
            <a:avLst/>
          </a:prstGeom>
        </p:spPr>
      </p:pic>
      <p:sp>
        <p:nvSpPr>
          <p:cNvPr id="20" name="Text 10"/>
          <p:cNvSpPr/>
          <p:nvPr/>
        </p:nvSpPr>
        <p:spPr>
          <a:xfrm>
            <a:off x="5286375" y="3268991"/>
            <a:ext cx="2188164" cy="205718"/>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Base de la capacidad de inspirar</a:t>
            </a:r>
            <a:endParaRPr lang="en-US" sz="900" dirty="0"/>
          </a:p>
        </p:txBody>
      </p:sp>
      <p:pic>
        <p:nvPicPr>
          <p:cNvPr id="21" name="Image 8" descr="preencoded.png"/>
          <p:cNvPicPr>
            <a:picLocks noChangeAspect="1"/>
          </p:cNvPicPr>
          <p:nvPr/>
        </p:nvPicPr>
        <p:blipFill>
          <a:blip r:embed="rId4"/>
          <a:stretch>
            <a:fillRect/>
          </a:stretch>
        </p:blipFill>
        <p:spPr>
          <a:xfrm>
            <a:off x="4914900" y="3843338"/>
            <a:ext cx="171450" cy="228600"/>
          </a:xfrm>
          <a:prstGeom prst="rect">
            <a:avLst/>
          </a:prstGeom>
        </p:spPr>
      </p:pic>
      <p:sp>
        <p:nvSpPr>
          <p:cNvPr id="22" name="Text 11"/>
          <p:cNvSpPr/>
          <p:nvPr/>
        </p:nvSpPr>
        <p:spPr>
          <a:xfrm>
            <a:off x="5286375" y="3854779"/>
            <a:ext cx="2354814" cy="205718"/>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Inversión en efectividad sostenida</a:t>
            </a:r>
            <a:endParaRPr lang="en-US" sz="900" dirty="0"/>
          </a:p>
        </p:txBody>
      </p:sp>
      <p:cxnSp>
        <p:nvCxnSpPr>
          <p:cNvPr id="25" name="Conector recto 24">
            <a:extLst>
              <a:ext uri="{FF2B5EF4-FFF2-40B4-BE49-F238E27FC236}">
                <a16:creationId xmlns:a16="http://schemas.microsoft.com/office/drawing/2014/main" id="{ED92D617-AAAE-787B-DECE-BBFA634D0BEC}"/>
              </a:ext>
            </a:extLst>
          </p:cNvPr>
          <p:cNvCxnSpPr>
            <a:cxnSpLocks/>
          </p:cNvCxnSpPr>
          <p:nvPr/>
        </p:nvCxnSpPr>
        <p:spPr>
          <a:xfrm>
            <a:off x="501161" y="1690871"/>
            <a:ext cx="2926666" cy="0"/>
          </a:xfrm>
          <a:prstGeom prst="line">
            <a:avLst/>
          </a:prstGeom>
          <a:ln w="12700">
            <a:solidFill>
              <a:srgbClr val="889088"/>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BDD4F286-670F-BEDC-9005-0FC6D073CA5F}"/>
              </a:ext>
            </a:extLst>
          </p:cNvPr>
          <p:cNvCxnSpPr>
            <a:cxnSpLocks/>
          </p:cNvCxnSpPr>
          <p:nvPr/>
        </p:nvCxnSpPr>
        <p:spPr>
          <a:xfrm>
            <a:off x="4857750" y="1690871"/>
            <a:ext cx="2926666" cy="0"/>
          </a:xfrm>
          <a:prstGeom prst="line">
            <a:avLst/>
          </a:prstGeom>
          <a:ln w="28575">
            <a:solidFill>
              <a:srgbClr val="DC806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SÍNDROME DE ADAPTACIÓN GENERAL (SELYE)</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El camino de la movilización al colapso</a:t>
            </a:r>
            <a:endParaRPr lang="en-US" sz="2200" dirty="0"/>
          </a:p>
        </p:txBody>
      </p:sp>
      <p:sp>
        <p:nvSpPr>
          <p:cNvPr id="5" name="Shape 2"/>
          <p:cNvSpPr/>
          <p:nvPr/>
        </p:nvSpPr>
        <p:spPr>
          <a:xfrm>
            <a:off x="571500" y="1200150"/>
            <a:ext cx="2514600" cy="2743200"/>
          </a:xfrm>
          <a:prstGeom prst="rect">
            <a:avLst/>
          </a:prstGeom>
          <a:solidFill>
            <a:srgbClr val="FFFFFF"/>
          </a:solidFill>
          <a:ln/>
        </p:spPr>
        <p:txBody>
          <a:bodyPr/>
          <a:lstStyle/>
          <a:p>
            <a:endParaRPr lang="es-ES"/>
          </a:p>
        </p:txBody>
      </p:sp>
      <p:sp>
        <p:nvSpPr>
          <p:cNvPr id="6" name="Shape 3"/>
          <p:cNvSpPr/>
          <p:nvPr/>
        </p:nvSpPr>
        <p:spPr>
          <a:xfrm>
            <a:off x="571500" y="1200150"/>
            <a:ext cx="2514600" cy="57150"/>
          </a:xfrm>
          <a:prstGeom prst="rect">
            <a:avLst/>
          </a:prstGeom>
          <a:solidFill>
            <a:srgbClr val="1F3A3D"/>
          </a:solidFill>
          <a:ln/>
        </p:spPr>
        <p:txBody>
          <a:bodyPr/>
          <a:lstStyle/>
          <a:p>
            <a:endParaRPr lang="es-ES"/>
          </a:p>
        </p:txBody>
      </p:sp>
      <p:sp>
        <p:nvSpPr>
          <p:cNvPr id="7" name="Text 4"/>
          <p:cNvSpPr/>
          <p:nvPr/>
        </p:nvSpPr>
        <p:spPr>
          <a:xfrm>
            <a:off x="2714681" y="1271588"/>
            <a:ext cx="264263" cy="685800"/>
          </a:xfrm>
          <a:prstGeom prst="rect">
            <a:avLst/>
          </a:prstGeom>
          <a:noFill/>
          <a:ln/>
        </p:spPr>
        <p:txBody>
          <a:bodyPr wrap="none" lIns="0" tIns="0" rIns="0" bIns="0" rtlCol="0" anchor="t">
            <a:spAutoFit/>
          </a:bodyPr>
          <a:lstStyle/>
          <a:p>
            <a:pPr marL="0" indent="0" algn="ctr">
              <a:lnSpc>
                <a:spcPts val="5400"/>
              </a:lnSpc>
              <a:buNone/>
            </a:pPr>
            <a:r>
              <a:rPr lang="en-US" sz="3294" b="1" dirty="0">
                <a:solidFill>
                  <a:srgbClr val="F2F7F7"/>
                </a:solidFill>
              </a:rPr>
              <a:t>1</a:t>
            </a:r>
            <a:endParaRPr lang="en-US" sz="3294" dirty="0"/>
          </a:p>
        </p:txBody>
      </p:sp>
      <p:sp>
        <p:nvSpPr>
          <p:cNvPr id="8" name="Shape 5"/>
          <p:cNvSpPr/>
          <p:nvPr/>
        </p:nvSpPr>
        <p:spPr>
          <a:xfrm>
            <a:off x="1614488" y="1485900"/>
            <a:ext cx="428625" cy="857250"/>
          </a:xfrm>
          <a:prstGeom prst="rect">
            <a:avLst/>
          </a:prstGeom>
          <a:solidFill>
            <a:srgbClr val="F0F0F0"/>
          </a:solidFill>
          <a:ln w="27432">
            <a:solidFill>
              <a:srgbClr val="1F3A3D"/>
            </a:solidFill>
            <a:prstDash val="solid"/>
          </a:ln>
        </p:spPr>
        <p:txBody>
          <a:bodyPr/>
          <a:lstStyle/>
          <a:p>
            <a:endParaRPr lang="es-ES"/>
          </a:p>
        </p:txBody>
      </p:sp>
      <p:sp>
        <p:nvSpPr>
          <p:cNvPr id="9" name="Text 6"/>
          <p:cNvSpPr/>
          <p:nvPr/>
        </p:nvSpPr>
        <p:spPr>
          <a:xfrm>
            <a:off x="1516819" y="2486025"/>
            <a:ext cx="623934" cy="228600"/>
          </a:xfrm>
          <a:prstGeom prst="rect">
            <a:avLst/>
          </a:prstGeom>
          <a:noFill/>
          <a:ln/>
        </p:spPr>
        <p:txBody>
          <a:bodyPr wrap="none" lIns="0" tIns="0" rIns="0" bIns="0" rtlCol="0" anchor="t">
            <a:spAutoFit/>
          </a:bodyPr>
          <a:lstStyle/>
          <a:p>
            <a:pPr marL="0" indent="0" algn="ctr">
              <a:lnSpc>
                <a:spcPts val="1800"/>
              </a:lnSpc>
              <a:buNone/>
            </a:pPr>
            <a:r>
              <a:rPr lang="en-US" sz="1200" b="1" dirty="0">
                <a:solidFill>
                  <a:srgbClr val="1F3A3D"/>
                </a:solidFill>
              </a:rPr>
              <a:t>Alarma</a:t>
            </a:r>
            <a:endParaRPr lang="en-US" sz="1200" dirty="0"/>
          </a:p>
        </p:txBody>
      </p:sp>
      <p:sp>
        <p:nvSpPr>
          <p:cNvPr id="10" name="Text 7"/>
          <p:cNvSpPr/>
          <p:nvPr/>
        </p:nvSpPr>
        <p:spPr>
          <a:xfrm>
            <a:off x="1433438" y="2771775"/>
            <a:ext cx="790724" cy="142875"/>
          </a:xfrm>
          <a:prstGeom prst="rect">
            <a:avLst/>
          </a:prstGeom>
          <a:noFill/>
          <a:ln/>
        </p:spPr>
        <p:txBody>
          <a:bodyPr wrap="none" lIns="0" tIns="0" rIns="0" bIns="0" rtlCol="0" anchor="t">
            <a:spAutoFit/>
          </a:bodyPr>
          <a:lstStyle/>
          <a:p>
            <a:pPr marL="0" indent="0" algn="ctr">
              <a:lnSpc>
                <a:spcPts val="1100"/>
              </a:lnSpc>
              <a:buNone/>
            </a:pPr>
            <a:r>
              <a:rPr lang="en-US" sz="1000" b="1" dirty="0">
                <a:solidFill>
                  <a:srgbClr val="DC8060"/>
                </a:solidFill>
              </a:rPr>
              <a:t>Movilización</a:t>
            </a:r>
            <a:endParaRPr lang="en-US" sz="1000" dirty="0"/>
          </a:p>
        </p:txBody>
      </p:sp>
      <p:sp>
        <p:nvSpPr>
          <p:cNvPr id="11" name="Text 8"/>
          <p:cNvSpPr/>
          <p:nvPr/>
        </p:nvSpPr>
        <p:spPr>
          <a:xfrm>
            <a:off x="785813" y="3028950"/>
            <a:ext cx="2085975" cy="557213"/>
          </a:xfrm>
          <a:prstGeom prst="rect">
            <a:avLst/>
          </a:prstGeom>
          <a:noFill/>
          <a:ln/>
        </p:spPr>
        <p:txBody>
          <a:bodyPr wrap="square" lIns="0" tIns="0" rIns="0" bIns="0" rtlCol="0" anchor="t">
            <a:spAutoFit/>
          </a:bodyPr>
          <a:lstStyle/>
          <a:p>
            <a:pPr marL="0" indent="0" algn="ctr">
              <a:lnSpc>
                <a:spcPts val="1500"/>
              </a:lnSpc>
              <a:buNone/>
            </a:pPr>
            <a:r>
              <a:rPr lang="en-US" sz="900" dirty="0">
                <a:solidFill>
                  <a:srgbClr val="4B5563"/>
                </a:solidFill>
              </a:rPr>
              <a:t>El organismo detecta el estresor y moviliza todos sus recursos. Activación máxima para responder.</a:t>
            </a:r>
            <a:endParaRPr lang="en-US" sz="900" dirty="0"/>
          </a:p>
        </p:txBody>
      </p:sp>
      <p:sp>
        <p:nvSpPr>
          <p:cNvPr id="12" name="Shape 9"/>
          <p:cNvSpPr/>
          <p:nvPr/>
        </p:nvSpPr>
        <p:spPr>
          <a:xfrm>
            <a:off x="3314700" y="1200150"/>
            <a:ext cx="2514600" cy="2743200"/>
          </a:xfrm>
          <a:prstGeom prst="rect">
            <a:avLst/>
          </a:prstGeom>
          <a:solidFill>
            <a:srgbClr val="FFFFFF"/>
          </a:solidFill>
          <a:ln/>
        </p:spPr>
        <p:txBody>
          <a:bodyPr/>
          <a:lstStyle/>
          <a:p>
            <a:endParaRPr lang="es-ES"/>
          </a:p>
        </p:txBody>
      </p:sp>
      <p:sp>
        <p:nvSpPr>
          <p:cNvPr id="13" name="Shape 10"/>
          <p:cNvSpPr/>
          <p:nvPr/>
        </p:nvSpPr>
        <p:spPr>
          <a:xfrm>
            <a:off x="3314700" y="1200150"/>
            <a:ext cx="2514600" cy="57150"/>
          </a:xfrm>
          <a:prstGeom prst="rect">
            <a:avLst/>
          </a:prstGeom>
          <a:solidFill>
            <a:srgbClr val="DC8060"/>
          </a:solidFill>
          <a:ln/>
        </p:spPr>
        <p:txBody>
          <a:bodyPr/>
          <a:lstStyle/>
          <a:p>
            <a:endParaRPr lang="es-ES"/>
          </a:p>
        </p:txBody>
      </p:sp>
      <p:sp>
        <p:nvSpPr>
          <p:cNvPr id="14" name="Text 11"/>
          <p:cNvSpPr/>
          <p:nvPr/>
        </p:nvSpPr>
        <p:spPr>
          <a:xfrm>
            <a:off x="5457881" y="1271588"/>
            <a:ext cx="264263" cy="685800"/>
          </a:xfrm>
          <a:prstGeom prst="rect">
            <a:avLst/>
          </a:prstGeom>
          <a:noFill/>
          <a:ln/>
        </p:spPr>
        <p:txBody>
          <a:bodyPr wrap="none" lIns="0" tIns="0" rIns="0" bIns="0" rtlCol="0" anchor="t">
            <a:spAutoFit/>
          </a:bodyPr>
          <a:lstStyle/>
          <a:p>
            <a:pPr marL="0" indent="0" algn="ctr">
              <a:lnSpc>
                <a:spcPts val="5400"/>
              </a:lnSpc>
              <a:buNone/>
            </a:pPr>
            <a:r>
              <a:rPr lang="en-US" sz="3294" b="1" dirty="0">
                <a:solidFill>
                  <a:srgbClr val="F2F7F7"/>
                </a:solidFill>
              </a:rPr>
              <a:t>2</a:t>
            </a:r>
            <a:endParaRPr lang="en-US" sz="3294" dirty="0"/>
          </a:p>
        </p:txBody>
      </p:sp>
      <p:sp>
        <p:nvSpPr>
          <p:cNvPr id="15" name="Shape 12"/>
          <p:cNvSpPr/>
          <p:nvPr/>
        </p:nvSpPr>
        <p:spPr>
          <a:xfrm>
            <a:off x="4357688" y="1485900"/>
            <a:ext cx="428625" cy="857250"/>
          </a:xfrm>
          <a:prstGeom prst="rect">
            <a:avLst/>
          </a:prstGeom>
          <a:solidFill>
            <a:srgbClr val="F0F0F0"/>
          </a:solidFill>
          <a:ln w="27432">
            <a:solidFill>
              <a:srgbClr val="1F3A3D"/>
            </a:solidFill>
            <a:prstDash val="solid"/>
          </a:ln>
        </p:spPr>
        <p:txBody>
          <a:bodyPr/>
          <a:lstStyle/>
          <a:p>
            <a:endParaRPr lang="es-ES"/>
          </a:p>
        </p:txBody>
      </p:sp>
      <p:sp>
        <p:nvSpPr>
          <p:cNvPr id="16" name="Text 13"/>
          <p:cNvSpPr/>
          <p:nvPr/>
        </p:nvSpPr>
        <p:spPr>
          <a:xfrm>
            <a:off x="4087202" y="2486025"/>
            <a:ext cx="969569" cy="228600"/>
          </a:xfrm>
          <a:prstGeom prst="rect">
            <a:avLst/>
          </a:prstGeom>
          <a:noFill/>
          <a:ln/>
        </p:spPr>
        <p:txBody>
          <a:bodyPr wrap="none" lIns="0" tIns="0" rIns="0" bIns="0" rtlCol="0" anchor="t">
            <a:spAutoFit/>
          </a:bodyPr>
          <a:lstStyle/>
          <a:p>
            <a:pPr marL="0" indent="0" algn="ctr">
              <a:lnSpc>
                <a:spcPts val="1800"/>
              </a:lnSpc>
              <a:buNone/>
            </a:pPr>
            <a:r>
              <a:rPr lang="en-US" sz="1200" b="1" dirty="0">
                <a:solidFill>
                  <a:srgbClr val="1F3A3D"/>
                </a:solidFill>
              </a:rPr>
              <a:t>Resistencia</a:t>
            </a:r>
            <a:endParaRPr lang="en-US" sz="1200" dirty="0"/>
          </a:p>
        </p:txBody>
      </p:sp>
      <p:sp>
        <p:nvSpPr>
          <p:cNvPr id="17" name="Text 14"/>
          <p:cNvSpPr/>
          <p:nvPr/>
        </p:nvSpPr>
        <p:spPr>
          <a:xfrm>
            <a:off x="4232337" y="2771775"/>
            <a:ext cx="679298" cy="142875"/>
          </a:xfrm>
          <a:prstGeom prst="rect">
            <a:avLst/>
          </a:prstGeom>
          <a:noFill/>
          <a:ln/>
        </p:spPr>
        <p:txBody>
          <a:bodyPr wrap="none" lIns="0" tIns="0" rIns="0" bIns="0" rtlCol="0" anchor="t">
            <a:spAutoFit/>
          </a:bodyPr>
          <a:lstStyle/>
          <a:p>
            <a:pPr marL="0" indent="0" algn="ctr">
              <a:lnSpc>
                <a:spcPts val="1100"/>
              </a:lnSpc>
              <a:buNone/>
            </a:pPr>
            <a:r>
              <a:rPr lang="en-US" sz="1000" b="1" dirty="0">
                <a:solidFill>
                  <a:srgbClr val="DC8060"/>
                </a:solidFill>
              </a:rPr>
              <a:t>Adaptación</a:t>
            </a:r>
            <a:endParaRPr lang="en-US" sz="1000" dirty="0"/>
          </a:p>
        </p:txBody>
      </p:sp>
      <p:sp>
        <p:nvSpPr>
          <p:cNvPr id="18" name="Text 15"/>
          <p:cNvSpPr/>
          <p:nvPr/>
        </p:nvSpPr>
        <p:spPr>
          <a:xfrm>
            <a:off x="3529013" y="3028950"/>
            <a:ext cx="2085975" cy="557213"/>
          </a:xfrm>
          <a:prstGeom prst="rect">
            <a:avLst/>
          </a:prstGeom>
          <a:noFill/>
          <a:ln/>
        </p:spPr>
        <p:txBody>
          <a:bodyPr wrap="square" lIns="0" tIns="0" rIns="0" bIns="0" rtlCol="0" anchor="t">
            <a:spAutoFit/>
          </a:bodyPr>
          <a:lstStyle/>
          <a:p>
            <a:pPr marL="0" indent="0" algn="ctr">
              <a:lnSpc>
                <a:spcPts val="1500"/>
              </a:lnSpc>
              <a:buNone/>
            </a:pPr>
            <a:r>
              <a:rPr lang="en-US" sz="900" dirty="0">
                <a:solidFill>
                  <a:srgbClr val="4B5563"/>
                </a:solidFill>
              </a:rPr>
              <a:t>El cuerpo intenta adaptarse al estresor sostenido. Los recursos se consumen para mantener el nivel.</a:t>
            </a:r>
            <a:endParaRPr lang="en-US" sz="900" dirty="0"/>
          </a:p>
        </p:txBody>
      </p:sp>
      <p:sp>
        <p:nvSpPr>
          <p:cNvPr id="19" name="Shape 16"/>
          <p:cNvSpPr/>
          <p:nvPr/>
        </p:nvSpPr>
        <p:spPr>
          <a:xfrm>
            <a:off x="6057900" y="1200150"/>
            <a:ext cx="2514600" cy="2743200"/>
          </a:xfrm>
          <a:prstGeom prst="rect">
            <a:avLst/>
          </a:prstGeom>
          <a:solidFill>
            <a:srgbClr val="FFFFFF"/>
          </a:solidFill>
          <a:ln/>
        </p:spPr>
        <p:txBody>
          <a:bodyPr/>
          <a:lstStyle/>
          <a:p>
            <a:endParaRPr lang="es-ES"/>
          </a:p>
        </p:txBody>
      </p:sp>
      <p:sp>
        <p:nvSpPr>
          <p:cNvPr id="20" name="Shape 17"/>
          <p:cNvSpPr/>
          <p:nvPr/>
        </p:nvSpPr>
        <p:spPr>
          <a:xfrm>
            <a:off x="6057900" y="1200150"/>
            <a:ext cx="2514600" cy="57150"/>
          </a:xfrm>
          <a:prstGeom prst="rect">
            <a:avLst/>
          </a:prstGeom>
          <a:solidFill>
            <a:srgbClr val="9CA3AF"/>
          </a:solidFill>
          <a:ln/>
        </p:spPr>
        <p:txBody>
          <a:bodyPr/>
          <a:lstStyle/>
          <a:p>
            <a:endParaRPr lang="es-ES"/>
          </a:p>
        </p:txBody>
      </p:sp>
      <p:sp>
        <p:nvSpPr>
          <p:cNvPr id="21" name="Text 18"/>
          <p:cNvSpPr/>
          <p:nvPr/>
        </p:nvSpPr>
        <p:spPr>
          <a:xfrm>
            <a:off x="8201081" y="1271588"/>
            <a:ext cx="264263" cy="685800"/>
          </a:xfrm>
          <a:prstGeom prst="rect">
            <a:avLst/>
          </a:prstGeom>
          <a:noFill/>
          <a:ln/>
        </p:spPr>
        <p:txBody>
          <a:bodyPr wrap="none" lIns="0" tIns="0" rIns="0" bIns="0" rtlCol="0" anchor="t">
            <a:spAutoFit/>
          </a:bodyPr>
          <a:lstStyle/>
          <a:p>
            <a:pPr marL="0" indent="0" algn="ctr">
              <a:lnSpc>
                <a:spcPts val="5400"/>
              </a:lnSpc>
              <a:buNone/>
            </a:pPr>
            <a:r>
              <a:rPr lang="en-US" sz="3294" b="1" dirty="0">
                <a:solidFill>
                  <a:srgbClr val="F2F7F7"/>
                </a:solidFill>
              </a:rPr>
              <a:t>3</a:t>
            </a:r>
            <a:endParaRPr lang="en-US" sz="3294" dirty="0"/>
          </a:p>
        </p:txBody>
      </p:sp>
      <p:sp>
        <p:nvSpPr>
          <p:cNvPr id="22" name="Shape 19"/>
          <p:cNvSpPr/>
          <p:nvPr/>
        </p:nvSpPr>
        <p:spPr>
          <a:xfrm>
            <a:off x="7100888" y="1485900"/>
            <a:ext cx="428625" cy="857250"/>
          </a:xfrm>
          <a:prstGeom prst="rect">
            <a:avLst/>
          </a:prstGeom>
          <a:solidFill>
            <a:srgbClr val="F0F0F0"/>
          </a:solidFill>
          <a:ln w="27432">
            <a:solidFill>
              <a:srgbClr val="1F3A3D"/>
            </a:solidFill>
            <a:prstDash val="solid"/>
          </a:ln>
        </p:spPr>
        <p:txBody>
          <a:bodyPr/>
          <a:lstStyle/>
          <a:p>
            <a:endParaRPr lang="es-ES"/>
          </a:p>
        </p:txBody>
      </p:sp>
      <p:sp>
        <p:nvSpPr>
          <p:cNvPr id="23" name="Text 20"/>
          <p:cNvSpPr/>
          <p:nvPr/>
        </p:nvSpPr>
        <p:spPr>
          <a:xfrm>
            <a:off x="6752155" y="2486025"/>
            <a:ext cx="1126089" cy="228600"/>
          </a:xfrm>
          <a:prstGeom prst="rect">
            <a:avLst/>
          </a:prstGeom>
          <a:noFill/>
          <a:ln/>
        </p:spPr>
        <p:txBody>
          <a:bodyPr wrap="none" lIns="0" tIns="0" rIns="0" bIns="0" rtlCol="0" anchor="t">
            <a:spAutoFit/>
          </a:bodyPr>
          <a:lstStyle/>
          <a:p>
            <a:pPr marL="0" indent="0" algn="ctr">
              <a:lnSpc>
                <a:spcPts val="1800"/>
              </a:lnSpc>
              <a:buNone/>
            </a:pPr>
            <a:r>
              <a:rPr lang="en-US" sz="1200" b="1" dirty="0">
                <a:solidFill>
                  <a:srgbClr val="1F3A3D"/>
                </a:solidFill>
              </a:rPr>
              <a:t>Agotamiento</a:t>
            </a:r>
            <a:endParaRPr lang="en-US" sz="1200" dirty="0"/>
          </a:p>
        </p:txBody>
      </p:sp>
      <p:sp>
        <p:nvSpPr>
          <p:cNvPr id="24" name="Text 21"/>
          <p:cNvSpPr/>
          <p:nvPr/>
        </p:nvSpPr>
        <p:spPr>
          <a:xfrm>
            <a:off x="7074266" y="2771775"/>
            <a:ext cx="481868" cy="142875"/>
          </a:xfrm>
          <a:prstGeom prst="rect">
            <a:avLst/>
          </a:prstGeom>
          <a:noFill/>
          <a:ln/>
        </p:spPr>
        <p:txBody>
          <a:bodyPr wrap="none" lIns="0" tIns="0" rIns="0" bIns="0" rtlCol="0" anchor="t">
            <a:spAutoFit/>
          </a:bodyPr>
          <a:lstStyle/>
          <a:p>
            <a:pPr marL="0" indent="0" algn="ctr">
              <a:lnSpc>
                <a:spcPts val="1100"/>
              </a:lnSpc>
              <a:buNone/>
            </a:pPr>
            <a:r>
              <a:rPr lang="en-US" sz="1000" b="1" dirty="0">
                <a:solidFill>
                  <a:srgbClr val="DC8060"/>
                </a:solidFill>
              </a:rPr>
              <a:t>Colapso</a:t>
            </a:r>
            <a:endParaRPr lang="en-US" sz="1000" dirty="0"/>
          </a:p>
        </p:txBody>
      </p:sp>
      <p:sp>
        <p:nvSpPr>
          <p:cNvPr id="25" name="Text 22"/>
          <p:cNvSpPr/>
          <p:nvPr/>
        </p:nvSpPr>
        <p:spPr>
          <a:xfrm>
            <a:off x="6272213" y="3028950"/>
            <a:ext cx="2085975" cy="557213"/>
          </a:xfrm>
          <a:prstGeom prst="rect">
            <a:avLst/>
          </a:prstGeom>
          <a:noFill/>
          <a:ln/>
        </p:spPr>
        <p:txBody>
          <a:bodyPr wrap="square" lIns="0" tIns="0" rIns="0" bIns="0" rtlCol="0" anchor="t">
            <a:spAutoFit/>
          </a:bodyPr>
          <a:lstStyle/>
          <a:p>
            <a:pPr marL="0" indent="0" algn="ctr">
              <a:lnSpc>
                <a:spcPts val="1500"/>
              </a:lnSpc>
              <a:buNone/>
            </a:pPr>
            <a:r>
              <a:rPr lang="en-US" sz="900" dirty="0">
                <a:solidFill>
                  <a:srgbClr val="4B5563"/>
                </a:solidFill>
              </a:rPr>
              <a:t>Las reservas se vacían. La capacidad de resistencia se agota. Aparecen los síntomas de enfermedad.</a:t>
            </a:r>
            <a:endParaRPr lang="en-US" sz="900" dirty="0"/>
          </a:p>
        </p:txBody>
      </p:sp>
      <p:sp>
        <p:nvSpPr>
          <p:cNvPr id="26" name="Shape 23"/>
          <p:cNvSpPr/>
          <p:nvPr/>
        </p:nvSpPr>
        <p:spPr>
          <a:xfrm>
            <a:off x="571500" y="4171950"/>
            <a:ext cx="8001000" cy="542925"/>
          </a:xfrm>
          <a:prstGeom prst="rect">
            <a:avLst/>
          </a:prstGeom>
          <a:solidFill>
            <a:srgbClr val="E8F4F4"/>
          </a:solidFill>
          <a:ln/>
        </p:spPr>
        <p:txBody>
          <a:bodyPr/>
          <a:lstStyle/>
          <a:p>
            <a:endParaRPr lang="es-ES"/>
          </a:p>
        </p:txBody>
      </p:sp>
      <p:sp>
        <p:nvSpPr>
          <p:cNvPr id="27" name="Shape 24"/>
          <p:cNvSpPr/>
          <p:nvPr/>
        </p:nvSpPr>
        <p:spPr>
          <a:xfrm>
            <a:off x="571500" y="4171950"/>
            <a:ext cx="28575" cy="542925"/>
          </a:xfrm>
          <a:prstGeom prst="rect">
            <a:avLst/>
          </a:prstGeom>
          <a:solidFill>
            <a:srgbClr val="DC8060"/>
          </a:solidFill>
          <a:ln/>
        </p:spPr>
        <p:txBody>
          <a:bodyPr/>
          <a:lstStyle/>
          <a:p>
            <a:endParaRPr lang="es-ES"/>
          </a:p>
        </p:txBody>
      </p:sp>
      <p:sp>
        <p:nvSpPr>
          <p:cNvPr id="28" name="Text 25"/>
          <p:cNvSpPr/>
          <p:nvPr/>
        </p:nvSpPr>
        <p:spPr>
          <a:xfrm>
            <a:off x="742950" y="4343400"/>
            <a:ext cx="7658100" cy="200025"/>
          </a:xfrm>
          <a:prstGeom prst="rect">
            <a:avLst/>
          </a:prstGeom>
          <a:noFill/>
          <a:ln/>
        </p:spPr>
        <p:txBody>
          <a:bodyPr wrap="none" lIns="0" tIns="0" rIns="0" bIns="0" rtlCol="0" anchor="t">
            <a:spAutoFit/>
          </a:bodyPr>
          <a:lstStyle/>
          <a:p>
            <a:pPr marL="0" indent="0" algn="ctr">
              <a:lnSpc>
                <a:spcPts val="1600"/>
              </a:lnSpc>
              <a:buNone/>
            </a:pPr>
            <a:r>
              <a:rPr lang="en-US" sz="1200" b="1" dirty="0">
                <a:solidFill>
                  <a:srgbClr val="1F3A3D"/>
                </a:solidFill>
              </a:rPr>
              <a:t>"El objetivo no es eliminar el estrés. Es encontrar el punto óptimo y evitar la cronificación."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CONTAGIO EMOCIONAL</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Tu estado se propaga</a:t>
            </a:r>
            <a:endParaRPr lang="en-US" sz="2200" dirty="0"/>
          </a:p>
        </p:txBody>
      </p:sp>
      <p:sp>
        <p:nvSpPr>
          <p:cNvPr id="5" name="Text 2"/>
          <p:cNvSpPr/>
          <p:nvPr/>
        </p:nvSpPr>
        <p:spPr>
          <a:xfrm>
            <a:off x="571500" y="1257300"/>
            <a:ext cx="2291190" cy="267193"/>
          </a:xfrm>
          <a:prstGeom prst="rect">
            <a:avLst/>
          </a:prstGeom>
          <a:noFill/>
          <a:ln/>
        </p:spPr>
        <p:txBody>
          <a:bodyPr wrap="none" lIns="8509" tIns="8509" rIns="8509" bIns="68072" rtlCol="0" anchor="ctr">
            <a:spAutoFit/>
          </a:bodyPr>
          <a:lstStyle/>
          <a:p>
            <a:pPr marL="0" indent="0" algn="l">
              <a:lnSpc>
                <a:spcPts val="1500"/>
              </a:lnSpc>
              <a:buNone/>
            </a:pPr>
            <a:r>
              <a:rPr lang="en-US" sz="900" b="1" dirty="0">
                <a:solidFill>
                  <a:srgbClr val="DC8060"/>
                </a:solidFill>
              </a:rPr>
              <a:t>Estado del líder</a:t>
            </a:r>
            <a:endParaRPr lang="en-US" sz="900" dirty="0"/>
          </a:p>
        </p:txBody>
      </p:sp>
      <p:sp>
        <p:nvSpPr>
          <p:cNvPr id="6" name="Text 3"/>
          <p:cNvSpPr/>
          <p:nvPr/>
        </p:nvSpPr>
        <p:spPr>
          <a:xfrm>
            <a:off x="2862690" y="1257300"/>
            <a:ext cx="2291190" cy="267193"/>
          </a:xfrm>
          <a:prstGeom prst="rect">
            <a:avLst/>
          </a:prstGeom>
          <a:noFill/>
          <a:ln/>
        </p:spPr>
        <p:txBody>
          <a:bodyPr wrap="none" lIns="8509" tIns="8509" rIns="8509" bIns="68072" rtlCol="0" anchor="ctr">
            <a:spAutoFit/>
          </a:bodyPr>
          <a:lstStyle/>
          <a:p>
            <a:pPr marL="0" indent="0" algn="l">
              <a:lnSpc>
                <a:spcPts val="1500"/>
              </a:lnSpc>
              <a:buNone/>
            </a:pPr>
            <a:r>
              <a:rPr lang="en-US" sz="900" b="1" dirty="0">
                <a:solidFill>
                  <a:srgbClr val="DC8060"/>
                </a:solidFill>
              </a:rPr>
              <a:t>Efecto en el equipo</a:t>
            </a:r>
            <a:endParaRPr lang="en-US" sz="900" dirty="0"/>
          </a:p>
        </p:txBody>
      </p:sp>
      <p:sp>
        <p:nvSpPr>
          <p:cNvPr id="7" name="Shape 4"/>
          <p:cNvSpPr/>
          <p:nvPr/>
        </p:nvSpPr>
        <p:spPr>
          <a:xfrm>
            <a:off x="571500" y="1638793"/>
            <a:ext cx="2291190" cy="417212"/>
          </a:xfrm>
          <a:prstGeom prst="rect">
            <a:avLst/>
          </a:prstGeom>
          <a:solidFill>
            <a:srgbClr val="FFFFFF"/>
          </a:solidFill>
          <a:ln/>
        </p:spPr>
        <p:txBody>
          <a:bodyPr/>
          <a:lstStyle/>
          <a:p>
            <a:endParaRPr lang="es-ES"/>
          </a:p>
        </p:txBody>
      </p:sp>
      <p:sp>
        <p:nvSpPr>
          <p:cNvPr id="8" name="Shape 5"/>
          <p:cNvSpPr/>
          <p:nvPr/>
        </p:nvSpPr>
        <p:spPr>
          <a:xfrm>
            <a:off x="571500" y="1638793"/>
            <a:ext cx="28575" cy="417212"/>
          </a:xfrm>
          <a:prstGeom prst="rect">
            <a:avLst/>
          </a:prstGeom>
          <a:solidFill>
            <a:srgbClr val="DC8060"/>
          </a:solidFill>
          <a:ln/>
        </p:spPr>
        <p:txBody>
          <a:bodyPr/>
          <a:lstStyle/>
          <a:p>
            <a:endParaRPr lang="es-ES"/>
          </a:p>
        </p:txBody>
      </p:sp>
      <p:sp>
        <p:nvSpPr>
          <p:cNvPr id="9" name="Text 6"/>
          <p:cNvSpPr/>
          <p:nvPr/>
        </p:nvSpPr>
        <p:spPr>
          <a:xfrm>
            <a:off x="571500" y="1638793"/>
            <a:ext cx="2291190" cy="417212"/>
          </a:xfrm>
          <a:prstGeom prst="rect">
            <a:avLst/>
          </a:prstGeom>
          <a:noFill/>
          <a:ln/>
        </p:spPr>
        <p:txBody>
          <a:bodyPr wrap="square" lIns="170053" tIns="136017" rIns="170053" bIns="136017" rtlCol="0" anchor="ctr">
            <a:spAutoFit/>
          </a:bodyPr>
          <a:lstStyle/>
          <a:p>
            <a:pPr marL="0" indent="0" algn="l">
              <a:lnSpc>
                <a:spcPts val="1500"/>
              </a:lnSpc>
              <a:buNone/>
            </a:pPr>
            <a:r>
              <a:rPr lang="en-US" sz="900" b="1" dirty="0">
                <a:solidFill>
                  <a:srgbClr val="1F3A3D"/>
                </a:solidFill>
              </a:rPr>
              <a:t>Estresado, reactivo</a:t>
            </a:r>
            <a:endParaRPr lang="en-US" sz="900" dirty="0"/>
          </a:p>
        </p:txBody>
      </p:sp>
      <p:sp>
        <p:nvSpPr>
          <p:cNvPr id="10" name="Shape 7"/>
          <p:cNvSpPr/>
          <p:nvPr/>
        </p:nvSpPr>
        <p:spPr>
          <a:xfrm>
            <a:off x="2862690" y="1638793"/>
            <a:ext cx="2291190" cy="417212"/>
          </a:xfrm>
          <a:prstGeom prst="rect">
            <a:avLst/>
          </a:prstGeom>
          <a:solidFill>
            <a:srgbClr val="FFFFFF"/>
          </a:solidFill>
          <a:ln/>
        </p:spPr>
        <p:txBody>
          <a:bodyPr/>
          <a:lstStyle/>
          <a:p>
            <a:endParaRPr lang="es-ES"/>
          </a:p>
        </p:txBody>
      </p:sp>
      <p:sp>
        <p:nvSpPr>
          <p:cNvPr id="11" name="Shape 8"/>
          <p:cNvSpPr/>
          <p:nvPr/>
        </p:nvSpPr>
        <p:spPr>
          <a:xfrm>
            <a:off x="2862690" y="1638793"/>
            <a:ext cx="28575" cy="417212"/>
          </a:xfrm>
          <a:prstGeom prst="rect">
            <a:avLst/>
          </a:prstGeom>
          <a:solidFill>
            <a:srgbClr val="DC8060"/>
          </a:solidFill>
          <a:ln/>
        </p:spPr>
        <p:txBody>
          <a:bodyPr/>
          <a:lstStyle/>
          <a:p>
            <a:endParaRPr lang="es-ES"/>
          </a:p>
        </p:txBody>
      </p:sp>
      <p:sp>
        <p:nvSpPr>
          <p:cNvPr id="12" name="Text 9"/>
          <p:cNvSpPr/>
          <p:nvPr/>
        </p:nvSpPr>
        <p:spPr>
          <a:xfrm>
            <a:off x="2862690" y="1638793"/>
            <a:ext cx="2291190" cy="417212"/>
          </a:xfrm>
          <a:prstGeom prst="rect">
            <a:avLst/>
          </a:prstGeom>
          <a:noFill/>
          <a:ln/>
        </p:spPr>
        <p:txBody>
          <a:bodyPr wrap="square" lIns="170053" tIns="136017" rIns="170053" bIns="136017" rtlCol="0" anchor="ctr">
            <a:spAutoFit/>
          </a:bodyPr>
          <a:lstStyle/>
          <a:p>
            <a:pPr marL="0" indent="0" algn="l">
              <a:lnSpc>
                <a:spcPts val="1500"/>
              </a:lnSpc>
              <a:buNone/>
            </a:pPr>
            <a:r>
              <a:rPr lang="en-US" sz="900" dirty="0">
                <a:solidFill>
                  <a:srgbClr val="1F3A3D"/>
                </a:solidFill>
              </a:rPr>
              <a:t>Tensión, miedo, defensividad</a:t>
            </a:r>
            <a:endParaRPr lang="en-US" sz="900" dirty="0"/>
          </a:p>
        </p:txBody>
      </p:sp>
      <p:sp>
        <p:nvSpPr>
          <p:cNvPr id="13" name="Shape 10"/>
          <p:cNvSpPr/>
          <p:nvPr/>
        </p:nvSpPr>
        <p:spPr>
          <a:xfrm>
            <a:off x="571500" y="2170305"/>
            <a:ext cx="2291190" cy="417212"/>
          </a:xfrm>
          <a:prstGeom prst="rect">
            <a:avLst/>
          </a:prstGeom>
          <a:solidFill>
            <a:srgbClr val="FFFFFF"/>
          </a:solidFill>
          <a:ln/>
        </p:spPr>
        <p:txBody>
          <a:bodyPr/>
          <a:lstStyle/>
          <a:p>
            <a:endParaRPr lang="es-ES"/>
          </a:p>
        </p:txBody>
      </p:sp>
      <p:sp>
        <p:nvSpPr>
          <p:cNvPr id="14" name="Shape 11"/>
          <p:cNvSpPr/>
          <p:nvPr/>
        </p:nvSpPr>
        <p:spPr>
          <a:xfrm>
            <a:off x="571500" y="2170305"/>
            <a:ext cx="28575" cy="417212"/>
          </a:xfrm>
          <a:prstGeom prst="rect">
            <a:avLst/>
          </a:prstGeom>
          <a:solidFill>
            <a:srgbClr val="DC8060"/>
          </a:solidFill>
          <a:ln/>
        </p:spPr>
        <p:txBody>
          <a:bodyPr/>
          <a:lstStyle/>
          <a:p>
            <a:endParaRPr lang="es-ES"/>
          </a:p>
        </p:txBody>
      </p:sp>
      <p:sp>
        <p:nvSpPr>
          <p:cNvPr id="15" name="Text 12"/>
          <p:cNvSpPr/>
          <p:nvPr/>
        </p:nvSpPr>
        <p:spPr>
          <a:xfrm>
            <a:off x="571500" y="2170305"/>
            <a:ext cx="2291190" cy="417212"/>
          </a:xfrm>
          <a:prstGeom prst="rect">
            <a:avLst/>
          </a:prstGeom>
          <a:noFill/>
          <a:ln/>
        </p:spPr>
        <p:txBody>
          <a:bodyPr wrap="square" lIns="170053" tIns="136017" rIns="170053" bIns="136017" rtlCol="0" anchor="ctr">
            <a:spAutoFit/>
          </a:bodyPr>
          <a:lstStyle/>
          <a:p>
            <a:pPr marL="0" indent="0" algn="l">
              <a:lnSpc>
                <a:spcPts val="1500"/>
              </a:lnSpc>
              <a:buNone/>
            </a:pPr>
            <a:r>
              <a:rPr lang="en-US" sz="900" b="1" dirty="0">
                <a:solidFill>
                  <a:srgbClr val="1F3A3D"/>
                </a:solidFill>
              </a:rPr>
              <a:t>Agotado, cínico</a:t>
            </a:r>
            <a:endParaRPr lang="en-US" sz="900" dirty="0"/>
          </a:p>
        </p:txBody>
      </p:sp>
      <p:sp>
        <p:nvSpPr>
          <p:cNvPr id="16" name="Shape 13"/>
          <p:cNvSpPr/>
          <p:nvPr/>
        </p:nvSpPr>
        <p:spPr>
          <a:xfrm>
            <a:off x="2862690" y="2170305"/>
            <a:ext cx="2291190" cy="417212"/>
          </a:xfrm>
          <a:prstGeom prst="rect">
            <a:avLst/>
          </a:prstGeom>
          <a:solidFill>
            <a:srgbClr val="FFFFFF"/>
          </a:solidFill>
          <a:ln/>
        </p:spPr>
        <p:txBody>
          <a:bodyPr/>
          <a:lstStyle/>
          <a:p>
            <a:endParaRPr lang="es-ES"/>
          </a:p>
        </p:txBody>
      </p:sp>
      <p:sp>
        <p:nvSpPr>
          <p:cNvPr id="17" name="Shape 14"/>
          <p:cNvSpPr/>
          <p:nvPr/>
        </p:nvSpPr>
        <p:spPr>
          <a:xfrm>
            <a:off x="2862690" y="2170305"/>
            <a:ext cx="28575" cy="417212"/>
          </a:xfrm>
          <a:prstGeom prst="rect">
            <a:avLst/>
          </a:prstGeom>
          <a:solidFill>
            <a:srgbClr val="DC8060"/>
          </a:solidFill>
          <a:ln/>
        </p:spPr>
        <p:txBody>
          <a:bodyPr/>
          <a:lstStyle/>
          <a:p>
            <a:endParaRPr lang="es-ES"/>
          </a:p>
        </p:txBody>
      </p:sp>
      <p:sp>
        <p:nvSpPr>
          <p:cNvPr id="18" name="Text 15"/>
          <p:cNvSpPr/>
          <p:nvPr/>
        </p:nvSpPr>
        <p:spPr>
          <a:xfrm>
            <a:off x="2862690" y="2170305"/>
            <a:ext cx="2291190" cy="417212"/>
          </a:xfrm>
          <a:prstGeom prst="rect">
            <a:avLst/>
          </a:prstGeom>
          <a:noFill/>
          <a:ln/>
        </p:spPr>
        <p:txBody>
          <a:bodyPr wrap="square" lIns="170053" tIns="136017" rIns="170053" bIns="136017" rtlCol="0" anchor="ctr">
            <a:spAutoFit/>
          </a:bodyPr>
          <a:lstStyle/>
          <a:p>
            <a:pPr marL="0" indent="0" algn="l">
              <a:lnSpc>
                <a:spcPts val="1500"/>
              </a:lnSpc>
              <a:buNone/>
            </a:pPr>
            <a:r>
              <a:rPr lang="en-US" sz="900" dirty="0">
                <a:solidFill>
                  <a:srgbClr val="1F3A3D"/>
                </a:solidFill>
              </a:rPr>
              <a:t>Desmoralización, cinismo</a:t>
            </a:r>
            <a:endParaRPr lang="en-US" sz="900" dirty="0"/>
          </a:p>
        </p:txBody>
      </p:sp>
      <p:sp>
        <p:nvSpPr>
          <p:cNvPr id="19" name="Shape 16"/>
          <p:cNvSpPr/>
          <p:nvPr/>
        </p:nvSpPr>
        <p:spPr>
          <a:xfrm>
            <a:off x="571500" y="2701816"/>
            <a:ext cx="2291190" cy="417212"/>
          </a:xfrm>
          <a:prstGeom prst="rect">
            <a:avLst/>
          </a:prstGeom>
          <a:solidFill>
            <a:srgbClr val="FFFFFF"/>
          </a:solidFill>
          <a:ln/>
        </p:spPr>
        <p:txBody>
          <a:bodyPr/>
          <a:lstStyle/>
          <a:p>
            <a:endParaRPr lang="es-ES"/>
          </a:p>
        </p:txBody>
      </p:sp>
      <p:sp>
        <p:nvSpPr>
          <p:cNvPr id="20" name="Shape 17"/>
          <p:cNvSpPr/>
          <p:nvPr/>
        </p:nvSpPr>
        <p:spPr>
          <a:xfrm>
            <a:off x="571500" y="2701816"/>
            <a:ext cx="28575" cy="417212"/>
          </a:xfrm>
          <a:prstGeom prst="rect">
            <a:avLst/>
          </a:prstGeom>
          <a:solidFill>
            <a:srgbClr val="1F3A3D"/>
          </a:solidFill>
          <a:ln/>
        </p:spPr>
        <p:txBody>
          <a:bodyPr/>
          <a:lstStyle/>
          <a:p>
            <a:endParaRPr lang="es-ES"/>
          </a:p>
        </p:txBody>
      </p:sp>
      <p:sp>
        <p:nvSpPr>
          <p:cNvPr id="21" name="Text 18"/>
          <p:cNvSpPr/>
          <p:nvPr/>
        </p:nvSpPr>
        <p:spPr>
          <a:xfrm>
            <a:off x="571500" y="2701816"/>
            <a:ext cx="2291190" cy="417212"/>
          </a:xfrm>
          <a:prstGeom prst="rect">
            <a:avLst/>
          </a:prstGeom>
          <a:noFill/>
          <a:ln/>
        </p:spPr>
        <p:txBody>
          <a:bodyPr wrap="square" lIns="170053" tIns="136017" rIns="170053" bIns="136017" rtlCol="0" anchor="ctr">
            <a:spAutoFit/>
          </a:bodyPr>
          <a:lstStyle/>
          <a:p>
            <a:pPr marL="0" indent="0" algn="l">
              <a:lnSpc>
                <a:spcPts val="1500"/>
              </a:lnSpc>
              <a:buNone/>
            </a:pPr>
            <a:r>
              <a:rPr lang="en-US" sz="900" b="1" dirty="0">
                <a:solidFill>
                  <a:srgbClr val="1F3A3D"/>
                </a:solidFill>
              </a:rPr>
              <a:t>Regulado, presente</a:t>
            </a:r>
            <a:endParaRPr lang="en-US" sz="900" dirty="0"/>
          </a:p>
        </p:txBody>
      </p:sp>
      <p:sp>
        <p:nvSpPr>
          <p:cNvPr id="22" name="Shape 19"/>
          <p:cNvSpPr/>
          <p:nvPr/>
        </p:nvSpPr>
        <p:spPr>
          <a:xfrm>
            <a:off x="2862690" y="2701816"/>
            <a:ext cx="2291190" cy="417212"/>
          </a:xfrm>
          <a:prstGeom prst="rect">
            <a:avLst/>
          </a:prstGeom>
          <a:solidFill>
            <a:srgbClr val="FFFFFF"/>
          </a:solidFill>
          <a:ln/>
        </p:spPr>
        <p:txBody>
          <a:bodyPr/>
          <a:lstStyle/>
          <a:p>
            <a:endParaRPr lang="es-ES"/>
          </a:p>
        </p:txBody>
      </p:sp>
      <p:sp>
        <p:nvSpPr>
          <p:cNvPr id="23" name="Shape 20"/>
          <p:cNvSpPr/>
          <p:nvPr/>
        </p:nvSpPr>
        <p:spPr>
          <a:xfrm>
            <a:off x="2862690" y="2701816"/>
            <a:ext cx="28575" cy="417212"/>
          </a:xfrm>
          <a:prstGeom prst="rect">
            <a:avLst/>
          </a:prstGeom>
          <a:solidFill>
            <a:srgbClr val="1F3A3D"/>
          </a:solidFill>
          <a:ln/>
        </p:spPr>
        <p:txBody>
          <a:bodyPr/>
          <a:lstStyle/>
          <a:p>
            <a:endParaRPr lang="es-ES"/>
          </a:p>
        </p:txBody>
      </p:sp>
      <p:sp>
        <p:nvSpPr>
          <p:cNvPr id="24" name="Text 21"/>
          <p:cNvSpPr/>
          <p:nvPr/>
        </p:nvSpPr>
        <p:spPr>
          <a:xfrm>
            <a:off x="2862690" y="2701816"/>
            <a:ext cx="2291190" cy="417212"/>
          </a:xfrm>
          <a:prstGeom prst="rect">
            <a:avLst/>
          </a:prstGeom>
          <a:noFill/>
          <a:ln/>
        </p:spPr>
        <p:txBody>
          <a:bodyPr wrap="square" lIns="170053" tIns="136017" rIns="170053" bIns="136017" rtlCol="0" anchor="ctr">
            <a:spAutoFit/>
          </a:bodyPr>
          <a:lstStyle/>
          <a:p>
            <a:pPr marL="0" indent="0" algn="l">
              <a:lnSpc>
                <a:spcPts val="1500"/>
              </a:lnSpc>
              <a:buNone/>
            </a:pPr>
            <a:r>
              <a:rPr lang="en-US" sz="900" dirty="0">
                <a:solidFill>
                  <a:srgbClr val="1F3A3D"/>
                </a:solidFill>
              </a:rPr>
              <a:t>Calma, apertura, confianza</a:t>
            </a:r>
            <a:endParaRPr lang="en-US" sz="900" dirty="0"/>
          </a:p>
        </p:txBody>
      </p:sp>
      <p:sp>
        <p:nvSpPr>
          <p:cNvPr id="25" name="Shape 22"/>
          <p:cNvSpPr/>
          <p:nvPr/>
        </p:nvSpPr>
        <p:spPr>
          <a:xfrm>
            <a:off x="571500" y="3233328"/>
            <a:ext cx="2291190" cy="417212"/>
          </a:xfrm>
          <a:prstGeom prst="rect">
            <a:avLst/>
          </a:prstGeom>
          <a:solidFill>
            <a:srgbClr val="FFFFFF"/>
          </a:solidFill>
          <a:ln/>
        </p:spPr>
        <p:txBody>
          <a:bodyPr/>
          <a:lstStyle/>
          <a:p>
            <a:endParaRPr lang="es-ES"/>
          </a:p>
        </p:txBody>
      </p:sp>
      <p:sp>
        <p:nvSpPr>
          <p:cNvPr id="26" name="Shape 23"/>
          <p:cNvSpPr/>
          <p:nvPr/>
        </p:nvSpPr>
        <p:spPr>
          <a:xfrm>
            <a:off x="571500" y="3233328"/>
            <a:ext cx="28575" cy="417212"/>
          </a:xfrm>
          <a:prstGeom prst="rect">
            <a:avLst/>
          </a:prstGeom>
          <a:solidFill>
            <a:srgbClr val="1F3A3D"/>
          </a:solidFill>
          <a:ln/>
        </p:spPr>
        <p:txBody>
          <a:bodyPr/>
          <a:lstStyle/>
          <a:p>
            <a:endParaRPr lang="es-ES"/>
          </a:p>
        </p:txBody>
      </p:sp>
      <p:sp>
        <p:nvSpPr>
          <p:cNvPr id="27" name="Text 24"/>
          <p:cNvSpPr/>
          <p:nvPr/>
        </p:nvSpPr>
        <p:spPr>
          <a:xfrm>
            <a:off x="571500" y="3233328"/>
            <a:ext cx="2291190" cy="417212"/>
          </a:xfrm>
          <a:prstGeom prst="rect">
            <a:avLst/>
          </a:prstGeom>
          <a:noFill/>
          <a:ln/>
        </p:spPr>
        <p:txBody>
          <a:bodyPr wrap="square" lIns="170053" tIns="136017" rIns="170053" bIns="136017" rtlCol="0" anchor="ctr">
            <a:spAutoFit/>
          </a:bodyPr>
          <a:lstStyle/>
          <a:p>
            <a:pPr marL="0" indent="0" algn="l">
              <a:lnSpc>
                <a:spcPts val="1500"/>
              </a:lnSpc>
              <a:buNone/>
            </a:pPr>
            <a:r>
              <a:rPr lang="en-US" sz="900" b="1" dirty="0">
                <a:solidFill>
                  <a:srgbClr val="1F3A3D"/>
                </a:solidFill>
              </a:rPr>
              <a:t>Energizado, claro</a:t>
            </a:r>
            <a:endParaRPr lang="en-US" sz="900" dirty="0"/>
          </a:p>
        </p:txBody>
      </p:sp>
      <p:sp>
        <p:nvSpPr>
          <p:cNvPr id="28" name="Shape 25"/>
          <p:cNvSpPr/>
          <p:nvPr/>
        </p:nvSpPr>
        <p:spPr>
          <a:xfrm>
            <a:off x="2862690" y="3233328"/>
            <a:ext cx="2291190" cy="417212"/>
          </a:xfrm>
          <a:prstGeom prst="rect">
            <a:avLst/>
          </a:prstGeom>
          <a:solidFill>
            <a:srgbClr val="FFFFFF"/>
          </a:solidFill>
          <a:ln/>
        </p:spPr>
        <p:txBody>
          <a:bodyPr/>
          <a:lstStyle/>
          <a:p>
            <a:endParaRPr lang="es-ES"/>
          </a:p>
        </p:txBody>
      </p:sp>
      <p:sp>
        <p:nvSpPr>
          <p:cNvPr id="29" name="Shape 26"/>
          <p:cNvSpPr/>
          <p:nvPr/>
        </p:nvSpPr>
        <p:spPr>
          <a:xfrm>
            <a:off x="2862690" y="3233328"/>
            <a:ext cx="28575" cy="417212"/>
          </a:xfrm>
          <a:prstGeom prst="rect">
            <a:avLst/>
          </a:prstGeom>
          <a:solidFill>
            <a:srgbClr val="1F3A3D"/>
          </a:solidFill>
          <a:ln/>
        </p:spPr>
        <p:txBody>
          <a:bodyPr/>
          <a:lstStyle/>
          <a:p>
            <a:endParaRPr lang="es-ES"/>
          </a:p>
        </p:txBody>
      </p:sp>
      <p:sp>
        <p:nvSpPr>
          <p:cNvPr id="30" name="Text 27"/>
          <p:cNvSpPr/>
          <p:nvPr/>
        </p:nvSpPr>
        <p:spPr>
          <a:xfrm>
            <a:off x="2862690" y="3233328"/>
            <a:ext cx="2291190" cy="417212"/>
          </a:xfrm>
          <a:prstGeom prst="rect">
            <a:avLst/>
          </a:prstGeom>
          <a:noFill/>
          <a:ln/>
        </p:spPr>
        <p:txBody>
          <a:bodyPr wrap="square" lIns="170053" tIns="136017" rIns="170053" bIns="136017" rtlCol="0" anchor="ctr">
            <a:spAutoFit/>
          </a:bodyPr>
          <a:lstStyle/>
          <a:p>
            <a:pPr marL="0" indent="0" algn="l">
              <a:lnSpc>
                <a:spcPts val="1500"/>
              </a:lnSpc>
              <a:buNone/>
            </a:pPr>
            <a:r>
              <a:rPr lang="en-US" sz="900" dirty="0">
                <a:solidFill>
                  <a:srgbClr val="1F3A3D"/>
                </a:solidFill>
              </a:rPr>
              <a:t>Energía, claridad</a:t>
            </a:r>
            <a:endParaRPr lang="en-US" sz="900" dirty="0"/>
          </a:p>
        </p:txBody>
      </p:sp>
      <p:sp>
        <p:nvSpPr>
          <p:cNvPr id="31" name="Shape 28"/>
          <p:cNvSpPr/>
          <p:nvPr/>
        </p:nvSpPr>
        <p:spPr>
          <a:xfrm>
            <a:off x="5496781" y="1428750"/>
            <a:ext cx="3075719" cy="1843088"/>
          </a:xfrm>
          <a:prstGeom prst="rect">
            <a:avLst/>
          </a:prstGeom>
          <a:solidFill>
            <a:srgbClr val="F2F7F7"/>
          </a:solidFill>
          <a:ln/>
        </p:spPr>
        <p:txBody>
          <a:bodyPr/>
          <a:lstStyle/>
          <a:p>
            <a:endParaRPr lang="es-ES"/>
          </a:p>
        </p:txBody>
      </p:sp>
      <p:sp>
        <p:nvSpPr>
          <p:cNvPr id="32" name="Shape 29"/>
          <p:cNvSpPr/>
          <p:nvPr/>
        </p:nvSpPr>
        <p:spPr>
          <a:xfrm>
            <a:off x="5496781" y="1428750"/>
            <a:ext cx="3075719" cy="28575"/>
          </a:xfrm>
          <a:prstGeom prst="rect">
            <a:avLst/>
          </a:prstGeom>
          <a:solidFill>
            <a:srgbClr val="DC8060"/>
          </a:solidFill>
          <a:ln/>
        </p:spPr>
        <p:txBody>
          <a:bodyPr/>
          <a:lstStyle/>
          <a:p>
            <a:endParaRPr lang="es-ES"/>
          </a:p>
        </p:txBody>
      </p:sp>
      <p:sp>
        <p:nvSpPr>
          <p:cNvPr id="33" name="Text 30"/>
          <p:cNvSpPr/>
          <p:nvPr/>
        </p:nvSpPr>
        <p:spPr>
          <a:xfrm>
            <a:off x="5725381" y="1657350"/>
            <a:ext cx="2618519" cy="685800"/>
          </a:xfrm>
          <a:prstGeom prst="rect">
            <a:avLst/>
          </a:prstGeom>
          <a:noFill/>
          <a:ln/>
        </p:spPr>
        <p:txBody>
          <a:bodyPr wrap="none" lIns="0" tIns="0" rIns="0" bIns="0" rtlCol="0" anchor="t">
            <a:spAutoFit/>
          </a:bodyPr>
          <a:lstStyle/>
          <a:p>
            <a:pPr marL="0" indent="0" algn="l">
              <a:lnSpc>
                <a:spcPts val="5400"/>
              </a:lnSpc>
              <a:buNone/>
            </a:pPr>
            <a:r>
              <a:rPr lang="en-US" sz="4974" b="1" dirty="0">
                <a:solidFill>
                  <a:srgbClr val="DC8060"/>
                </a:solidFill>
              </a:rPr>
              <a:t>41%</a:t>
            </a:r>
            <a:endParaRPr lang="en-US" sz="4974" dirty="0"/>
          </a:p>
        </p:txBody>
      </p:sp>
      <p:sp>
        <p:nvSpPr>
          <p:cNvPr id="34" name="Text 31"/>
          <p:cNvSpPr/>
          <p:nvPr/>
        </p:nvSpPr>
        <p:spPr>
          <a:xfrm>
            <a:off x="5725381" y="2400300"/>
            <a:ext cx="2618519" cy="357188"/>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1F3A3D"/>
                </a:solidFill>
              </a:rPr>
              <a:t>de trabajadores experimenta estrés diario</a:t>
            </a:r>
            <a:endParaRPr lang="en-US" sz="1200" dirty="0"/>
          </a:p>
        </p:txBody>
      </p:sp>
      <p:sp>
        <p:nvSpPr>
          <p:cNvPr id="35" name="Text 32"/>
          <p:cNvSpPr/>
          <p:nvPr/>
        </p:nvSpPr>
        <p:spPr>
          <a:xfrm>
            <a:off x="5725381" y="2871788"/>
            <a:ext cx="2618519" cy="142875"/>
          </a:xfrm>
          <a:prstGeom prst="rect">
            <a:avLst/>
          </a:prstGeom>
          <a:noFill/>
          <a:ln/>
        </p:spPr>
        <p:txBody>
          <a:bodyPr wrap="none" lIns="0" tIns="0" rIns="0" bIns="0" rtlCol="0" anchor="t">
            <a:spAutoFit/>
          </a:bodyPr>
          <a:lstStyle/>
          <a:p>
            <a:pPr marL="0" indent="0" algn="l">
              <a:lnSpc>
                <a:spcPts val="1100"/>
              </a:lnSpc>
              <a:buNone/>
            </a:pPr>
            <a:r>
              <a:rPr lang="en-US" sz="800" i="1" dirty="0">
                <a:solidFill>
                  <a:srgbClr val="1F3A3D">
                    <a:alpha val="80000"/>
                  </a:srgbClr>
                </a:solidFill>
              </a:rPr>
              <a:t>Fuente: Gallup, State of the Global Workplace</a:t>
            </a:r>
            <a:endParaRPr lang="en-US" sz="800" dirty="0"/>
          </a:p>
        </p:txBody>
      </p:sp>
      <p:sp>
        <p:nvSpPr>
          <p:cNvPr id="36" name="Shape 33"/>
          <p:cNvSpPr/>
          <p:nvPr/>
        </p:nvSpPr>
        <p:spPr>
          <a:xfrm>
            <a:off x="571500" y="4136231"/>
            <a:ext cx="8001000" cy="578644"/>
          </a:xfrm>
          <a:prstGeom prst="rect">
            <a:avLst/>
          </a:prstGeom>
          <a:solidFill>
            <a:srgbClr val="000000">
              <a:alpha val="0"/>
            </a:srgbClr>
          </a:solidFill>
          <a:ln/>
        </p:spPr>
        <p:txBody>
          <a:bodyPr/>
          <a:lstStyle/>
          <a:p>
            <a:endParaRPr lang="es-ES"/>
          </a:p>
        </p:txBody>
      </p:sp>
      <p:sp>
        <p:nvSpPr>
          <p:cNvPr id="37" name="Shape 34"/>
          <p:cNvSpPr/>
          <p:nvPr/>
        </p:nvSpPr>
        <p:spPr>
          <a:xfrm>
            <a:off x="571500" y="4136231"/>
            <a:ext cx="8001000" cy="7144"/>
          </a:xfrm>
          <a:prstGeom prst="rect">
            <a:avLst/>
          </a:prstGeom>
          <a:solidFill>
            <a:srgbClr val="E5E7EB"/>
          </a:solidFill>
          <a:ln/>
        </p:spPr>
        <p:txBody>
          <a:bodyPr/>
          <a:lstStyle/>
          <a:p>
            <a:endParaRPr lang="es-ES"/>
          </a:p>
        </p:txBody>
      </p:sp>
      <p:sp>
        <p:nvSpPr>
          <p:cNvPr id="38" name="Text 35"/>
          <p:cNvSpPr/>
          <p:nvPr/>
        </p:nvSpPr>
        <p:spPr>
          <a:xfrm>
            <a:off x="571500" y="4314825"/>
            <a:ext cx="8001000" cy="400050"/>
          </a:xfrm>
          <a:prstGeom prst="rect">
            <a:avLst/>
          </a:prstGeom>
          <a:noFill/>
          <a:ln/>
        </p:spPr>
        <p:txBody>
          <a:bodyPr wrap="square" lIns="0" tIns="0" rIns="0" bIns="0" rtlCol="0" anchor="t">
            <a:spAutoFit/>
          </a:bodyPr>
          <a:lstStyle/>
          <a:p>
            <a:pPr marL="0" indent="0" algn="l">
              <a:lnSpc>
                <a:spcPts val="1600"/>
              </a:lnSpc>
              <a:buNone/>
            </a:pPr>
            <a:r>
              <a:rPr lang="en-US" sz="900" b="1" dirty="0">
                <a:solidFill>
                  <a:srgbClr val="1F3A3D"/>
                </a:solidFill>
              </a:rPr>
              <a:t>Los managers reportan más emociones negativas que los no-managers. 
 </a:t>
            </a:r>
            <a:r>
              <a:rPr lang="en-US" sz="900" b="1" dirty="0">
                <a:solidFill>
                  <a:srgbClr val="DC8060"/>
                </a:solidFill>
              </a:rPr>
              <a:t>El autocuidado tiene impacto sistémico.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1697534" y="428625"/>
            <a:ext cx="5748905" cy="142875"/>
          </a:xfrm>
          <a:prstGeom prst="rect">
            <a:avLst/>
          </a:prstGeom>
          <a:noFill/>
          <a:ln/>
        </p:spPr>
        <p:txBody>
          <a:bodyPr wrap="none" lIns="0" tIns="0" rIns="0" bIns="0" rtlCol="0" anchor="t">
            <a:spAutoFit/>
          </a:bodyPr>
          <a:lstStyle/>
          <a:p>
            <a:pPr marL="0" indent="0" algn="ctr">
              <a:lnSpc>
                <a:spcPts val="1100"/>
              </a:lnSpc>
              <a:buNone/>
            </a:pPr>
            <a:r>
              <a:rPr lang="en-US" sz="1000" b="1" kern="0" spc="2" dirty="0">
                <a:solidFill>
                  <a:srgbClr val="DC8060"/>
                </a:solidFill>
              </a:rPr>
              <a:t>LA PIEZA QUE FALTA</a:t>
            </a:r>
            <a:endParaRPr lang="en-US" sz="1000" dirty="0"/>
          </a:p>
        </p:txBody>
      </p:sp>
      <p:sp>
        <p:nvSpPr>
          <p:cNvPr id="4" name="Text 1"/>
          <p:cNvSpPr/>
          <p:nvPr/>
        </p:nvSpPr>
        <p:spPr>
          <a:xfrm>
            <a:off x="375138" y="685800"/>
            <a:ext cx="8478130" cy="642938"/>
          </a:xfrm>
          <a:prstGeom prst="rect">
            <a:avLst/>
          </a:prstGeom>
          <a:noFill/>
          <a:ln/>
        </p:spPr>
        <p:txBody>
          <a:bodyPr wrap="square" lIns="0" tIns="0" rIns="0" bIns="0" rtlCol="0" anchor="t">
            <a:spAutoFit/>
          </a:bodyPr>
          <a:lstStyle/>
          <a:p>
            <a:pPr marL="0" indent="0" algn="ctr">
              <a:lnSpc>
                <a:spcPts val="2500"/>
              </a:lnSpc>
              <a:buNone/>
            </a:pPr>
            <a:r>
              <a:rPr lang="en-US" sz="2200" b="1" dirty="0">
                <a:solidFill>
                  <a:srgbClr val="FFFFFF"/>
                </a:solidFill>
              </a:rPr>
              <a:t>Entiendes tu mundo interior, pero...
 </a:t>
            </a:r>
            <a:r>
              <a:rPr lang="en-US" sz="2200" b="1" dirty="0">
                <a:solidFill>
                  <a:srgbClr val="DC8060"/>
                </a:solidFill>
              </a:rPr>
              <a:t>¿qué pasa cuando la presión lo inunda todo?</a:t>
            </a:r>
            <a:endParaRPr lang="en-US" sz="2200" dirty="0"/>
          </a:p>
        </p:txBody>
      </p:sp>
      <p:sp>
        <p:nvSpPr>
          <p:cNvPr id="5" name="Text 2"/>
          <p:cNvSpPr/>
          <p:nvPr/>
        </p:nvSpPr>
        <p:spPr>
          <a:xfrm>
            <a:off x="4175327" y="2443163"/>
            <a:ext cx="793319" cy="142875"/>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FFFFFF"/>
                </a:solidFill>
              </a:rPr>
              <a:t>PENSAMIENTOS</a:t>
            </a:r>
            <a:endParaRPr lang="en-US" sz="1000" dirty="0"/>
          </a:p>
        </p:txBody>
      </p:sp>
      <p:sp>
        <p:nvSpPr>
          <p:cNvPr id="6" name="Text 3"/>
          <p:cNvSpPr/>
          <p:nvPr/>
        </p:nvSpPr>
        <p:spPr>
          <a:xfrm>
            <a:off x="3571875" y="3800475"/>
            <a:ext cx="699808" cy="142875"/>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FFFFFF"/>
                </a:solidFill>
              </a:rPr>
              <a:t>SENSACIONES</a:t>
            </a:r>
            <a:endParaRPr lang="en-US" sz="1000" dirty="0"/>
          </a:p>
        </p:txBody>
      </p:sp>
      <p:sp>
        <p:nvSpPr>
          <p:cNvPr id="7" name="Text 4"/>
          <p:cNvSpPr/>
          <p:nvPr/>
        </p:nvSpPr>
        <p:spPr>
          <a:xfrm>
            <a:off x="4958042" y="3800475"/>
            <a:ext cx="614083" cy="142875"/>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FFFFFF"/>
                </a:solidFill>
              </a:rPr>
              <a:t>EMOCIONES</a:t>
            </a:r>
            <a:endParaRPr lang="en-US" sz="1000" dirty="0"/>
          </a:p>
        </p:txBody>
      </p:sp>
      <p:sp>
        <p:nvSpPr>
          <p:cNvPr id="8" name="Text 5"/>
          <p:cNvSpPr/>
          <p:nvPr/>
        </p:nvSpPr>
        <p:spPr>
          <a:xfrm>
            <a:off x="4310514" y="1430178"/>
            <a:ext cx="522973" cy="150019"/>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DC8060"/>
                </a:solidFill>
              </a:rPr>
              <a:t>URGENCIA</a:t>
            </a:r>
            <a:endParaRPr lang="en-US" sz="1000" dirty="0"/>
          </a:p>
        </p:txBody>
      </p:sp>
      <p:sp>
        <p:nvSpPr>
          <p:cNvPr id="9" name="Text 6"/>
          <p:cNvSpPr/>
          <p:nvPr/>
        </p:nvSpPr>
        <p:spPr>
          <a:xfrm>
            <a:off x="2571750" y="3507581"/>
            <a:ext cx="835930" cy="150019"/>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DC8060"/>
                </a:solidFill>
              </a:rPr>
              <a:t>INCERTIDUMBRE</a:t>
            </a:r>
            <a:endParaRPr lang="en-US" sz="1000" dirty="0"/>
          </a:p>
        </p:txBody>
      </p:sp>
      <p:sp>
        <p:nvSpPr>
          <p:cNvPr id="10" name="Text 7"/>
          <p:cNvSpPr/>
          <p:nvPr/>
        </p:nvSpPr>
        <p:spPr>
          <a:xfrm rot="21600000">
            <a:off x="5851010" y="3507581"/>
            <a:ext cx="664090" cy="150019"/>
          </a:xfrm>
          <a:prstGeom prst="rect">
            <a:avLst/>
          </a:prstGeom>
          <a:noFill/>
          <a:ln/>
        </p:spPr>
        <p:txBody>
          <a:bodyPr wrap="none" lIns="0" tIns="0" rIns="0" bIns="0" rtlCol="0" anchor="t">
            <a:spAutoFit/>
          </a:bodyPr>
          <a:lstStyle/>
          <a:p>
            <a:pPr marL="0" indent="0" algn="l">
              <a:lnSpc>
                <a:spcPts val="1200"/>
              </a:lnSpc>
              <a:buNone/>
            </a:pPr>
            <a:r>
              <a:rPr lang="en-US" sz="1000" b="1" dirty="0">
                <a:solidFill>
                  <a:srgbClr val="DC8060"/>
                </a:solidFill>
              </a:rPr>
              <a:t>SOBRECARGA</a:t>
            </a:r>
            <a:endParaRPr lang="en-US" sz="1000" dirty="0"/>
          </a:p>
        </p:txBody>
      </p:sp>
      <p:sp>
        <p:nvSpPr>
          <p:cNvPr id="11" name="Text 8"/>
          <p:cNvSpPr/>
          <p:nvPr/>
        </p:nvSpPr>
        <p:spPr>
          <a:xfrm>
            <a:off x="2779114" y="4629150"/>
            <a:ext cx="3585744" cy="464344"/>
          </a:xfrm>
          <a:prstGeom prst="rect">
            <a:avLst/>
          </a:prstGeom>
          <a:noFill/>
          <a:ln/>
        </p:spPr>
        <p:txBody>
          <a:bodyPr wrap="square" lIns="0" tIns="0" rIns="0" bIns="0" rtlCol="0" anchor="t">
            <a:spAutoFit/>
          </a:bodyPr>
          <a:lstStyle/>
          <a:p>
            <a:pPr marL="0" indent="0" algn="ctr">
              <a:lnSpc>
                <a:spcPts val="1800"/>
              </a:lnSpc>
              <a:buNone/>
            </a:pPr>
            <a:r>
              <a:rPr lang="en-US" sz="1200" dirty="0">
                <a:solidFill>
                  <a:srgbClr val="FFFFFF"/>
                </a:solidFill>
              </a:rPr>
              <a:t>M4 responde a la pregunta crucial:
 ¿Cómo cuidas todo esto bajo la presión del liderazgo?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CICLO ADAPTATIVO VS. CICLO INTERRUMPIDO</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La cebra se relaja, tú no</a:t>
            </a:r>
            <a:endParaRPr lang="en-US" sz="2200" dirty="0"/>
          </a:p>
        </p:txBody>
      </p:sp>
      <p:sp>
        <p:nvSpPr>
          <p:cNvPr id="5" name="Shape 2"/>
          <p:cNvSpPr/>
          <p:nvPr/>
        </p:nvSpPr>
        <p:spPr>
          <a:xfrm>
            <a:off x="571500" y="1143000"/>
            <a:ext cx="3829050" cy="3571875"/>
          </a:xfrm>
          <a:prstGeom prst="rect">
            <a:avLst/>
          </a:prstGeom>
          <a:solidFill>
            <a:srgbClr val="FFFFFF"/>
          </a:solidFill>
          <a:ln/>
        </p:spPr>
        <p:txBody>
          <a:bodyPr/>
          <a:lstStyle/>
          <a:p>
            <a:endParaRPr lang="es-ES"/>
          </a:p>
        </p:txBody>
      </p:sp>
      <p:sp>
        <p:nvSpPr>
          <p:cNvPr id="6" name="Shape 3"/>
          <p:cNvSpPr/>
          <p:nvPr/>
        </p:nvSpPr>
        <p:spPr>
          <a:xfrm>
            <a:off x="571500" y="1143000"/>
            <a:ext cx="3829050" cy="28575"/>
          </a:xfrm>
          <a:prstGeom prst="rect">
            <a:avLst/>
          </a:prstGeom>
          <a:solidFill>
            <a:srgbClr val="1F3A3D"/>
          </a:solidFill>
          <a:ln/>
        </p:spPr>
        <p:txBody>
          <a:bodyPr/>
          <a:lstStyle/>
          <a:p>
            <a:endParaRPr lang="es-ES"/>
          </a:p>
        </p:txBody>
      </p:sp>
      <p:sp>
        <p:nvSpPr>
          <p:cNvPr id="7" name="Text 4"/>
          <p:cNvSpPr/>
          <p:nvPr/>
        </p:nvSpPr>
        <p:spPr>
          <a:xfrm>
            <a:off x="785813" y="1357313"/>
            <a:ext cx="3400425" cy="228600"/>
          </a:xfrm>
          <a:prstGeom prst="rect">
            <a:avLst/>
          </a:prstGeom>
          <a:noFill/>
          <a:ln/>
        </p:spPr>
        <p:txBody>
          <a:bodyPr wrap="none" lIns="0" tIns="0" rIns="0" bIns="0" rtlCol="0" anchor="t">
            <a:spAutoFit/>
          </a:bodyPr>
          <a:lstStyle/>
          <a:p>
            <a:pPr marL="0" indent="0" algn="ctr">
              <a:lnSpc>
                <a:spcPts val="1800"/>
              </a:lnSpc>
              <a:buNone/>
            </a:pPr>
            <a:r>
              <a:rPr lang="en-US" sz="1200" b="1" dirty="0">
                <a:solidFill>
                  <a:srgbClr val="1F3A3D"/>
                </a:solidFill>
              </a:rPr>
              <a:t>La Cebra</a:t>
            </a:r>
            <a:endParaRPr lang="en-US" sz="1200" dirty="0"/>
          </a:p>
        </p:txBody>
      </p:sp>
      <p:sp>
        <p:nvSpPr>
          <p:cNvPr id="8" name="Shape 5"/>
          <p:cNvSpPr/>
          <p:nvPr/>
        </p:nvSpPr>
        <p:spPr>
          <a:xfrm>
            <a:off x="785813" y="1757363"/>
            <a:ext cx="357188" cy="357188"/>
          </a:xfrm>
          <a:prstGeom prst="ellipse">
            <a:avLst/>
          </a:prstGeom>
          <a:solidFill>
            <a:srgbClr val="1F3A3D"/>
          </a:solidFill>
          <a:ln/>
        </p:spPr>
        <p:txBody>
          <a:bodyPr/>
          <a:lstStyle/>
          <a:p>
            <a:endParaRPr lang="es-ES"/>
          </a:p>
        </p:txBody>
      </p:sp>
      <p:pic>
        <p:nvPicPr>
          <p:cNvPr id="9" name="Image 1" descr="preencoded.png"/>
          <p:cNvPicPr>
            <a:picLocks noChangeAspect="1"/>
          </p:cNvPicPr>
          <p:nvPr/>
        </p:nvPicPr>
        <p:blipFill>
          <a:blip r:embed="rId3"/>
          <a:stretch>
            <a:fillRect/>
          </a:stretch>
        </p:blipFill>
        <p:spPr>
          <a:xfrm>
            <a:off x="895648" y="1867365"/>
            <a:ext cx="137517" cy="137154"/>
          </a:xfrm>
          <a:prstGeom prst="rect">
            <a:avLst/>
          </a:prstGeom>
        </p:spPr>
      </p:pic>
      <p:sp>
        <p:nvSpPr>
          <p:cNvPr id="10" name="Text 6"/>
          <p:cNvSpPr/>
          <p:nvPr/>
        </p:nvSpPr>
        <p:spPr>
          <a:xfrm>
            <a:off x="1250156" y="1778794"/>
            <a:ext cx="890932" cy="171450"/>
          </a:xfrm>
          <a:prstGeom prst="rect">
            <a:avLst/>
          </a:prstGeom>
          <a:noFill/>
          <a:ln/>
        </p:spPr>
        <p:txBody>
          <a:bodyPr wrap="none" lIns="0" tIns="0" rIns="0" bIns="0" rtlCol="0" anchor="t">
            <a:spAutoFit/>
          </a:bodyPr>
          <a:lstStyle/>
          <a:p>
            <a:pPr marL="0" indent="0" algn="l">
              <a:lnSpc>
                <a:spcPts val="1400"/>
              </a:lnSpc>
              <a:buNone/>
            </a:pPr>
            <a:r>
              <a:rPr lang="en-US" sz="800" b="1" dirty="0">
                <a:solidFill>
                  <a:srgbClr val="1F3A3D"/>
                </a:solidFill>
              </a:rPr>
              <a:t>Estado Normal</a:t>
            </a:r>
            <a:endParaRPr lang="en-US" sz="800" dirty="0"/>
          </a:p>
        </p:txBody>
      </p:sp>
      <p:sp>
        <p:nvSpPr>
          <p:cNvPr id="11" name="Text 7"/>
          <p:cNvSpPr/>
          <p:nvPr/>
        </p:nvSpPr>
        <p:spPr>
          <a:xfrm>
            <a:off x="1250156" y="1950244"/>
            <a:ext cx="890932"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6B7280"/>
                </a:solidFill>
              </a:rPr>
              <a:t>Pastando tranquila</a:t>
            </a:r>
            <a:endParaRPr lang="en-US" sz="800" dirty="0"/>
          </a:p>
        </p:txBody>
      </p:sp>
      <p:sp>
        <p:nvSpPr>
          <p:cNvPr id="12" name="Shape 8"/>
          <p:cNvSpPr/>
          <p:nvPr/>
        </p:nvSpPr>
        <p:spPr>
          <a:xfrm>
            <a:off x="785813" y="2257425"/>
            <a:ext cx="357188" cy="357188"/>
          </a:xfrm>
          <a:prstGeom prst="ellipse">
            <a:avLst/>
          </a:prstGeom>
          <a:solidFill>
            <a:srgbClr val="1F3A3D"/>
          </a:solidFill>
          <a:ln/>
        </p:spPr>
        <p:txBody>
          <a:bodyPr/>
          <a:lstStyle/>
          <a:p>
            <a:endParaRPr lang="es-ES"/>
          </a:p>
        </p:txBody>
      </p:sp>
      <p:pic>
        <p:nvPicPr>
          <p:cNvPr id="13" name="Image 2" descr="preencoded.png"/>
          <p:cNvPicPr>
            <a:picLocks noChangeAspect="1"/>
          </p:cNvPicPr>
          <p:nvPr/>
        </p:nvPicPr>
        <p:blipFill>
          <a:blip r:embed="rId4"/>
          <a:stretch>
            <a:fillRect/>
          </a:stretch>
        </p:blipFill>
        <p:spPr>
          <a:xfrm>
            <a:off x="946547" y="2367428"/>
            <a:ext cx="35719" cy="137154"/>
          </a:xfrm>
          <a:prstGeom prst="rect">
            <a:avLst/>
          </a:prstGeom>
        </p:spPr>
      </p:pic>
      <p:sp>
        <p:nvSpPr>
          <p:cNvPr id="14" name="Text 9"/>
          <p:cNvSpPr/>
          <p:nvPr/>
        </p:nvSpPr>
        <p:spPr>
          <a:xfrm>
            <a:off x="1250156" y="2278856"/>
            <a:ext cx="912809" cy="171450"/>
          </a:xfrm>
          <a:prstGeom prst="rect">
            <a:avLst/>
          </a:prstGeom>
          <a:noFill/>
          <a:ln/>
        </p:spPr>
        <p:txBody>
          <a:bodyPr wrap="none" lIns="0" tIns="0" rIns="0" bIns="0" rtlCol="0" anchor="t">
            <a:spAutoFit/>
          </a:bodyPr>
          <a:lstStyle/>
          <a:p>
            <a:pPr marL="0" indent="0" algn="l">
              <a:lnSpc>
                <a:spcPts val="1400"/>
              </a:lnSpc>
              <a:buNone/>
            </a:pPr>
            <a:r>
              <a:rPr lang="en-US" sz="800" b="1" dirty="0">
                <a:solidFill>
                  <a:srgbClr val="1F3A3D"/>
                </a:solidFill>
              </a:rPr>
              <a:t>Amenaza (León)</a:t>
            </a:r>
            <a:endParaRPr lang="en-US" sz="800" dirty="0"/>
          </a:p>
        </p:txBody>
      </p:sp>
      <p:sp>
        <p:nvSpPr>
          <p:cNvPr id="15" name="Text 10"/>
          <p:cNvSpPr/>
          <p:nvPr/>
        </p:nvSpPr>
        <p:spPr>
          <a:xfrm>
            <a:off x="1250156" y="2450306"/>
            <a:ext cx="912809"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6B7280"/>
                </a:solidFill>
              </a:rPr>
              <a:t>Pico de activación</a:t>
            </a:r>
            <a:endParaRPr lang="en-US" sz="800" dirty="0"/>
          </a:p>
        </p:txBody>
      </p:sp>
      <p:sp>
        <p:nvSpPr>
          <p:cNvPr id="16" name="Shape 11"/>
          <p:cNvSpPr/>
          <p:nvPr/>
        </p:nvSpPr>
        <p:spPr>
          <a:xfrm>
            <a:off x="785813" y="2757488"/>
            <a:ext cx="357188" cy="357188"/>
          </a:xfrm>
          <a:prstGeom prst="ellipse">
            <a:avLst/>
          </a:prstGeom>
          <a:solidFill>
            <a:srgbClr val="1F3A3D"/>
          </a:solidFill>
          <a:ln/>
        </p:spPr>
        <p:txBody>
          <a:bodyPr/>
          <a:lstStyle/>
          <a:p>
            <a:endParaRPr lang="es-ES"/>
          </a:p>
        </p:txBody>
      </p:sp>
      <p:pic>
        <p:nvPicPr>
          <p:cNvPr id="17" name="Image 3" descr="preencoded.png"/>
          <p:cNvPicPr>
            <a:picLocks noChangeAspect="1"/>
          </p:cNvPicPr>
          <p:nvPr/>
        </p:nvPicPr>
        <p:blipFill>
          <a:blip r:embed="rId5"/>
          <a:stretch>
            <a:fillRect/>
          </a:stretch>
        </p:blipFill>
        <p:spPr>
          <a:xfrm>
            <a:off x="904577" y="2867490"/>
            <a:ext cx="119658" cy="137154"/>
          </a:xfrm>
          <a:prstGeom prst="rect">
            <a:avLst/>
          </a:prstGeom>
        </p:spPr>
      </p:pic>
      <p:sp>
        <p:nvSpPr>
          <p:cNvPr id="18" name="Text 12"/>
          <p:cNvSpPr/>
          <p:nvPr/>
        </p:nvSpPr>
        <p:spPr>
          <a:xfrm>
            <a:off x="1250156" y="2778919"/>
            <a:ext cx="723863" cy="171450"/>
          </a:xfrm>
          <a:prstGeom prst="rect">
            <a:avLst/>
          </a:prstGeom>
          <a:noFill/>
          <a:ln/>
        </p:spPr>
        <p:txBody>
          <a:bodyPr wrap="none" lIns="0" tIns="0" rIns="0" bIns="0" rtlCol="0" anchor="t">
            <a:spAutoFit/>
          </a:bodyPr>
          <a:lstStyle/>
          <a:p>
            <a:pPr marL="0" indent="0" algn="l">
              <a:lnSpc>
                <a:spcPts val="1400"/>
              </a:lnSpc>
              <a:buNone/>
            </a:pPr>
            <a:r>
              <a:rPr lang="en-US" sz="800" b="1" dirty="0">
                <a:solidFill>
                  <a:srgbClr val="1F3A3D"/>
                </a:solidFill>
              </a:rPr>
              <a:t>Acción Física</a:t>
            </a:r>
            <a:endParaRPr lang="en-US" sz="800" dirty="0"/>
          </a:p>
        </p:txBody>
      </p:sp>
      <p:sp>
        <p:nvSpPr>
          <p:cNvPr id="19" name="Text 13"/>
          <p:cNvSpPr/>
          <p:nvPr/>
        </p:nvSpPr>
        <p:spPr>
          <a:xfrm>
            <a:off x="1250156" y="2950369"/>
            <a:ext cx="723863"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6B7280"/>
                </a:solidFill>
              </a:rPr>
              <a:t>Huir o luchar</a:t>
            </a:r>
            <a:endParaRPr lang="en-US" sz="800" dirty="0"/>
          </a:p>
        </p:txBody>
      </p:sp>
      <p:sp>
        <p:nvSpPr>
          <p:cNvPr id="20" name="Shape 14"/>
          <p:cNvSpPr/>
          <p:nvPr/>
        </p:nvSpPr>
        <p:spPr>
          <a:xfrm>
            <a:off x="785813" y="3257550"/>
            <a:ext cx="357188" cy="357188"/>
          </a:xfrm>
          <a:prstGeom prst="ellipse">
            <a:avLst/>
          </a:prstGeom>
          <a:solidFill>
            <a:srgbClr val="1F3A3D"/>
          </a:solidFill>
          <a:ln/>
        </p:spPr>
        <p:txBody>
          <a:bodyPr/>
          <a:lstStyle/>
          <a:p>
            <a:endParaRPr lang="es-ES"/>
          </a:p>
        </p:txBody>
      </p:sp>
      <p:pic>
        <p:nvPicPr>
          <p:cNvPr id="21" name="Image 4" descr="preencoded.png"/>
          <p:cNvPicPr>
            <a:picLocks noChangeAspect="1"/>
          </p:cNvPicPr>
          <p:nvPr/>
        </p:nvPicPr>
        <p:blipFill>
          <a:blip r:embed="rId6"/>
          <a:stretch>
            <a:fillRect/>
          </a:stretch>
        </p:blipFill>
        <p:spPr>
          <a:xfrm>
            <a:off x="895648" y="3367553"/>
            <a:ext cx="137517" cy="137154"/>
          </a:xfrm>
          <a:prstGeom prst="rect">
            <a:avLst/>
          </a:prstGeom>
        </p:spPr>
      </p:pic>
      <p:sp>
        <p:nvSpPr>
          <p:cNvPr id="22" name="Text 15"/>
          <p:cNvSpPr/>
          <p:nvPr/>
        </p:nvSpPr>
        <p:spPr>
          <a:xfrm>
            <a:off x="1250156" y="3278981"/>
            <a:ext cx="1383097" cy="171450"/>
          </a:xfrm>
          <a:prstGeom prst="rect">
            <a:avLst/>
          </a:prstGeom>
          <a:noFill/>
          <a:ln/>
        </p:spPr>
        <p:txBody>
          <a:bodyPr wrap="none" lIns="0" tIns="0" rIns="0" bIns="0" rtlCol="0" anchor="t">
            <a:spAutoFit/>
          </a:bodyPr>
          <a:lstStyle/>
          <a:p>
            <a:pPr marL="0" indent="0" algn="l">
              <a:lnSpc>
                <a:spcPts val="1400"/>
              </a:lnSpc>
              <a:buNone/>
            </a:pPr>
            <a:r>
              <a:rPr lang="en-US" sz="800" b="1" dirty="0">
                <a:solidFill>
                  <a:srgbClr val="1F3A3D"/>
                </a:solidFill>
              </a:rPr>
              <a:t>Retorno a la Calma</a:t>
            </a:r>
            <a:endParaRPr lang="en-US" sz="800" dirty="0"/>
          </a:p>
        </p:txBody>
      </p:sp>
      <p:sp>
        <p:nvSpPr>
          <p:cNvPr id="23" name="Text 16"/>
          <p:cNvSpPr/>
          <p:nvPr/>
        </p:nvSpPr>
        <p:spPr>
          <a:xfrm>
            <a:off x="1250156" y="3450431"/>
            <a:ext cx="1383097"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6B7280"/>
                </a:solidFill>
              </a:rPr>
              <a:t>El cuerpo descarga la energía</a:t>
            </a:r>
            <a:endParaRPr lang="en-US" sz="800" dirty="0"/>
          </a:p>
        </p:txBody>
      </p:sp>
      <p:sp>
        <p:nvSpPr>
          <p:cNvPr id="24" name="Shape 17"/>
          <p:cNvSpPr/>
          <p:nvPr/>
        </p:nvSpPr>
        <p:spPr>
          <a:xfrm>
            <a:off x="785813" y="4114800"/>
            <a:ext cx="3400425" cy="385763"/>
          </a:xfrm>
          <a:prstGeom prst="rect">
            <a:avLst/>
          </a:prstGeom>
          <a:solidFill>
            <a:srgbClr val="E8F4F4"/>
          </a:solidFill>
          <a:ln/>
        </p:spPr>
        <p:txBody>
          <a:bodyPr/>
          <a:lstStyle/>
          <a:p>
            <a:endParaRPr lang="es-ES"/>
          </a:p>
        </p:txBody>
      </p:sp>
      <p:pic>
        <p:nvPicPr>
          <p:cNvPr id="25" name="Image 5" descr="preencoded.png"/>
          <p:cNvPicPr>
            <a:picLocks noChangeAspect="1"/>
          </p:cNvPicPr>
          <p:nvPr/>
        </p:nvPicPr>
        <p:blipFill>
          <a:blip r:embed="rId7"/>
          <a:stretch>
            <a:fillRect/>
          </a:stretch>
        </p:blipFill>
        <p:spPr>
          <a:xfrm>
            <a:off x="1845180" y="4250531"/>
            <a:ext cx="114300" cy="114300"/>
          </a:xfrm>
          <a:prstGeom prst="rect">
            <a:avLst/>
          </a:prstGeom>
        </p:spPr>
      </p:pic>
      <p:sp>
        <p:nvSpPr>
          <p:cNvPr id="26" name="Text 18"/>
          <p:cNvSpPr/>
          <p:nvPr/>
        </p:nvSpPr>
        <p:spPr>
          <a:xfrm>
            <a:off x="2016630" y="4229100"/>
            <a:ext cx="1110211" cy="155377"/>
          </a:xfrm>
          <a:prstGeom prst="rect">
            <a:avLst/>
          </a:prstGeom>
          <a:noFill/>
          <a:ln/>
        </p:spPr>
        <p:txBody>
          <a:bodyPr wrap="none" lIns="0" tIns="0" rIns="0" bIns="0" rtlCol="0" anchor="t">
            <a:spAutoFit/>
          </a:bodyPr>
          <a:lstStyle/>
          <a:p>
            <a:pPr marL="0" indent="0" algn="ctr">
              <a:lnSpc>
                <a:spcPts val="1400"/>
              </a:lnSpc>
              <a:buNone/>
            </a:pPr>
            <a:r>
              <a:rPr lang="en-US" sz="800" b="1" dirty="0">
                <a:solidFill>
                  <a:srgbClr val="1F3A3D"/>
                </a:solidFill>
              </a:rPr>
              <a:t>El ciclo se completa</a:t>
            </a:r>
            <a:endParaRPr lang="en-US" sz="800" dirty="0"/>
          </a:p>
        </p:txBody>
      </p:sp>
      <p:sp>
        <p:nvSpPr>
          <p:cNvPr id="27" name="Shape 19"/>
          <p:cNvSpPr/>
          <p:nvPr/>
        </p:nvSpPr>
        <p:spPr>
          <a:xfrm>
            <a:off x="4743450" y="1143000"/>
            <a:ext cx="3829050" cy="3571875"/>
          </a:xfrm>
          <a:prstGeom prst="rect">
            <a:avLst/>
          </a:prstGeom>
          <a:solidFill>
            <a:srgbClr val="FFFFFF"/>
          </a:solidFill>
          <a:ln/>
        </p:spPr>
        <p:txBody>
          <a:bodyPr/>
          <a:lstStyle/>
          <a:p>
            <a:endParaRPr lang="es-ES"/>
          </a:p>
        </p:txBody>
      </p:sp>
      <p:sp>
        <p:nvSpPr>
          <p:cNvPr id="28" name="Shape 20"/>
          <p:cNvSpPr/>
          <p:nvPr/>
        </p:nvSpPr>
        <p:spPr>
          <a:xfrm>
            <a:off x="4743450" y="1143000"/>
            <a:ext cx="3829050" cy="28575"/>
          </a:xfrm>
          <a:prstGeom prst="rect">
            <a:avLst/>
          </a:prstGeom>
          <a:solidFill>
            <a:srgbClr val="DC8060"/>
          </a:solidFill>
          <a:ln/>
        </p:spPr>
        <p:txBody>
          <a:bodyPr/>
          <a:lstStyle/>
          <a:p>
            <a:endParaRPr lang="es-ES"/>
          </a:p>
        </p:txBody>
      </p:sp>
      <p:sp>
        <p:nvSpPr>
          <p:cNvPr id="29" name="Text 21"/>
          <p:cNvSpPr/>
          <p:nvPr/>
        </p:nvSpPr>
        <p:spPr>
          <a:xfrm>
            <a:off x="4957763" y="1357313"/>
            <a:ext cx="3400425" cy="228600"/>
          </a:xfrm>
          <a:prstGeom prst="rect">
            <a:avLst/>
          </a:prstGeom>
          <a:noFill/>
          <a:ln/>
        </p:spPr>
        <p:txBody>
          <a:bodyPr wrap="none" lIns="0" tIns="0" rIns="0" bIns="0" rtlCol="0" anchor="t">
            <a:spAutoFit/>
          </a:bodyPr>
          <a:lstStyle/>
          <a:p>
            <a:pPr marL="0" indent="0" algn="ctr">
              <a:lnSpc>
                <a:spcPts val="1800"/>
              </a:lnSpc>
              <a:buNone/>
            </a:pPr>
            <a:r>
              <a:rPr lang="en-US" sz="1200" b="1" dirty="0">
                <a:solidFill>
                  <a:srgbClr val="DC8060"/>
                </a:solidFill>
              </a:rPr>
              <a:t>El Líder</a:t>
            </a:r>
            <a:endParaRPr lang="en-US" sz="1200" dirty="0"/>
          </a:p>
        </p:txBody>
      </p:sp>
      <p:sp>
        <p:nvSpPr>
          <p:cNvPr id="30" name="Shape 22"/>
          <p:cNvSpPr/>
          <p:nvPr/>
        </p:nvSpPr>
        <p:spPr>
          <a:xfrm>
            <a:off x="4957763" y="1757363"/>
            <a:ext cx="357188" cy="357188"/>
          </a:xfrm>
          <a:prstGeom prst="ellipse">
            <a:avLst/>
          </a:prstGeom>
          <a:solidFill>
            <a:srgbClr val="DC8060"/>
          </a:solidFill>
          <a:ln/>
        </p:spPr>
        <p:txBody>
          <a:bodyPr/>
          <a:lstStyle/>
          <a:p>
            <a:endParaRPr lang="es-ES"/>
          </a:p>
        </p:txBody>
      </p:sp>
      <p:pic>
        <p:nvPicPr>
          <p:cNvPr id="31" name="Image 6" descr="preencoded.png"/>
          <p:cNvPicPr>
            <a:picLocks noChangeAspect="1"/>
          </p:cNvPicPr>
          <p:nvPr/>
        </p:nvPicPr>
        <p:blipFill>
          <a:blip r:embed="rId8"/>
          <a:stretch>
            <a:fillRect/>
          </a:stretch>
        </p:blipFill>
        <p:spPr>
          <a:xfrm>
            <a:off x="5076527" y="1867365"/>
            <a:ext cx="119658" cy="137154"/>
          </a:xfrm>
          <a:prstGeom prst="rect">
            <a:avLst/>
          </a:prstGeom>
        </p:spPr>
      </p:pic>
      <p:sp>
        <p:nvSpPr>
          <p:cNvPr id="32" name="Text 23"/>
          <p:cNvSpPr/>
          <p:nvPr/>
        </p:nvSpPr>
        <p:spPr>
          <a:xfrm>
            <a:off x="5422106" y="1778794"/>
            <a:ext cx="843995" cy="171450"/>
          </a:xfrm>
          <a:prstGeom prst="rect">
            <a:avLst/>
          </a:prstGeom>
          <a:noFill/>
          <a:ln/>
        </p:spPr>
        <p:txBody>
          <a:bodyPr wrap="none" lIns="0" tIns="0" rIns="0" bIns="0" rtlCol="0" anchor="t">
            <a:spAutoFit/>
          </a:bodyPr>
          <a:lstStyle/>
          <a:p>
            <a:pPr marL="0" indent="0" algn="l">
              <a:lnSpc>
                <a:spcPts val="1400"/>
              </a:lnSpc>
              <a:buNone/>
            </a:pPr>
            <a:r>
              <a:rPr lang="en-US" sz="800" b="1" dirty="0">
                <a:solidFill>
                  <a:srgbClr val="1F3A3D"/>
                </a:solidFill>
              </a:rPr>
              <a:t>Estado Normal</a:t>
            </a:r>
            <a:endParaRPr lang="en-US" sz="800" dirty="0"/>
          </a:p>
        </p:txBody>
      </p:sp>
      <p:sp>
        <p:nvSpPr>
          <p:cNvPr id="33" name="Text 24"/>
          <p:cNvSpPr/>
          <p:nvPr/>
        </p:nvSpPr>
        <p:spPr>
          <a:xfrm>
            <a:off x="5422106" y="1950244"/>
            <a:ext cx="843995"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6B7280"/>
                </a:solidFill>
              </a:rPr>
              <a:t>Trabajando</a:t>
            </a:r>
            <a:endParaRPr lang="en-US" sz="800" dirty="0"/>
          </a:p>
        </p:txBody>
      </p:sp>
      <p:sp>
        <p:nvSpPr>
          <p:cNvPr id="34" name="Shape 25"/>
          <p:cNvSpPr/>
          <p:nvPr/>
        </p:nvSpPr>
        <p:spPr>
          <a:xfrm>
            <a:off x="4957763" y="2257425"/>
            <a:ext cx="357188" cy="357188"/>
          </a:xfrm>
          <a:prstGeom prst="ellipse">
            <a:avLst/>
          </a:prstGeom>
          <a:solidFill>
            <a:srgbClr val="DC8060"/>
          </a:solidFill>
          <a:ln/>
        </p:spPr>
        <p:txBody>
          <a:bodyPr/>
          <a:lstStyle/>
          <a:p>
            <a:endParaRPr lang="es-ES"/>
          </a:p>
        </p:txBody>
      </p:sp>
      <p:pic>
        <p:nvPicPr>
          <p:cNvPr id="35" name="Image 7" descr="preencoded.png"/>
          <p:cNvPicPr>
            <a:picLocks noChangeAspect="1"/>
          </p:cNvPicPr>
          <p:nvPr/>
        </p:nvPicPr>
        <p:blipFill>
          <a:blip r:embed="rId9"/>
          <a:stretch>
            <a:fillRect/>
          </a:stretch>
        </p:blipFill>
        <p:spPr>
          <a:xfrm>
            <a:off x="5067598" y="2367428"/>
            <a:ext cx="137517" cy="137154"/>
          </a:xfrm>
          <a:prstGeom prst="rect">
            <a:avLst/>
          </a:prstGeom>
        </p:spPr>
      </p:pic>
      <p:sp>
        <p:nvSpPr>
          <p:cNvPr id="36" name="Text 26"/>
          <p:cNvSpPr/>
          <p:nvPr/>
        </p:nvSpPr>
        <p:spPr>
          <a:xfrm>
            <a:off x="5422106" y="2278856"/>
            <a:ext cx="1367386" cy="171450"/>
          </a:xfrm>
          <a:prstGeom prst="rect">
            <a:avLst/>
          </a:prstGeom>
          <a:noFill/>
          <a:ln/>
        </p:spPr>
        <p:txBody>
          <a:bodyPr wrap="none" lIns="0" tIns="0" rIns="0" bIns="0" rtlCol="0" anchor="t">
            <a:spAutoFit/>
          </a:bodyPr>
          <a:lstStyle/>
          <a:p>
            <a:pPr marL="0" indent="0" algn="l">
              <a:lnSpc>
                <a:spcPts val="1400"/>
              </a:lnSpc>
              <a:buNone/>
            </a:pPr>
            <a:r>
              <a:rPr lang="en-US" sz="800" b="1" dirty="0">
                <a:solidFill>
                  <a:srgbClr val="1F3A3D"/>
                </a:solidFill>
              </a:rPr>
              <a:t>Evento (Email/Deadline)</a:t>
            </a:r>
            <a:endParaRPr lang="en-US" sz="800" dirty="0"/>
          </a:p>
        </p:txBody>
      </p:sp>
      <p:sp>
        <p:nvSpPr>
          <p:cNvPr id="37" name="Text 27"/>
          <p:cNvSpPr/>
          <p:nvPr/>
        </p:nvSpPr>
        <p:spPr>
          <a:xfrm>
            <a:off x="5422106" y="2450306"/>
            <a:ext cx="1367386"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6B7280"/>
                </a:solidFill>
              </a:rPr>
              <a:t>Pico de activación</a:t>
            </a:r>
            <a:endParaRPr lang="en-US" sz="800" dirty="0"/>
          </a:p>
        </p:txBody>
      </p:sp>
      <p:sp>
        <p:nvSpPr>
          <p:cNvPr id="38" name="Shape 28"/>
          <p:cNvSpPr/>
          <p:nvPr/>
        </p:nvSpPr>
        <p:spPr>
          <a:xfrm>
            <a:off x="4957763" y="2757488"/>
            <a:ext cx="357188" cy="357188"/>
          </a:xfrm>
          <a:prstGeom prst="ellipse">
            <a:avLst/>
          </a:prstGeom>
          <a:solidFill>
            <a:srgbClr val="DC8060"/>
          </a:solidFill>
          <a:ln/>
        </p:spPr>
        <p:txBody>
          <a:bodyPr/>
          <a:lstStyle/>
          <a:p>
            <a:endParaRPr lang="es-ES"/>
          </a:p>
        </p:txBody>
      </p:sp>
      <p:pic>
        <p:nvPicPr>
          <p:cNvPr id="39" name="Image 8" descr="preencoded.png"/>
          <p:cNvPicPr>
            <a:picLocks noChangeAspect="1"/>
          </p:cNvPicPr>
          <p:nvPr/>
        </p:nvPicPr>
        <p:blipFill>
          <a:blip r:embed="rId10"/>
          <a:stretch>
            <a:fillRect/>
          </a:stretch>
        </p:blipFill>
        <p:spPr>
          <a:xfrm>
            <a:off x="5076527" y="2867490"/>
            <a:ext cx="119658" cy="137154"/>
          </a:xfrm>
          <a:prstGeom prst="rect">
            <a:avLst/>
          </a:prstGeom>
        </p:spPr>
      </p:pic>
      <p:sp>
        <p:nvSpPr>
          <p:cNvPr id="40" name="Text 29"/>
          <p:cNvSpPr/>
          <p:nvPr/>
        </p:nvSpPr>
        <p:spPr>
          <a:xfrm>
            <a:off x="5422106" y="2778919"/>
            <a:ext cx="1362084" cy="171450"/>
          </a:xfrm>
          <a:prstGeom prst="rect">
            <a:avLst/>
          </a:prstGeom>
          <a:noFill/>
          <a:ln/>
        </p:spPr>
        <p:txBody>
          <a:bodyPr wrap="none" lIns="0" tIns="0" rIns="0" bIns="0" rtlCol="0" anchor="t">
            <a:spAutoFit/>
          </a:bodyPr>
          <a:lstStyle/>
          <a:p>
            <a:pPr marL="0" indent="0" algn="l">
              <a:lnSpc>
                <a:spcPts val="1400"/>
              </a:lnSpc>
              <a:buNone/>
            </a:pPr>
            <a:r>
              <a:rPr lang="en-US" sz="800" b="1" dirty="0">
                <a:solidFill>
                  <a:srgbClr val="1F3A3D"/>
                </a:solidFill>
              </a:rPr>
              <a:t>Sin Acción Física</a:t>
            </a:r>
            <a:endParaRPr lang="en-US" sz="800" dirty="0"/>
          </a:p>
        </p:txBody>
      </p:sp>
      <p:sp>
        <p:nvSpPr>
          <p:cNvPr id="41" name="Text 30"/>
          <p:cNvSpPr/>
          <p:nvPr/>
        </p:nvSpPr>
        <p:spPr>
          <a:xfrm>
            <a:off x="5422106" y="2950369"/>
            <a:ext cx="1362084"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6B7280"/>
                </a:solidFill>
              </a:rPr>
              <a:t>Sentado en la silla, rumiando</a:t>
            </a:r>
            <a:endParaRPr lang="en-US" sz="800" dirty="0"/>
          </a:p>
        </p:txBody>
      </p:sp>
      <p:sp>
        <p:nvSpPr>
          <p:cNvPr id="42" name="Shape 31"/>
          <p:cNvSpPr/>
          <p:nvPr/>
        </p:nvSpPr>
        <p:spPr>
          <a:xfrm>
            <a:off x="4957763" y="3257550"/>
            <a:ext cx="357188" cy="357188"/>
          </a:xfrm>
          <a:prstGeom prst="ellipse">
            <a:avLst/>
          </a:prstGeom>
          <a:solidFill>
            <a:srgbClr val="DC8060"/>
          </a:solidFill>
          <a:ln/>
        </p:spPr>
        <p:txBody>
          <a:bodyPr/>
          <a:lstStyle/>
          <a:p>
            <a:endParaRPr lang="es-ES"/>
          </a:p>
        </p:txBody>
      </p:sp>
      <p:pic>
        <p:nvPicPr>
          <p:cNvPr id="43" name="Image 9" descr="preencoded.png"/>
          <p:cNvPicPr>
            <a:picLocks noChangeAspect="1"/>
          </p:cNvPicPr>
          <p:nvPr/>
        </p:nvPicPr>
        <p:blipFill>
          <a:blip r:embed="rId11"/>
          <a:stretch>
            <a:fillRect/>
          </a:stretch>
        </p:blipFill>
        <p:spPr>
          <a:xfrm>
            <a:off x="5067598" y="3367553"/>
            <a:ext cx="137517" cy="137154"/>
          </a:xfrm>
          <a:prstGeom prst="rect">
            <a:avLst/>
          </a:prstGeom>
        </p:spPr>
      </p:pic>
      <p:sp>
        <p:nvSpPr>
          <p:cNvPr id="44" name="Text 32"/>
          <p:cNvSpPr/>
          <p:nvPr/>
        </p:nvSpPr>
        <p:spPr>
          <a:xfrm>
            <a:off x="5422106" y="3278981"/>
            <a:ext cx="1306776" cy="171450"/>
          </a:xfrm>
          <a:prstGeom prst="rect">
            <a:avLst/>
          </a:prstGeom>
          <a:noFill/>
          <a:ln/>
        </p:spPr>
        <p:txBody>
          <a:bodyPr wrap="none" lIns="0" tIns="0" rIns="0" bIns="0" rtlCol="0" anchor="t">
            <a:spAutoFit/>
          </a:bodyPr>
          <a:lstStyle/>
          <a:p>
            <a:pPr marL="0" indent="0" algn="l">
              <a:lnSpc>
                <a:spcPts val="1400"/>
              </a:lnSpc>
              <a:buNone/>
            </a:pPr>
            <a:r>
              <a:rPr lang="en-US" sz="800" b="1" dirty="0">
                <a:solidFill>
                  <a:srgbClr val="1F3A3D"/>
                </a:solidFill>
              </a:rPr>
              <a:t>Nuevo Estresor</a:t>
            </a:r>
            <a:endParaRPr lang="en-US" sz="800" dirty="0"/>
          </a:p>
        </p:txBody>
      </p:sp>
      <p:sp>
        <p:nvSpPr>
          <p:cNvPr id="45" name="Text 33"/>
          <p:cNvSpPr/>
          <p:nvPr/>
        </p:nvSpPr>
        <p:spPr>
          <a:xfrm>
            <a:off x="5422106" y="3450431"/>
            <a:ext cx="1306776"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6B7280"/>
                </a:solidFill>
              </a:rPr>
              <a:t>Sin haber bajado el anterior</a:t>
            </a:r>
            <a:endParaRPr lang="en-US" sz="800" dirty="0"/>
          </a:p>
        </p:txBody>
      </p:sp>
      <p:sp>
        <p:nvSpPr>
          <p:cNvPr id="46" name="Shape 34"/>
          <p:cNvSpPr/>
          <p:nvPr/>
        </p:nvSpPr>
        <p:spPr>
          <a:xfrm>
            <a:off x="4957763" y="4114800"/>
            <a:ext cx="3400425" cy="385763"/>
          </a:xfrm>
          <a:prstGeom prst="rect">
            <a:avLst/>
          </a:prstGeom>
          <a:solidFill>
            <a:srgbClr val="FFF5F2"/>
          </a:solidFill>
          <a:ln/>
        </p:spPr>
        <p:txBody>
          <a:bodyPr/>
          <a:lstStyle/>
          <a:p>
            <a:endParaRPr lang="es-ES"/>
          </a:p>
        </p:txBody>
      </p:sp>
      <p:pic>
        <p:nvPicPr>
          <p:cNvPr id="47" name="Image 10" descr="preencoded.png"/>
          <p:cNvPicPr>
            <a:picLocks noChangeAspect="1"/>
          </p:cNvPicPr>
          <p:nvPr/>
        </p:nvPicPr>
        <p:blipFill>
          <a:blip r:embed="rId12"/>
          <a:stretch>
            <a:fillRect/>
          </a:stretch>
        </p:blipFill>
        <p:spPr>
          <a:xfrm>
            <a:off x="6011940" y="4250531"/>
            <a:ext cx="114300" cy="114300"/>
          </a:xfrm>
          <a:prstGeom prst="rect">
            <a:avLst/>
          </a:prstGeom>
        </p:spPr>
      </p:pic>
      <p:sp>
        <p:nvSpPr>
          <p:cNvPr id="48" name="Text 35"/>
          <p:cNvSpPr/>
          <p:nvPr/>
        </p:nvSpPr>
        <p:spPr>
          <a:xfrm>
            <a:off x="6183390" y="4229100"/>
            <a:ext cx="1120620" cy="155377"/>
          </a:xfrm>
          <a:prstGeom prst="rect">
            <a:avLst/>
          </a:prstGeom>
          <a:noFill/>
          <a:ln/>
        </p:spPr>
        <p:txBody>
          <a:bodyPr wrap="none" lIns="0" tIns="0" rIns="0" bIns="0" rtlCol="0" anchor="t">
            <a:spAutoFit/>
          </a:bodyPr>
          <a:lstStyle/>
          <a:p>
            <a:pPr marL="0" indent="0" algn="ctr">
              <a:lnSpc>
                <a:spcPts val="1400"/>
              </a:lnSpc>
              <a:buNone/>
            </a:pPr>
            <a:r>
              <a:rPr lang="en-US" sz="800" b="1" dirty="0">
                <a:solidFill>
                  <a:srgbClr val="DC8060"/>
                </a:solidFill>
              </a:rPr>
              <a:t>El ciclo NO se cierra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CONSECUENCIAS</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La niebla mental: cuando pensar cuesta el doble</a:t>
            </a:r>
            <a:endParaRPr lang="en-US" sz="2200" dirty="0"/>
          </a:p>
        </p:txBody>
      </p:sp>
      <p:pic>
        <p:nvPicPr>
          <p:cNvPr id="5" name="Image 1" descr="preencoded.png"/>
          <p:cNvPicPr>
            <a:picLocks noChangeAspect="1"/>
          </p:cNvPicPr>
          <p:nvPr/>
        </p:nvPicPr>
        <p:blipFill>
          <a:blip r:embed="rId3"/>
          <a:stretch>
            <a:fillRect/>
          </a:stretch>
        </p:blipFill>
        <p:spPr>
          <a:xfrm>
            <a:off x="571500" y="1200150"/>
            <a:ext cx="285750" cy="285750"/>
          </a:xfrm>
          <a:prstGeom prst="rect">
            <a:avLst/>
          </a:prstGeom>
        </p:spPr>
      </p:pic>
      <p:sp>
        <p:nvSpPr>
          <p:cNvPr id="6" name="Text 2"/>
          <p:cNvSpPr/>
          <p:nvPr/>
        </p:nvSpPr>
        <p:spPr>
          <a:xfrm>
            <a:off x="1000125" y="1228725"/>
            <a:ext cx="1305269" cy="228600"/>
          </a:xfrm>
          <a:prstGeom prst="rect">
            <a:avLst/>
          </a:prstGeom>
          <a:noFill/>
          <a:ln/>
        </p:spPr>
        <p:txBody>
          <a:bodyPr wrap="none" lIns="0" tIns="0" rIns="0" bIns="0" rtlCol="0" anchor="t">
            <a:spAutoFit/>
          </a:bodyPr>
          <a:lstStyle/>
          <a:p>
            <a:pPr marL="0" indent="0" algn="l">
              <a:lnSpc>
                <a:spcPts val="1800"/>
              </a:lnSpc>
              <a:buNone/>
            </a:pPr>
            <a:r>
              <a:rPr lang="en-US" sz="1200" b="1" dirty="0">
                <a:solidFill>
                  <a:srgbClr val="1F3A3D"/>
                </a:solidFill>
              </a:rPr>
              <a:t>Psicológicas</a:t>
            </a:r>
            <a:endParaRPr lang="en-US" sz="1200" dirty="0"/>
          </a:p>
        </p:txBody>
      </p:sp>
      <p:pic>
        <p:nvPicPr>
          <p:cNvPr id="7" name="Image 2" descr="preencoded.png"/>
          <p:cNvPicPr>
            <a:picLocks noChangeAspect="1"/>
          </p:cNvPicPr>
          <p:nvPr/>
        </p:nvPicPr>
        <p:blipFill>
          <a:blip r:embed="rId4"/>
          <a:stretch>
            <a:fillRect/>
          </a:stretch>
        </p:blipFill>
        <p:spPr>
          <a:xfrm>
            <a:off x="571500" y="1857375"/>
            <a:ext cx="125016" cy="125741"/>
          </a:xfrm>
          <a:prstGeom prst="rect">
            <a:avLst/>
          </a:prstGeom>
        </p:spPr>
      </p:pic>
      <p:sp>
        <p:nvSpPr>
          <p:cNvPr id="8" name="Text 3"/>
          <p:cNvSpPr/>
          <p:nvPr/>
        </p:nvSpPr>
        <p:spPr>
          <a:xfrm>
            <a:off x="803672" y="1821656"/>
            <a:ext cx="2743088"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Deterioro cognitivo</a:t>
            </a:r>
            <a:endParaRPr lang="en-US" sz="900" dirty="0"/>
          </a:p>
        </p:txBody>
      </p:sp>
      <p:sp>
        <p:nvSpPr>
          <p:cNvPr id="9" name="Text 4"/>
          <p:cNvSpPr/>
          <p:nvPr/>
        </p:nvSpPr>
        <p:spPr>
          <a:xfrm>
            <a:off x="803672" y="2028825"/>
            <a:ext cx="2743088" cy="171450"/>
          </a:xfrm>
          <a:prstGeom prst="rect">
            <a:avLst/>
          </a:prstGeom>
          <a:noFill/>
          <a:ln/>
        </p:spPr>
        <p:txBody>
          <a:bodyPr wrap="none" lIns="0" tIns="0" rIns="0" bIns="0" rtlCol="0" anchor="t">
            <a:spAutoFit/>
          </a:bodyPr>
          <a:lstStyle/>
          <a:p>
            <a:pPr marL="0" indent="0" algn="l">
              <a:lnSpc>
                <a:spcPts val="1500"/>
              </a:lnSpc>
              <a:buNone/>
            </a:pPr>
            <a:r>
              <a:rPr lang="en-US" sz="900" dirty="0">
                <a:solidFill>
                  <a:srgbClr val="1F3A3D"/>
                </a:solidFill>
              </a:rPr>
              <a:t>Fallos de memoria y dificultad de concentración.</a:t>
            </a:r>
            <a:endParaRPr lang="en-US" sz="900" dirty="0"/>
          </a:p>
        </p:txBody>
      </p:sp>
      <p:pic>
        <p:nvPicPr>
          <p:cNvPr id="10" name="Image 3" descr="preencoded.png"/>
          <p:cNvPicPr>
            <a:picLocks noChangeAspect="1"/>
          </p:cNvPicPr>
          <p:nvPr/>
        </p:nvPicPr>
        <p:blipFill>
          <a:blip r:embed="rId5"/>
          <a:stretch>
            <a:fillRect/>
          </a:stretch>
        </p:blipFill>
        <p:spPr>
          <a:xfrm>
            <a:off x="571500" y="2417462"/>
            <a:ext cx="157163" cy="125741"/>
          </a:xfrm>
          <a:prstGeom prst="rect">
            <a:avLst/>
          </a:prstGeom>
        </p:spPr>
      </p:pic>
      <p:sp>
        <p:nvSpPr>
          <p:cNvPr id="11" name="Text 5"/>
          <p:cNvSpPr/>
          <p:nvPr/>
        </p:nvSpPr>
        <p:spPr>
          <a:xfrm>
            <a:off x="835819" y="2381743"/>
            <a:ext cx="3293213"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"Niebla mental"</a:t>
            </a:r>
            <a:endParaRPr lang="en-US" sz="900" dirty="0"/>
          </a:p>
        </p:txBody>
      </p:sp>
      <p:sp>
        <p:nvSpPr>
          <p:cNvPr id="12" name="Text 6"/>
          <p:cNvSpPr/>
          <p:nvPr/>
        </p:nvSpPr>
        <p:spPr>
          <a:xfrm>
            <a:off x="835819" y="2588912"/>
            <a:ext cx="3293213" cy="171450"/>
          </a:xfrm>
          <a:prstGeom prst="rect">
            <a:avLst/>
          </a:prstGeom>
          <a:noFill/>
          <a:ln/>
        </p:spPr>
        <p:txBody>
          <a:bodyPr wrap="none" lIns="0" tIns="0" rIns="0" bIns="0" rtlCol="0" anchor="t">
            <a:spAutoFit/>
          </a:bodyPr>
          <a:lstStyle/>
          <a:p>
            <a:pPr marL="0" indent="0" algn="l">
              <a:lnSpc>
                <a:spcPts val="1500"/>
              </a:lnSpc>
              <a:buNone/>
            </a:pPr>
            <a:r>
              <a:rPr lang="en-US" sz="900" dirty="0">
                <a:solidFill>
                  <a:srgbClr val="1F3A3D"/>
                </a:solidFill>
              </a:rPr>
              <a:t>Reducción de la flexibilidad cognitiva. Pensamiento rígido.</a:t>
            </a:r>
            <a:endParaRPr lang="en-US" sz="900" dirty="0"/>
          </a:p>
        </p:txBody>
      </p:sp>
      <p:pic>
        <p:nvPicPr>
          <p:cNvPr id="13" name="Image 4" descr="preencoded.png"/>
          <p:cNvPicPr>
            <a:picLocks noChangeAspect="1"/>
          </p:cNvPicPr>
          <p:nvPr/>
        </p:nvPicPr>
        <p:blipFill>
          <a:blip r:embed="rId6"/>
          <a:stretch>
            <a:fillRect/>
          </a:stretch>
        </p:blipFill>
        <p:spPr>
          <a:xfrm>
            <a:off x="571500" y="2977548"/>
            <a:ext cx="125016" cy="125741"/>
          </a:xfrm>
          <a:prstGeom prst="rect">
            <a:avLst/>
          </a:prstGeom>
        </p:spPr>
      </p:pic>
      <p:sp>
        <p:nvSpPr>
          <p:cNvPr id="14" name="Text 7"/>
          <p:cNvSpPr/>
          <p:nvPr/>
        </p:nvSpPr>
        <p:spPr>
          <a:xfrm>
            <a:off x="803672" y="2941830"/>
            <a:ext cx="2613859"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Estado de ánimo</a:t>
            </a:r>
            <a:endParaRPr lang="en-US" sz="900" dirty="0"/>
          </a:p>
        </p:txBody>
      </p:sp>
      <p:sp>
        <p:nvSpPr>
          <p:cNvPr id="15" name="Text 8"/>
          <p:cNvSpPr/>
          <p:nvPr/>
        </p:nvSpPr>
        <p:spPr>
          <a:xfrm>
            <a:off x="803672" y="3148998"/>
            <a:ext cx="2613859" cy="171450"/>
          </a:xfrm>
          <a:prstGeom prst="rect">
            <a:avLst/>
          </a:prstGeom>
          <a:noFill/>
          <a:ln/>
        </p:spPr>
        <p:txBody>
          <a:bodyPr wrap="none" lIns="0" tIns="0" rIns="0" bIns="0" rtlCol="0" anchor="t">
            <a:spAutoFit/>
          </a:bodyPr>
          <a:lstStyle/>
          <a:p>
            <a:pPr marL="0" indent="0" algn="l">
              <a:lnSpc>
                <a:spcPts val="1500"/>
              </a:lnSpc>
              <a:buNone/>
            </a:pPr>
            <a:r>
              <a:rPr lang="en-US" sz="900" dirty="0">
                <a:solidFill>
                  <a:srgbClr val="1F3A3D"/>
                </a:solidFill>
              </a:rPr>
              <a:t>Síntomas depresivos y ansiedad generalizada.</a:t>
            </a:r>
            <a:endParaRPr lang="en-US" sz="900" dirty="0"/>
          </a:p>
        </p:txBody>
      </p:sp>
      <p:pic>
        <p:nvPicPr>
          <p:cNvPr id="16" name="Image 5" descr="preencoded.png"/>
          <p:cNvPicPr>
            <a:picLocks noChangeAspect="1"/>
          </p:cNvPicPr>
          <p:nvPr/>
        </p:nvPicPr>
        <p:blipFill>
          <a:blip r:embed="rId7"/>
          <a:stretch>
            <a:fillRect/>
          </a:stretch>
        </p:blipFill>
        <p:spPr>
          <a:xfrm>
            <a:off x="571500" y="3537635"/>
            <a:ext cx="94655" cy="125741"/>
          </a:xfrm>
          <a:prstGeom prst="rect">
            <a:avLst/>
          </a:prstGeom>
        </p:spPr>
      </p:pic>
      <p:sp>
        <p:nvSpPr>
          <p:cNvPr id="17" name="Text 9"/>
          <p:cNvSpPr/>
          <p:nvPr/>
        </p:nvSpPr>
        <p:spPr>
          <a:xfrm>
            <a:off x="773311" y="3501916"/>
            <a:ext cx="2972135"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Reactividad</a:t>
            </a:r>
            <a:endParaRPr lang="en-US" sz="900" dirty="0"/>
          </a:p>
        </p:txBody>
      </p:sp>
      <p:sp>
        <p:nvSpPr>
          <p:cNvPr id="18" name="Text 10"/>
          <p:cNvSpPr/>
          <p:nvPr/>
        </p:nvSpPr>
        <p:spPr>
          <a:xfrm>
            <a:off x="773311" y="3709085"/>
            <a:ext cx="2972135" cy="171450"/>
          </a:xfrm>
          <a:prstGeom prst="rect">
            <a:avLst/>
          </a:prstGeom>
          <a:noFill/>
          <a:ln/>
        </p:spPr>
        <p:txBody>
          <a:bodyPr wrap="none" lIns="0" tIns="0" rIns="0" bIns="0" rtlCol="0" anchor="t">
            <a:spAutoFit/>
          </a:bodyPr>
          <a:lstStyle/>
          <a:p>
            <a:pPr marL="0" indent="0" algn="l">
              <a:lnSpc>
                <a:spcPts val="1500"/>
              </a:lnSpc>
              <a:buNone/>
            </a:pPr>
            <a:r>
              <a:rPr lang="en-US" sz="900" dirty="0">
                <a:solidFill>
                  <a:srgbClr val="1F3A3D"/>
                </a:solidFill>
              </a:rPr>
              <a:t>Irritabilidad crónica y baja tolerancia a la frustración.</a:t>
            </a:r>
            <a:endParaRPr lang="en-US" sz="900" dirty="0"/>
          </a:p>
        </p:txBody>
      </p:sp>
      <p:pic>
        <p:nvPicPr>
          <p:cNvPr id="19" name="Image 6" descr="preencoded.png"/>
          <p:cNvPicPr>
            <a:picLocks noChangeAspect="1"/>
          </p:cNvPicPr>
          <p:nvPr/>
        </p:nvPicPr>
        <p:blipFill>
          <a:blip r:embed="rId8"/>
          <a:stretch>
            <a:fillRect/>
          </a:stretch>
        </p:blipFill>
        <p:spPr>
          <a:xfrm>
            <a:off x="4857750" y="1200150"/>
            <a:ext cx="321469" cy="285750"/>
          </a:xfrm>
          <a:prstGeom prst="rect">
            <a:avLst/>
          </a:prstGeom>
        </p:spPr>
      </p:pic>
      <p:sp>
        <p:nvSpPr>
          <p:cNvPr id="20" name="Text 11"/>
          <p:cNvSpPr/>
          <p:nvPr/>
        </p:nvSpPr>
        <p:spPr>
          <a:xfrm>
            <a:off x="5322094" y="1228725"/>
            <a:ext cx="673996" cy="228600"/>
          </a:xfrm>
          <a:prstGeom prst="rect">
            <a:avLst/>
          </a:prstGeom>
          <a:noFill/>
          <a:ln/>
        </p:spPr>
        <p:txBody>
          <a:bodyPr wrap="none" lIns="0" tIns="0" rIns="0" bIns="0" rtlCol="0" anchor="t">
            <a:spAutoFit/>
          </a:bodyPr>
          <a:lstStyle/>
          <a:p>
            <a:pPr marL="0" indent="0" algn="l">
              <a:lnSpc>
                <a:spcPts val="1800"/>
              </a:lnSpc>
              <a:buNone/>
            </a:pPr>
            <a:r>
              <a:rPr lang="en-US" sz="1200" b="1" dirty="0">
                <a:solidFill>
                  <a:srgbClr val="1F3A3D"/>
                </a:solidFill>
              </a:rPr>
              <a:t>Físicas</a:t>
            </a:r>
            <a:endParaRPr lang="en-US" sz="1200" dirty="0"/>
          </a:p>
        </p:txBody>
      </p:sp>
      <p:pic>
        <p:nvPicPr>
          <p:cNvPr id="21" name="Image 7" descr="preencoded.png"/>
          <p:cNvPicPr>
            <a:picLocks noChangeAspect="1"/>
          </p:cNvPicPr>
          <p:nvPr/>
        </p:nvPicPr>
        <p:blipFill>
          <a:blip r:embed="rId9"/>
          <a:stretch>
            <a:fillRect/>
          </a:stretch>
        </p:blipFill>
        <p:spPr>
          <a:xfrm>
            <a:off x="4857750" y="1857375"/>
            <a:ext cx="125016" cy="125741"/>
          </a:xfrm>
          <a:prstGeom prst="rect">
            <a:avLst/>
          </a:prstGeom>
        </p:spPr>
      </p:pic>
      <p:sp>
        <p:nvSpPr>
          <p:cNvPr id="22" name="Text 12"/>
          <p:cNvSpPr/>
          <p:nvPr/>
        </p:nvSpPr>
        <p:spPr>
          <a:xfrm>
            <a:off x="5089922" y="1821656"/>
            <a:ext cx="2518814"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Cardiovascular</a:t>
            </a:r>
            <a:endParaRPr lang="en-US" sz="900" dirty="0"/>
          </a:p>
        </p:txBody>
      </p:sp>
      <p:sp>
        <p:nvSpPr>
          <p:cNvPr id="23" name="Text 13"/>
          <p:cNvSpPr/>
          <p:nvPr/>
        </p:nvSpPr>
        <p:spPr>
          <a:xfrm>
            <a:off x="5089922" y="2028825"/>
            <a:ext cx="2518814" cy="171450"/>
          </a:xfrm>
          <a:prstGeom prst="rect">
            <a:avLst/>
          </a:prstGeom>
          <a:noFill/>
          <a:ln/>
        </p:spPr>
        <p:txBody>
          <a:bodyPr wrap="none" lIns="0" tIns="0" rIns="0" bIns="0" rtlCol="0" anchor="t">
            <a:spAutoFit/>
          </a:bodyPr>
          <a:lstStyle/>
          <a:p>
            <a:pPr marL="0" indent="0" algn="l">
              <a:lnSpc>
                <a:spcPts val="1500"/>
              </a:lnSpc>
              <a:buNone/>
            </a:pPr>
            <a:r>
              <a:rPr lang="en-US" sz="900" dirty="0">
                <a:solidFill>
                  <a:srgbClr val="1F3A3D"/>
                </a:solidFill>
              </a:rPr>
              <a:t>Hipertensión y aumento del riesgo cardíaco.</a:t>
            </a:r>
            <a:endParaRPr lang="en-US" sz="900" dirty="0"/>
          </a:p>
        </p:txBody>
      </p:sp>
      <p:pic>
        <p:nvPicPr>
          <p:cNvPr id="24" name="Image 8" descr="preencoded.png"/>
          <p:cNvPicPr>
            <a:picLocks noChangeAspect="1"/>
          </p:cNvPicPr>
          <p:nvPr/>
        </p:nvPicPr>
        <p:blipFill>
          <a:blip r:embed="rId10"/>
          <a:stretch>
            <a:fillRect/>
          </a:stretch>
        </p:blipFill>
        <p:spPr>
          <a:xfrm>
            <a:off x="4857750" y="2417462"/>
            <a:ext cx="125016" cy="125741"/>
          </a:xfrm>
          <a:prstGeom prst="rect">
            <a:avLst/>
          </a:prstGeom>
        </p:spPr>
      </p:pic>
      <p:sp>
        <p:nvSpPr>
          <p:cNvPr id="25" name="Text 14"/>
          <p:cNvSpPr/>
          <p:nvPr/>
        </p:nvSpPr>
        <p:spPr>
          <a:xfrm>
            <a:off x="5089922" y="2381743"/>
            <a:ext cx="2506731"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Sistema Inmune</a:t>
            </a:r>
            <a:endParaRPr lang="en-US" sz="900" dirty="0"/>
          </a:p>
        </p:txBody>
      </p:sp>
      <p:sp>
        <p:nvSpPr>
          <p:cNvPr id="26" name="Text 15"/>
          <p:cNvSpPr/>
          <p:nvPr/>
        </p:nvSpPr>
        <p:spPr>
          <a:xfrm>
            <a:off x="5089922" y="2588912"/>
            <a:ext cx="2506731" cy="171450"/>
          </a:xfrm>
          <a:prstGeom prst="rect">
            <a:avLst/>
          </a:prstGeom>
          <a:noFill/>
          <a:ln/>
        </p:spPr>
        <p:txBody>
          <a:bodyPr wrap="none" lIns="0" tIns="0" rIns="0" bIns="0" rtlCol="0" anchor="t">
            <a:spAutoFit/>
          </a:bodyPr>
          <a:lstStyle/>
          <a:p>
            <a:pPr marL="0" indent="0" algn="l">
              <a:lnSpc>
                <a:spcPts val="1500"/>
              </a:lnSpc>
              <a:buNone/>
            </a:pPr>
            <a:r>
              <a:rPr lang="en-US" sz="900" dirty="0">
                <a:solidFill>
                  <a:srgbClr val="1F3A3D"/>
                </a:solidFill>
              </a:rPr>
              <a:t>Infecciones frecuentes y recuperación lenta.</a:t>
            </a:r>
            <a:endParaRPr lang="en-US" sz="900" dirty="0"/>
          </a:p>
        </p:txBody>
      </p:sp>
      <p:pic>
        <p:nvPicPr>
          <p:cNvPr id="27" name="Image 9" descr="preencoded.png"/>
          <p:cNvPicPr>
            <a:picLocks noChangeAspect="1"/>
          </p:cNvPicPr>
          <p:nvPr/>
        </p:nvPicPr>
        <p:blipFill>
          <a:blip r:embed="rId11"/>
          <a:stretch>
            <a:fillRect/>
          </a:stretch>
        </p:blipFill>
        <p:spPr>
          <a:xfrm>
            <a:off x="4857750" y="2977548"/>
            <a:ext cx="157163" cy="125741"/>
          </a:xfrm>
          <a:prstGeom prst="rect">
            <a:avLst/>
          </a:prstGeom>
        </p:spPr>
      </p:pic>
      <p:sp>
        <p:nvSpPr>
          <p:cNvPr id="28" name="Text 16"/>
          <p:cNvSpPr/>
          <p:nvPr/>
        </p:nvSpPr>
        <p:spPr>
          <a:xfrm>
            <a:off x="5122069" y="2941830"/>
            <a:ext cx="2640509"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Descanso</a:t>
            </a:r>
            <a:endParaRPr lang="en-US" sz="900" dirty="0"/>
          </a:p>
        </p:txBody>
      </p:sp>
      <p:sp>
        <p:nvSpPr>
          <p:cNvPr id="29" name="Text 17"/>
          <p:cNvSpPr/>
          <p:nvPr/>
        </p:nvSpPr>
        <p:spPr>
          <a:xfrm>
            <a:off x="5122069" y="3148998"/>
            <a:ext cx="2640509" cy="171450"/>
          </a:xfrm>
          <a:prstGeom prst="rect">
            <a:avLst/>
          </a:prstGeom>
          <a:noFill/>
          <a:ln/>
        </p:spPr>
        <p:txBody>
          <a:bodyPr wrap="none" lIns="0" tIns="0" rIns="0" bIns="0" rtlCol="0" anchor="t">
            <a:spAutoFit/>
          </a:bodyPr>
          <a:lstStyle/>
          <a:p>
            <a:pPr marL="0" indent="0" algn="l">
              <a:lnSpc>
                <a:spcPts val="1500"/>
              </a:lnSpc>
              <a:buNone/>
            </a:pPr>
            <a:r>
              <a:rPr lang="en-US" sz="900" dirty="0">
                <a:solidFill>
                  <a:srgbClr val="1F3A3D"/>
                </a:solidFill>
              </a:rPr>
              <a:t>Sueño no reparador, insomnio y fatiga crónica.</a:t>
            </a:r>
            <a:endParaRPr lang="en-US" sz="900" dirty="0"/>
          </a:p>
        </p:txBody>
      </p:sp>
      <p:pic>
        <p:nvPicPr>
          <p:cNvPr id="30" name="Image 10" descr="preencoded.png"/>
          <p:cNvPicPr>
            <a:picLocks noChangeAspect="1"/>
          </p:cNvPicPr>
          <p:nvPr/>
        </p:nvPicPr>
        <p:blipFill>
          <a:blip r:embed="rId12"/>
          <a:stretch>
            <a:fillRect/>
          </a:stretch>
        </p:blipFill>
        <p:spPr>
          <a:xfrm>
            <a:off x="4857750" y="3537635"/>
            <a:ext cx="157163" cy="125741"/>
          </a:xfrm>
          <a:prstGeom prst="rect">
            <a:avLst/>
          </a:prstGeom>
        </p:spPr>
      </p:pic>
      <p:sp>
        <p:nvSpPr>
          <p:cNvPr id="31" name="Text 18"/>
          <p:cNvSpPr/>
          <p:nvPr/>
        </p:nvSpPr>
        <p:spPr>
          <a:xfrm>
            <a:off x="5122069" y="3501916"/>
            <a:ext cx="3450431"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Dolor somático</a:t>
            </a:r>
            <a:endParaRPr lang="en-US" sz="900" dirty="0"/>
          </a:p>
        </p:txBody>
      </p:sp>
      <p:sp>
        <p:nvSpPr>
          <p:cNvPr id="32" name="Text 19"/>
          <p:cNvSpPr/>
          <p:nvPr/>
        </p:nvSpPr>
        <p:spPr>
          <a:xfrm>
            <a:off x="5122069" y="3709085"/>
            <a:ext cx="3293073" cy="171450"/>
          </a:xfrm>
          <a:prstGeom prst="rect">
            <a:avLst/>
          </a:prstGeom>
          <a:noFill/>
          <a:ln/>
        </p:spPr>
        <p:txBody>
          <a:bodyPr wrap="none" lIns="0" tIns="0" rIns="0" bIns="0" rtlCol="0" anchor="t">
            <a:spAutoFit/>
          </a:bodyPr>
          <a:lstStyle/>
          <a:p>
            <a:pPr marL="0" indent="0" algn="l">
              <a:lnSpc>
                <a:spcPts val="1500"/>
              </a:lnSpc>
              <a:buNone/>
            </a:pPr>
            <a:r>
              <a:rPr lang="en-US" sz="900" dirty="0">
                <a:solidFill>
                  <a:srgbClr val="1F3A3D"/>
                </a:solidFill>
              </a:rPr>
              <a:t>Tensión muscular (espalda, cuello), bruxismo, alteraciones</a:t>
            </a:r>
            <a:endParaRPr lang="en-US" sz="900" dirty="0"/>
          </a:p>
        </p:txBody>
      </p:sp>
      <p:sp>
        <p:nvSpPr>
          <p:cNvPr id="33" name="Text 20"/>
          <p:cNvSpPr/>
          <p:nvPr/>
        </p:nvSpPr>
        <p:spPr>
          <a:xfrm>
            <a:off x="5122069" y="3897697"/>
            <a:ext cx="596280" cy="171450"/>
          </a:xfrm>
          <a:prstGeom prst="rect">
            <a:avLst/>
          </a:prstGeom>
          <a:noFill/>
          <a:ln/>
        </p:spPr>
        <p:txBody>
          <a:bodyPr wrap="none" lIns="0" tIns="0" rIns="0" bIns="0" rtlCol="0" anchor="t">
            <a:spAutoFit/>
          </a:bodyPr>
          <a:lstStyle/>
          <a:p>
            <a:pPr marL="0" indent="0" algn="l">
              <a:lnSpc>
                <a:spcPts val="1500"/>
              </a:lnSpc>
              <a:buNone/>
            </a:pPr>
            <a:r>
              <a:rPr lang="en-US" sz="900" dirty="0">
                <a:solidFill>
                  <a:srgbClr val="1F3A3D"/>
                </a:solidFill>
              </a:rPr>
              <a:t>digestivas.</a:t>
            </a:r>
            <a:endParaRPr lang="en-US" sz="900" dirty="0"/>
          </a:p>
        </p:txBody>
      </p:sp>
      <p:cxnSp>
        <p:nvCxnSpPr>
          <p:cNvPr id="37" name="Conector recto 36">
            <a:extLst>
              <a:ext uri="{FF2B5EF4-FFF2-40B4-BE49-F238E27FC236}">
                <a16:creationId xmlns:a16="http://schemas.microsoft.com/office/drawing/2014/main" id="{16F41D32-ECA4-2A5A-2F61-4A77F5156D36}"/>
              </a:ext>
            </a:extLst>
          </p:cNvPr>
          <p:cNvCxnSpPr>
            <a:cxnSpLocks/>
          </p:cNvCxnSpPr>
          <p:nvPr/>
        </p:nvCxnSpPr>
        <p:spPr>
          <a:xfrm>
            <a:off x="571500" y="1617784"/>
            <a:ext cx="2975260" cy="0"/>
          </a:xfrm>
          <a:prstGeom prst="line">
            <a:avLst/>
          </a:prstGeom>
          <a:ln w="28575">
            <a:solidFill>
              <a:srgbClr val="E3987F"/>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2AF17A94-D8C2-DB8D-8788-A2C00151E4A4}"/>
              </a:ext>
            </a:extLst>
          </p:cNvPr>
          <p:cNvCxnSpPr>
            <a:cxnSpLocks/>
          </p:cNvCxnSpPr>
          <p:nvPr/>
        </p:nvCxnSpPr>
        <p:spPr>
          <a:xfrm>
            <a:off x="4857750" y="1617784"/>
            <a:ext cx="2975260" cy="0"/>
          </a:xfrm>
          <a:prstGeom prst="line">
            <a:avLst/>
          </a:prstGeom>
          <a:ln w="28575">
            <a:solidFill>
              <a:srgbClr val="E3987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hape 20">
            <a:extLst>
              <a:ext uri="{FF2B5EF4-FFF2-40B4-BE49-F238E27FC236}">
                <a16:creationId xmlns:a16="http://schemas.microsoft.com/office/drawing/2014/main" id="{CE9DE8C7-4B1F-4576-34A5-92CA49445536}"/>
              </a:ext>
            </a:extLst>
          </p:cNvPr>
          <p:cNvSpPr/>
          <p:nvPr/>
        </p:nvSpPr>
        <p:spPr>
          <a:xfrm>
            <a:off x="571500" y="4599256"/>
            <a:ext cx="8001000" cy="380404"/>
          </a:xfrm>
          <a:prstGeom prst="rect">
            <a:avLst/>
          </a:prstGeom>
          <a:solidFill>
            <a:srgbClr val="E8F4F4"/>
          </a:solidFill>
          <a:ln/>
        </p:spPr>
        <p:txBody>
          <a:bodyPr/>
          <a:lstStyle/>
          <a:p>
            <a:endParaRPr lang="es-ES"/>
          </a:p>
        </p:txBody>
      </p:sp>
      <p:sp>
        <p:nvSpPr>
          <p:cNvPr id="36" name="Shape 21">
            <a:extLst>
              <a:ext uri="{FF2B5EF4-FFF2-40B4-BE49-F238E27FC236}">
                <a16:creationId xmlns:a16="http://schemas.microsoft.com/office/drawing/2014/main" id="{AD13B659-D54C-88CD-09A9-841BAB4BD2D6}"/>
              </a:ext>
            </a:extLst>
          </p:cNvPr>
          <p:cNvSpPr/>
          <p:nvPr/>
        </p:nvSpPr>
        <p:spPr>
          <a:xfrm>
            <a:off x="571500" y="4608407"/>
            <a:ext cx="28575" cy="380404"/>
          </a:xfrm>
          <a:prstGeom prst="rect">
            <a:avLst/>
          </a:prstGeom>
          <a:solidFill>
            <a:srgbClr val="DC8060"/>
          </a:solidFill>
          <a:ln/>
        </p:spPr>
        <p:txBody>
          <a:bodyPr/>
          <a:lstStyle/>
          <a:p>
            <a:endParaRPr lang="es-ES"/>
          </a:p>
        </p:txBody>
      </p:sp>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POR QUÉ FUNCIONA</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Las emociones tienen un ciclo natural</a:t>
            </a:r>
            <a:endParaRPr lang="en-US" sz="2200" dirty="0"/>
          </a:p>
        </p:txBody>
      </p:sp>
      <p:pic>
        <p:nvPicPr>
          <p:cNvPr id="5" name="Image 1" descr="preencoded.png"/>
          <p:cNvPicPr>
            <a:picLocks noChangeAspect="1"/>
          </p:cNvPicPr>
          <p:nvPr/>
        </p:nvPicPr>
        <p:blipFill>
          <a:blip r:embed="rId3"/>
          <a:stretch>
            <a:fillRect/>
          </a:stretch>
        </p:blipFill>
        <p:spPr>
          <a:xfrm>
            <a:off x="571500" y="1085850"/>
            <a:ext cx="8001000" cy="1843088"/>
          </a:xfrm>
          <a:prstGeom prst="rect">
            <a:avLst/>
          </a:prstGeom>
        </p:spPr>
      </p:pic>
      <p:sp>
        <p:nvSpPr>
          <p:cNvPr id="6" name="Shape 2"/>
          <p:cNvSpPr/>
          <p:nvPr/>
        </p:nvSpPr>
        <p:spPr>
          <a:xfrm>
            <a:off x="6272994" y="1514475"/>
            <a:ext cx="1227944" cy="268588"/>
          </a:xfrm>
          <a:prstGeom prst="rect">
            <a:avLst/>
          </a:prstGeom>
          <a:solidFill>
            <a:srgbClr val="FFFFFF"/>
          </a:solidFill>
          <a:ln/>
        </p:spPr>
        <p:txBody>
          <a:bodyPr/>
          <a:lstStyle/>
          <a:p>
            <a:endParaRPr lang="es-ES"/>
          </a:p>
        </p:txBody>
      </p:sp>
      <p:sp>
        <p:nvSpPr>
          <p:cNvPr id="7" name="Shape 3"/>
          <p:cNvSpPr/>
          <p:nvPr/>
        </p:nvSpPr>
        <p:spPr>
          <a:xfrm>
            <a:off x="6272994" y="1514475"/>
            <a:ext cx="28575" cy="268588"/>
          </a:xfrm>
          <a:prstGeom prst="rect">
            <a:avLst/>
          </a:prstGeom>
          <a:solidFill>
            <a:srgbClr val="DC8060"/>
          </a:solidFill>
          <a:ln/>
        </p:spPr>
        <p:txBody>
          <a:bodyPr/>
          <a:lstStyle/>
          <a:p>
            <a:endParaRPr lang="es-ES"/>
          </a:p>
        </p:txBody>
      </p:sp>
      <p:pic>
        <p:nvPicPr>
          <p:cNvPr id="8" name="Image 2" descr="preencoded.png"/>
          <p:cNvPicPr>
            <a:picLocks noChangeAspect="1"/>
          </p:cNvPicPr>
          <p:nvPr/>
        </p:nvPicPr>
        <p:blipFill>
          <a:blip r:embed="rId4"/>
          <a:stretch>
            <a:fillRect/>
          </a:stretch>
        </p:blipFill>
        <p:spPr>
          <a:xfrm>
            <a:off x="6387294" y="1597326"/>
            <a:ext cx="76795" cy="102859"/>
          </a:xfrm>
          <a:prstGeom prst="rect">
            <a:avLst/>
          </a:prstGeom>
        </p:spPr>
      </p:pic>
      <p:sp>
        <p:nvSpPr>
          <p:cNvPr id="9" name="Text 4"/>
          <p:cNvSpPr/>
          <p:nvPr/>
        </p:nvSpPr>
        <p:spPr>
          <a:xfrm>
            <a:off x="6521239" y="1571625"/>
            <a:ext cx="893973" cy="154288"/>
          </a:xfrm>
          <a:prstGeom prst="rect">
            <a:avLst/>
          </a:prstGeom>
          <a:noFill/>
          <a:ln/>
        </p:spPr>
        <p:txBody>
          <a:bodyPr wrap="none" lIns="0" tIns="0" rIns="0" bIns="0" rtlCol="0" anchor="t">
            <a:spAutoFit/>
          </a:bodyPr>
          <a:lstStyle/>
          <a:p>
            <a:pPr marL="0" indent="0" algn="l">
              <a:lnSpc>
                <a:spcPts val="1200"/>
              </a:lnSpc>
              <a:buNone/>
            </a:pPr>
            <a:r>
              <a:rPr lang="en-US" sz="800" b="1" dirty="0">
                <a:solidFill>
                  <a:srgbClr val="DC8060"/>
                </a:solidFill>
              </a:rPr>
              <a:t>Amígdala (Lucha)</a:t>
            </a:r>
            <a:endParaRPr lang="en-US" sz="800" dirty="0"/>
          </a:p>
        </p:txBody>
      </p:sp>
      <p:sp>
        <p:nvSpPr>
          <p:cNvPr id="10" name="Shape 5"/>
          <p:cNvSpPr/>
          <p:nvPr/>
        </p:nvSpPr>
        <p:spPr>
          <a:xfrm>
            <a:off x="4456919" y="2088849"/>
            <a:ext cx="1972456" cy="268588"/>
          </a:xfrm>
          <a:prstGeom prst="rect">
            <a:avLst/>
          </a:prstGeom>
          <a:solidFill>
            <a:srgbClr val="FFFFFF"/>
          </a:solidFill>
          <a:ln/>
        </p:spPr>
        <p:txBody>
          <a:bodyPr/>
          <a:lstStyle/>
          <a:p>
            <a:endParaRPr lang="es-ES"/>
          </a:p>
        </p:txBody>
      </p:sp>
      <p:sp>
        <p:nvSpPr>
          <p:cNvPr id="11" name="Shape 6"/>
          <p:cNvSpPr/>
          <p:nvPr/>
        </p:nvSpPr>
        <p:spPr>
          <a:xfrm>
            <a:off x="4456919" y="2088849"/>
            <a:ext cx="28575" cy="268588"/>
          </a:xfrm>
          <a:prstGeom prst="rect">
            <a:avLst/>
          </a:prstGeom>
          <a:solidFill>
            <a:srgbClr val="1F3A3D"/>
          </a:solidFill>
          <a:ln/>
        </p:spPr>
        <p:txBody>
          <a:bodyPr/>
          <a:lstStyle/>
          <a:p>
            <a:endParaRPr lang="es-ES"/>
          </a:p>
        </p:txBody>
      </p:sp>
      <p:pic>
        <p:nvPicPr>
          <p:cNvPr id="12" name="Image 3" descr="preencoded.png"/>
          <p:cNvPicPr>
            <a:picLocks noChangeAspect="1"/>
          </p:cNvPicPr>
          <p:nvPr/>
        </p:nvPicPr>
        <p:blipFill>
          <a:blip r:embed="rId5"/>
          <a:stretch>
            <a:fillRect/>
          </a:stretch>
        </p:blipFill>
        <p:spPr>
          <a:xfrm>
            <a:off x="4571219" y="2171700"/>
            <a:ext cx="103584" cy="102859"/>
          </a:xfrm>
          <a:prstGeom prst="rect">
            <a:avLst/>
          </a:prstGeom>
        </p:spPr>
      </p:pic>
      <p:sp>
        <p:nvSpPr>
          <p:cNvPr id="13" name="Text 7"/>
          <p:cNvSpPr/>
          <p:nvPr/>
        </p:nvSpPr>
        <p:spPr>
          <a:xfrm>
            <a:off x="4731953" y="2145999"/>
            <a:ext cx="1611697" cy="154288"/>
          </a:xfrm>
          <a:prstGeom prst="rect">
            <a:avLst/>
          </a:prstGeom>
          <a:noFill/>
          <a:ln/>
        </p:spPr>
        <p:txBody>
          <a:bodyPr wrap="none" lIns="0" tIns="0" rIns="0" bIns="0" rtlCol="0" anchor="t">
            <a:spAutoFit/>
          </a:bodyPr>
          <a:lstStyle/>
          <a:p>
            <a:pPr marL="0" indent="0" algn="l">
              <a:lnSpc>
                <a:spcPts val="1200"/>
              </a:lnSpc>
              <a:buNone/>
            </a:pPr>
            <a:r>
              <a:rPr lang="en-US" sz="800" b="1" dirty="0">
                <a:solidFill>
                  <a:srgbClr val="1F3A3D"/>
                </a:solidFill>
              </a:rPr>
              <a:t>Corteza Prefrontal (Aceptación)</a:t>
            </a:r>
            <a:endParaRPr lang="en-US" sz="800" dirty="0"/>
          </a:p>
        </p:txBody>
      </p:sp>
      <p:pic>
        <p:nvPicPr>
          <p:cNvPr id="14" name="Image 4" descr="preencoded.png"/>
          <p:cNvPicPr>
            <a:picLocks noChangeAspect="1"/>
          </p:cNvPicPr>
          <p:nvPr/>
        </p:nvPicPr>
        <p:blipFill>
          <a:blip r:embed="rId6"/>
          <a:stretch>
            <a:fillRect/>
          </a:stretch>
        </p:blipFill>
        <p:spPr>
          <a:xfrm>
            <a:off x="571500" y="3171825"/>
            <a:ext cx="142875" cy="142875"/>
          </a:xfrm>
          <a:prstGeom prst="rect">
            <a:avLst/>
          </a:prstGeom>
        </p:spPr>
      </p:pic>
      <p:sp>
        <p:nvSpPr>
          <p:cNvPr id="15" name="Text 8"/>
          <p:cNvSpPr/>
          <p:nvPr/>
        </p:nvSpPr>
        <p:spPr>
          <a:xfrm>
            <a:off x="771525" y="3143250"/>
            <a:ext cx="738680"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DC8060"/>
                </a:solidFill>
              </a:rPr>
              <a:t>Con Lucha</a:t>
            </a:r>
            <a:endParaRPr lang="en-US" sz="1200" dirty="0"/>
          </a:p>
        </p:txBody>
      </p:sp>
      <p:sp>
        <p:nvSpPr>
          <p:cNvPr id="16" name="Shape 9"/>
          <p:cNvSpPr/>
          <p:nvPr/>
        </p:nvSpPr>
        <p:spPr>
          <a:xfrm>
            <a:off x="571500" y="3429000"/>
            <a:ext cx="3886200" cy="914400"/>
          </a:xfrm>
          <a:prstGeom prst="rect">
            <a:avLst/>
          </a:prstGeom>
          <a:solidFill>
            <a:srgbClr val="FFFFFF"/>
          </a:solidFill>
          <a:ln/>
        </p:spPr>
        <p:txBody>
          <a:bodyPr/>
          <a:lstStyle/>
          <a:p>
            <a:endParaRPr lang="es-ES"/>
          </a:p>
        </p:txBody>
      </p:sp>
      <p:sp>
        <p:nvSpPr>
          <p:cNvPr id="17" name="Shape 10"/>
          <p:cNvSpPr/>
          <p:nvPr/>
        </p:nvSpPr>
        <p:spPr>
          <a:xfrm>
            <a:off x="571500" y="3429000"/>
            <a:ext cx="28575" cy="914400"/>
          </a:xfrm>
          <a:prstGeom prst="rect">
            <a:avLst/>
          </a:prstGeom>
          <a:solidFill>
            <a:srgbClr val="DC8060"/>
          </a:solidFill>
          <a:ln/>
        </p:spPr>
        <p:txBody>
          <a:bodyPr/>
          <a:lstStyle/>
          <a:p>
            <a:endParaRPr lang="es-ES"/>
          </a:p>
        </p:txBody>
      </p:sp>
      <p:sp>
        <p:nvSpPr>
          <p:cNvPr id="18" name="Text 11"/>
          <p:cNvSpPr/>
          <p:nvPr/>
        </p:nvSpPr>
        <p:spPr>
          <a:xfrm>
            <a:off x="685800" y="3543300"/>
            <a:ext cx="43002"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DC8060"/>
                </a:solidFill>
              </a:rPr>
              <a:t>•</a:t>
            </a:r>
            <a:endParaRPr lang="en-US" sz="900" dirty="0"/>
          </a:p>
        </p:txBody>
      </p:sp>
      <p:sp>
        <p:nvSpPr>
          <p:cNvPr id="19" name="Text 12"/>
          <p:cNvSpPr/>
          <p:nvPr/>
        </p:nvSpPr>
        <p:spPr>
          <a:xfrm>
            <a:off x="785952" y="3543300"/>
            <a:ext cx="1428192"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1F3A3D"/>
                </a:solidFill>
              </a:rPr>
              <a:t>Energía gastada en resistir</a:t>
            </a:r>
            <a:endParaRPr lang="en-US" sz="900" dirty="0"/>
          </a:p>
        </p:txBody>
      </p:sp>
      <p:sp>
        <p:nvSpPr>
          <p:cNvPr id="20" name="Text 13"/>
          <p:cNvSpPr/>
          <p:nvPr/>
        </p:nvSpPr>
        <p:spPr>
          <a:xfrm>
            <a:off x="685800" y="3800475"/>
            <a:ext cx="43002"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DC8060"/>
                </a:solidFill>
              </a:rPr>
              <a:t>•</a:t>
            </a:r>
            <a:endParaRPr lang="en-US" sz="900" dirty="0"/>
          </a:p>
        </p:txBody>
      </p:sp>
      <p:sp>
        <p:nvSpPr>
          <p:cNvPr id="21" name="Text 14"/>
          <p:cNvSpPr/>
          <p:nvPr/>
        </p:nvSpPr>
        <p:spPr>
          <a:xfrm>
            <a:off x="785952" y="3800475"/>
            <a:ext cx="1777036"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1F3A3D"/>
                </a:solidFill>
              </a:rPr>
              <a:t>Atención atrapada en el malestar</a:t>
            </a:r>
            <a:endParaRPr lang="en-US" sz="900" dirty="0"/>
          </a:p>
        </p:txBody>
      </p:sp>
      <p:sp>
        <p:nvSpPr>
          <p:cNvPr id="22" name="Text 15"/>
          <p:cNvSpPr/>
          <p:nvPr/>
        </p:nvSpPr>
        <p:spPr>
          <a:xfrm>
            <a:off x="685800" y="4057650"/>
            <a:ext cx="43002"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DC8060"/>
                </a:solidFill>
              </a:rPr>
              <a:t>•</a:t>
            </a:r>
            <a:endParaRPr lang="en-US" sz="900" dirty="0"/>
          </a:p>
        </p:txBody>
      </p:sp>
      <p:sp>
        <p:nvSpPr>
          <p:cNvPr id="23" name="Text 16"/>
          <p:cNvSpPr/>
          <p:nvPr/>
        </p:nvSpPr>
        <p:spPr>
          <a:xfrm>
            <a:off x="785952" y="4057650"/>
            <a:ext cx="1021612"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1F3A3D"/>
                </a:solidFill>
              </a:rPr>
              <a:t>Reacción impulsiva</a:t>
            </a:r>
            <a:endParaRPr lang="en-US" sz="900" dirty="0"/>
          </a:p>
        </p:txBody>
      </p:sp>
      <p:pic>
        <p:nvPicPr>
          <p:cNvPr id="24" name="Image 5" descr="preencoded.png"/>
          <p:cNvPicPr>
            <a:picLocks noChangeAspect="1"/>
          </p:cNvPicPr>
          <p:nvPr/>
        </p:nvPicPr>
        <p:blipFill>
          <a:blip r:embed="rId7"/>
          <a:stretch>
            <a:fillRect/>
          </a:stretch>
        </p:blipFill>
        <p:spPr>
          <a:xfrm>
            <a:off x="4686300" y="3171825"/>
            <a:ext cx="142875" cy="142875"/>
          </a:xfrm>
          <a:prstGeom prst="rect">
            <a:avLst/>
          </a:prstGeom>
        </p:spPr>
      </p:pic>
      <p:sp>
        <p:nvSpPr>
          <p:cNvPr id="25" name="Text 17"/>
          <p:cNvSpPr/>
          <p:nvPr/>
        </p:nvSpPr>
        <p:spPr>
          <a:xfrm>
            <a:off x="4886325" y="3143250"/>
            <a:ext cx="1105021"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F3A3D"/>
                </a:solidFill>
              </a:rPr>
              <a:t>Con Aceptación</a:t>
            </a:r>
            <a:endParaRPr lang="en-US" sz="1200" dirty="0"/>
          </a:p>
        </p:txBody>
      </p:sp>
      <p:sp>
        <p:nvSpPr>
          <p:cNvPr id="26" name="Shape 18"/>
          <p:cNvSpPr/>
          <p:nvPr/>
        </p:nvSpPr>
        <p:spPr>
          <a:xfrm>
            <a:off x="4686300" y="3429000"/>
            <a:ext cx="3886200" cy="914400"/>
          </a:xfrm>
          <a:prstGeom prst="rect">
            <a:avLst/>
          </a:prstGeom>
          <a:solidFill>
            <a:srgbClr val="FFFFFF"/>
          </a:solidFill>
          <a:ln/>
        </p:spPr>
        <p:txBody>
          <a:bodyPr/>
          <a:lstStyle/>
          <a:p>
            <a:endParaRPr lang="es-ES"/>
          </a:p>
        </p:txBody>
      </p:sp>
      <p:sp>
        <p:nvSpPr>
          <p:cNvPr id="27" name="Shape 19"/>
          <p:cNvSpPr/>
          <p:nvPr/>
        </p:nvSpPr>
        <p:spPr>
          <a:xfrm>
            <a:off x="4686300" y="3429000"/>
            <a:ext cx="28575" cy="914400"/>
          </a:xfrm>
          <a:prstGeom prst="rect">
            <a:avLst/>
          </a:prstGeom>
          <a:solidFill>
            <a:srgbClr val="1F3A3D"/>
          </a:solidFill>
          <a:ln/>
        </p:spPr>
        <p:txBody>
          <a:bodyPr/>
          <a:lstStyle/>
          <a:p>
            <a:endParaRPr lang="es-ES"/>
          </a:p>
        </p:txBody>
      </p:sp>
      <p:sp>
        <p:nvSpPr>
          <p:cNvPr id="28" name="Text 20"/>
          <p:cNvSpPr/>
          <p:nvPr/>
        </p:nvSpPr>
        <p:spPr>
          <a:xfrm>
            <a:off x="4800600" y="3543300"/>
            <a:ext cx="43002"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1F3A3D"/>
                </a:solidFill>
              </a:rPr>
              <a:t>•</a:t>
            </a:r>
            <a:endParaRPr lang="en-US" sz="900" dirty="0"/>
          </a:p>
        </p:txBody>
      </p:sp>
      <p:sp>
        <p:nvSpPr>
          <p:cNvPr id="29" name="Text 21"/>
          <p:cNvSpPr/>
          <p:nvPr/>
        </p:nvSpPr>
        <p:spPr>
          <a:xfrm>
            <a:off x="4900752" y="3543300"/>
            <a:ext cx="1855784"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1F3A3D"/>
                </a:solidFill>
              </a:rPr>
              <a:t>Energía disponible para responder</a:t>
            </a:r>
            <a:endParaRPr lang="en-US" sz="900" dirty="0"/>
          </a:p>
        </p:txBody>
      </p:sp>
      <p:sp>
        <p:nvSpPr>
          <p:cNvPr id="30" name="Text 22"/>
          <p:cNvSpPr/>
          <p:nvPr/>
        </p:nvSpPr>
        <p:spPr>
          <a:xfrm>
            <a:off x="4800600" y="3800475"/>
            <a:ext cx="43002"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1F3A3D"/>
                </a:solidFill>
              </a:rPr>
              <a:t>•</a:t>
            </a:r>
            <a:endParaRPr lang="en-US" sz="900" dirty="0"/>
          </a:p>
        </p:txBody>
      </p:sp>
      <p:sp>
        <p:nvSpPr>
          <p:cNvPr id="31" name="Text 23"/>
          <p:cNvSpPr/>
          <p:nvPr/>
        </p:nvSpPr>
        <p:spPr>
          <a:xfrm>
            <a:off x="4900752" y="3800475"/>
            <a:ext cx="1440638"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1F3A3D"/>
                </a:solidFill>
              </a:rPr>
              <a:t>Atención libre para evaluar</a:t>
            </a:r>
            <a:endParaRPr lang="en-US" sz="900" dirty="0"/>
          </a:p>
        </p:txBody>
      </p:sp>
      <p:sp>
        <p:nvSpPr>
          <p:cNvPr id="32" name="Text 24"/>
          <p:cNvSpPr/>
          <p:nvPr/>
        </p:nvSpPr>
        <p:spPr>
          <a:xfrm>
            <a:off x="4800600" y="4057650"/>
            <a:ext cx="43002"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1F3A3D"/>
                </a:solidFill>
              </a:rPr>
              <a:t>•</a:t>
            </a:r>
            <a:endParaRPr lang="en-US" sz="900" dirty="0"/>
          </a:p>
        </p:txBody>
      </p:sp>
      <p:sp>
        <p:nvSpPr>
          <p:cNvPr id="33" name="Text 25"/>
          <p:cNvSpPr/>
          <p:nvPr/>
        </p:nvSpPr>
        <p:spPr>
          <a:xfrm>
            <a:off x="4900752" y="4057650"/>
            <a:ext cx="1242678" cy="171450"/>
          </a:xfrm>
          <a:prstGeom prst="rect">
            <a:avLst/>
          </a:prstGeom>
          <a:noFill/>
          <a:ln/>
        </p:spPr>
        <p:txBody>
          <a:bodyPr wrap="none" lIns="0" tIns="0" rIns="0" bIns="0" rtlCol="0" anchor="t">
            <a:spAutoFit/>
          </a:bodyPr>
          <a:lstStyle/>
          <a:p>
            <a:pPr marL="0" indent="0" algn="l">
              <a:lnSpc>
                <a:spcPts val="1400"/>
              </a:lnSpc>
              <a:buNone/>
            </a:pPr>
            <a:r>
              <a:rPr lang="en-US" sz="900" dirty="0">
                <a:solidFill>
                  <a:srgbClr val="1F3A3D"/>
                </a:solidFill>
              </a:rPr>
              <a:t>Respuesta considerada</a:t>
            </a:r>
            <a:endParaRPr lang="en-US" sz="900" dirty="0"/>
          </a:p>
        </p:txBody>
      </p:sp>
      <p:sp>
        <p:nvSpPr>
          <p:cNvPr id="34" name="Text 26"/>
          <p:cNvSpPr/>
          <p:nvPr/>
        </p:nvSpPr>
        <p:spPr>
          <a:xfrm>
            <a:off x="341728" y="4656625"/>
            <a:ext cx="8001000" cy="200025"/>
          </a:xfrm>
          <a:prstGeom prst="rect">
            <a:avLst/>
          </a:prstGeom>
          <a:noFill/>
          <a:ln/>
        </p:spPr>
        <p:txBody>
          <a:bodyPr wrap="none" lIns="0" tIns="0" rIns="0" bIns="0" rtlCol="0" anchor="t">
            <a:spAutoFit/>
          </a:bodyPr>
          <a:lstStyle/>
          <a:p>
            <a:pPr marL="0" indent="0" algn="ctr">
              <a:lnSpc>
                <a:spcPts val="1600"/>
              </a:lnSpc>
              <a:buNone/>
            </a:pPr>
            <a:r>
              <a:rPr lang="en-US" sz="1200" b="1" i="1" dirty="0">
                <a:solidFill>
                  <a:srgbClr val="1F3A3D"/>
                </a:solidFill>
              </a:rPr>
              <a:t>"Dejar de luchar no es rendirse. </a:t>
            </a:r>
            <a:r>
              <a:rPr lang="en-US" sz="1200" b="1" dirty="0">
                <a:solidFill>
                  <a:srgbClr val="1F3A3D"/>
                </a:solidFill>
              </a:rPr>
              <a:t>Es prepararse para actuar.</a:t>
            </a:r>
            <a:r>
              <a:rPr lang="en-US" sz="1200" b="1" i="1" dirty="0">
                <a:solidFill>
                  <a:srgbClr val="1F3A3D"/>
                </a:solidFill>
              </a:rPr>
              <a: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D10A4-6E97-8EC3-A82C-42E12510773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5FE28F5-B895-58DF-C7FC-37BAEDC151E0}"/>
              </a:ext>
            </a:extLst>
          </p:cNvPr>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NEUROPLASTICIDAD</a:t>
            </a:r>
            <a:endParaRPr lang="en-US" sz="1000" dirty="0"/>
          </a:p>
        </p:txBody>
      </p:sp>
      <p:sp>
        <p:nvSpPr>
          <p:cNvPr id="4" name="Text 1">
            <a:extLst>
              <a:ext uri="{FF2B5EF4-FFF2-40B4-BE49-F238E27FC236}">
                <a16:creationId xmlns:a16="http://schemas.microsoft.com/office/drawing/2014/main" id="{77F6B72F-0BE1-53ED-91BF-286A6AC59882}"/>
              </a:ext>
            </a:extLst>
          </p:cNvPr>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Menos alarma, más control</a:t>
            </a:r>
            <a:endParaRPr lang="en-US" sz="2200" dirty="0"/>
          </a:p>
        </p:txBody>
      </p:sp>
      <p:pic>
        <p:nvPicPr>
          <p:cNvPr id="5" name="Image 1" descr="preencoded.png">
            <a:extLst>
              <a:ext uri="{FF2B5EF4-FFF2-40B4-BE49-F238E27FC236}">
                <a16:creationId xmlns:a16="http://schemas.microsoft.com/office/drawing/2014/main" id="{821E71DD-1B89-6D13-5583-E291C5D178E0}"/>
              </a:ext>
            </a:extLst>
          </p:cNvPr>
          <p:cNvPicPr>
            <a:picLocks noChangeAspect="1"/>
          </p:cNvPicPr>
          <p:nvPr/>
        </p:nvPicPr>
        <p:blipFill>
          <a:blip r:embed="rId3"/>
          <a:stretch>
            <a:fillRect/>
          </a:stretch>
        </p:blipFill>
        <p:spPr>
          <a:xfrm>
            <a:off x="3543300" y="1400175"/>
            <a:ext cx="2057400" cy="2057400"/>
          </a:xfrm>
          <a:prstGeom prst="rect">
            <a:avLst/>
          </a:prstGeom>
        </p:spPr>
      </p:pic>
      <p:sp>
        <p:nvSpPr>
          <p:cNvPr id="6" name="Shape 2">
            <a:extLst>
              <a:ext uri="{FF2B5EF4-FFF2-40B4-BE49-F238E27FC236}">
                <a16:creationId xmlns:a16="http://schemas.microsoft.com/office/drawing/2014/main" id="{55C4AFED-1246-8CFD-40CF-AE66D60983E4}"/>
              </a:ext>
            </a:extLst>
          </p:cNvPr>
          <p:cNvSpPr/>
          <p:nvPr/>
        </p:nvSpPr>
        <p:spPr>
          <a:xfrm>
            <a:off x="571500" y="1389459"/>
            <a:ext cx="2286000" cy="2078831"/>
          </a:xfrm>
          <a:prstGeom prst="rect">
            <a:avLst/>
          </a:prstGeom>
          <a:solidFill>
            <a:srgbClr val="FFFFFF"/>
          </a:solidFill>
          <a:ln/>
        </p:spPr>
        <p:txBody>
          <a:bodyPr/>
          <a:lstStyle/>
          <a:p>
            <a:endParaRPr lang="es-ES"/>
          </a:p>
        </p:txBody>
      </p:sp>
      <p:sp>
        <p:nvSpPr>
          <p:cNvPr id="7" name="Shape 3">
            <a:extLst>
              <a:ext uri="{FF2B5EF4-FFF2-40B4-BE49-F238E27FC236}">
                <a16:creationId xmlns:a16="http://schemas.microsoft.com/office/drawing/2014/main" id="{D004FD7F-9C44-6979-29C9-8765D9CB558B}"/>
              </a:ext>
            </a:extLst>
          </p:cNvPr>
          <p:cNvSpPr/>
          <p:nvPr/>
        </p:nvSpPr>
        <p:spPr>
          <a:xfrm>
            <a:off x="571500" y="1389459"/>
            <a:ext cx="42863" cy="2078831"/>
          </a:xfrm>
          <a:prstGeom prst="rect">
            <a:avLst/>
          </a:prstGeom>
          <a:solidFill>
            <a:srgbClr val="DC8060"/>
          </a:solidFill>
          <a:ln/>
        </p:spPr>
        <p:txBody>
          <a:bodyPr/>
          <a:lstStyle/>
          <a:p>
            <a:endParaRPr lang="es-ES"/>
          </a:p>
        </p:txBody>
      </p:sp>
      <p:pic>
        <p:nvPicPr>
          <p:cNvPr id="8" name="Image 2" descr="preencoded.png">
            <a:extLst>
              <a:ext uri="{FF2B5EF4-FFF2-40B4-BE49-F238E27FC236}">
                <a16:creationId xmlns:a16="http://schemas.microsoft.com/office/drawing/2014/main" id="{4CE2A4D5-776A-2749-18BE-3C137FFD7399}"/>
              </a:ext>
            </a:extLst>
          </p:cNvPr>
          <p:cNvPicPr>
            <a:picLocks noChangeAspect="1"/>
          </p:cNvPicPr>
          <p:nvPr/>
        </p:nvPicPr>
        <p:blipFill>
          <a:blip r:embed="rId4"/>
          <a:stretch>
            <a:fillRect/>
          </a:stretch>
        </p:blipFill>
        <p:spPr>
          <a:xfrm>
            <a:off x="750094" y="1568053"/>
            <a:ext cx="171450" cy="228600"/>
          </a:xfrm>
          <a:prstGeom prst="rect">
            <a:avLst/>
          </a:prstGeom>
        </p:spPr>
      </p:pic>
      <p:sp>
        <p:nvSpPr>
          <p:cNvPr id="9" name="Text 4">
            <a:extLst>
              <a:ext uri="{FF2B5EF4-FFF2-40B4-BE49-F238E27FC236}">
                <a16:creationId xmlns:a16="http://schemas.microsoft.com/office/drawing/2014/main" id="{797A1D78-5CAB-2FD9-4ADE-AF8AD8479B32}"/>
              </a:ext>
            </a:extLst>
          </p:cNvPr>
          <p:cNvSpPr/>
          <p:nvPr/>
        </p:nvSpPr>
        <p:spPr>
          <a:xfrm>
            <a:off x="750094" y="1903809"/>
            <a:ext cx="1928813" cy="228600"/>
          </a:xfrm>
          <a:prstGeom prst="rect">
            <a:avLst/>
          </a:prstGeom>
          <a:noFill/>
          <a:ln/>
        </p:spPr>
        <p:txBody>
          <a:bodyPr wrap="none" lIns="0" tIns="0" rIns="0" bIns="0" rtlCol="0" anchor="t">
            <a:spAutoFit/>
          </a:bodyPr>
          <a:lstStyle/>
          <a:p>
            <a:pPr marL="0" indent="0" algn="l">
              <a:lnSpc>
                <a:spcPts val="1800"/>
              </a:lnSpc>
              <a:buNone/>
            </a:pPr>
            <a:r>
              <a:rPr lang="en-US" sz="1200" b="1" dirty="0">
                <a:solidFill>
                  <a:srgbClr val="DC8060"/>
                </a:solidFill>
              </a:rPr>
              <a:t>Amígdala</a:t>
            </a:r>
            <a:endParaRPr lang="en-US" sz="1200" dirty="0"/>
          </a:p>
        </p:txBody>
      </p:sp>
      <p:sp>
        <p:nvSpPr>
          <p:cNvPr id="10" name="Text 5">
            <a:extLst>
              <a:ext uri="{FF2B5EF4-FFF2-40B4-BE49-F238E27FC236}">
                <a16:creationId xmlns:a16="http://schemas.microsoft.com/office/drawing/2014/main" id="{EB88AB9F-C019-44E3-4D29-D7E55AC41489}"/>
              </a:ext>
            </a:extLst>
          </p:cNvPr>
          <p:cNvSpPr/>
          <p:nvPr/>
        </p:nvSpPr>
        <p:spPr>
          <a:xfrm>
            <a:off x="750094" y="2160984"/>
            <a:ext cx="1928813" cy="114300"/>
          </a:xfrm>
          <a:prstGeom prst="rect">
            <a:avLst/>
          </a:prstGeom>
          <a:noFill/>
          <a:ln/>
        </p:spPr>
        <p:txBody>
          <a:bodyPr wrap="none" lIns="0" tIns="0" rIns="0" bIns="0" rtlCol="0" anchor="t">
            <a:spAutoFit/>
          </a:bodyPr>
          <a:lstStyle/>
          <a:p>
            <a:pPr marL="0" indent="0" algn="l">
              <a:lnSpc>
                <a:spcPts val="900"/>
              </a:lnSpc>
              <a:buNone/>
            </a:pPr>
            <a:r>
              <a:rPr lang="en-US" sz="800" b="1" dirty="0">
                <a:solidFill>
                  <a:srgbClr val="9CA3AF"/>
                </a:solidFill>
              </a:rPr>
              <a:t>El Detector de Humo</a:t>
            </a:r>
            <a:endParaRPr lang="en-US" sz="800" dirty="0"/>
          </a:p>
        </p:txBody>
      </p:sp>
      <p:sp>
        <p:nvSpPr>
          <p:cNvPr id="11" name="Text 6">
            <a:extLst>
              <a:ext uri="{FF2B5EF4-FFF2-40B4-BE49-F238E27FC236}">
                <a16:creationId xmlns:a16="http://schemas.microsoft.com/office/drawing/2014/main" id="{0F0294CF-6E38-F625-60CB-5ED7646C119C}"/>
              </a:ext>
            </a:extLst>
          </p:cNvPr>
          <p:cNvSpPr/>
          <p:nvPr/>
        </p:nvSpPr>
        <p:spPr>
          <a:xfrm>
            <a:off x="750094" y="2361009"/>
            <a:ext cx="1928813" cy="928688"/>
          </a:xfrm>
          <a:prstGeom prst="rect">
            <a:avLst/>
          </a:prstGeom>
          <a:noFill/>
          <a:ln/>
        </p:spPr>
        <p:txBody>
          <a:bodyPr wrap="square" lIns="0" tIns="0" rIns="0" bIns="0" rtlCol="0" anchor="t">
            <a:spAutoFit/>
          </a:bodyPr>
          <a:lstStyle/>
          <a:p>
            <a:pPr marL="0" indent="0" algn="l">
              <a:lnSpc>
                <a:spcPts val="1500"/>
              </a:lnSpc>
              <a:buNone/>
            </a:pPr>
            <a:r>
              <a:rPr lang="en-US" sz="900" dirty="0">
                <a:solidFill>
                  <a:srgbClr val="1F3A3D"/>
                </a:solidFill>
              </a:rPr>
              <a:t>Reducción de la densidad de materia gris. 
 Resultado: Menor reactividad automática ante el estrés. La alarma salta menos.</a:t>
            </a:r>
            <a:endParaRPr lang="en-US" sz="900" dirty="0"/>
          </a:p>
        </p:txBody>
      </p:sp>
      <p:sp>
        <p:nvSpPr>
          <p:cNvPr id="12" name="Shape 7">
            <a:extLst>
              <a:ext uri="{FF2B5EF4-FFF2-40B4-BE49-F238E27FC236}">
                <a16:creationId xmlns:a16="http://schemas.microsoft.com/office/drawing/2014/main" id="{D3D6C9D6-60A2-E0F4-F498-E122321E7279}"/>
              </a:ext>
            </a:extLst>
          </p:cNvPr>
          <p:cNvSpPr/>
          <p:nvPr/>
        </p:nvSpPr>
        <p:spPr>
          <a:xfrm>
            <a:off x="6286500" y="1389459"/>
            <a:ext cx="2286000" cy="2078831"/>
          </a:xfrm>
          <a:prstGeom prst="rect">
            <a:avLst/>
          </a:prstGeom>
          <a:solidFill>
            <a:srgbClr val="FFFFFF"/>
          </a:solidFill>
          <a:ln/>
        </p:spPr>
        <p:txBody>
          <a:bodyPr/>
          <a:lstStyle/>
          <a:p>
            <a:endParaRPr lang="es-ES"/>
          </a:p>
        </p:txBody>
      </p:sp>
      <p:sp>
        <p:nvSpPr>
          <p:cNvPr id="13" name="Shape 8">
            <a:extLst>
              <a:ext uri="{FF2B5EF4-FFF2-40B4-BE49-F238E27FC236}">
                <a16:creationId xmlns:a16="http://schemas.microsoft.com/office/drawing/2014/main" id="{E2D75760-AB3C-9F6B-6C55-A991342542F7}"/>
              </a:ext>
            </a:extLst>
          </p:cNvPr>
          <p:cNvSpPr/>
          <p:nvPr/>
        </p:nvSpPr>
        <p:spPr>
          <a:xfrm>
            <a:off x="8529638" y="1389459"/>
            <a:ext cx="42863" cy="2078831"/>
          </a:xfrm>
          <a:prstGeom prst="rect">
            <a:avLst/>
          </a:prstGeom>
          <a:solidFill>
            <a:srgbClr val="1F3A3D"/>
          </a:solidFill>
          <a:ln/>
        </p:spPr>
        <p:txBody>
          <a:bodyPr/>
          <a:lstStyle/>
          <a:p>
            <a:endParaRPr lang="es-ES"/>
          </a:p>
        </p:txBody>
      </p:sp>
      <p:pic>
        <p:nvPicPr>
          <p:cNvPr id="14" name="Image 3" descr="preencoded.png">
            <a:extLst>
              <a:ext uri="{FF2B5EF4-FFF2-40B4-BE49-F238E27FC236}">
                <a16:creationId xmlns:a16="http://schemas.microsoft.com/office/drawing/2014/main" id="{B971A928-1ECD-6C62-56EE-11CFFD14B30B}"/>
              </a:ext>
            </a:extLst>
          </p:cNvPr>
          <p:cNvPicPr>
            <a:picLocks noChangeAspect="1"/>
          </p:cNvPicPr>
          <p:nvPr/>
        </p:nvPicPr>
        <p:blipFill>
          <a:blip r:embed="rId5"/>
          <a:stretch>
            <a:fillRect/>
          </a:stretch>
        </p:blipFill>
        <p:spPr>
          <a:xfrm>
            <a:off x="8222456" y="1568053"/>
            <a:ext cx="171450" cy="228600"/>
          </a:xfrm>
          <a:prstGeom prst="rect">
            <a:avLst/>
          </a:prstGeom>
        </p:spPr>
      </p:pic>
      <p:sp>
        <p:nvSpPr>
          <p:cNvPr id="15" name="Text 9">
            <a:extLst>
              <a:ext uri="{FF2B5EF4-FFF2-40B4-BE49-F238E27FC236}">
                <a16:creationId xmlns:a16="http://schemas.microsoft.com/office/drawing/2014/main" id="{DA5A3A21-A03F-8C86-FE90-F8C95E012B5A}"/>
              </a:ext>
            </a:extLst>
          </p:cNvPr>
          <p:cNvSpPr/>
          <p:nvPr/>
        </p:nvSpPr>
        <p:spPr>
          <a:xfrm>
            <a:off x="6465094" y="1903809"/>
            <a:ext cx="1928813" cy="228600"/>
          </a:xfrm>
          <a:prstGeom prst="rect">
            <a:avLst/>
          </a:prstGeom>
          <a:noFill/>
          <a:ln/>
        </p:spPr>
        <p:txBody>
          <a:bodyPr wrap="none" lIns="0" tIns="0" rIns="0" bIns="0" rtlCol="0" anchor="t">
            <a:spAutoFit/>
          </a:bodyPr>
          <a:lstStyle/>
          <a:p>
            <a:pPr marL="0" indent="0" algn="r">
              <a:lnSpc>
                <a:spcPts val="1800"/>
              </a:lnSpc>
              <a:buNone/>
            </a:pPr>
            <a:r>
              <a:rPr lang="en-US" sz="1200" b="1" dirty="0">
                <a:solidFill>
                  <a:srgbClr val="1F3A3D"/>
                </a:solidFill>
              </a:rPr>
              <a:t>Corteza Prefrontal</a:t>
            </a:r>
            <a:endParaRPr lang="en-US" sz="1200" dirty="0"/>
          </a:p>
        </p:txBody>
      </p:sp>
      <p:sp>
        <p:nvSpPr>
          <p:cNvPr id="16" name="Text 10">
            <a:extLst>
              <a:ext uri="{FF2B5EF4-FFF2-40B4-BE49-F238E27FC236}">
                <a16:creationId xmlns:a16="http://schemas.microsoft.com/office/drawing/2014/main" id="{ACFC5125-1F60-1BF4-3F76-9B99A37D8F87}"/>
              </a:ext>
            </a:extLst>
          </p:cNvPr>
          <p:cNvSpPr/>
          <p:nvPr/>
        </p:nvSpPr>
        <p:spPr>
          <a:xfrm>
            <a:off x="6465094" y="2160984"/>
            <a:ext cx="1928813" cy="114300"/>
          </a:xfrm>
          <a:prstGeom prst="rect">
            <a:avLst/>
          </a:prstGeom>
          <a:noFill/>
          <a:ln/>
        </p:spPr>
        <p:txBody>
          <a:bodyPr wrap="none" lIns="0" tIns="0" rIns="0" bIns="0" rtlCol="0" anchor="t">
            <a:spAutoFit/>
          </a:bodyPr>
          <a:lstStyle/>
          <a:p>
            <a:pPr marL="0" indent="0" algn="r">
              <a:lnSpc>
                <a:spcPts val="900"/>
              </a:lnSpc>
              <a:buNone/>
            </a:pPr>
            <a:r>
              <a:rPr lang="en-US" sz="800" b="1" dirty="0">
                <a:solidFill>
                  <a:srgbClr val="9CA3AF"/>
                </a:solidFill>
              </a:rPr>
              <a:t>El CEO / Director</a:t>
            </a:r>
            <a:endParaRPr lang="en-US" sz="800" dirty="0"/>
          </a:p>
        </p:txBody>
      </p:sp>
      <p:sp>
        <p:nvSpPr>
          <p:cNvPr id="17" name="Text 11">
            <a:extLst>
              <a:ext uri="{FF2B5EF4-FFF2-40B4-BE49-F238E27FC236}">
                <a16:creationId xmlns:a16="http://schemas.microsoft.com/office/drawing/2014/main" id="{2FAC6528-771E-5446-CE69-18F271323C68}"/>
              </a:ext>
            </a:extLst>
          </p:cNvPr>
          <p:cNvSpPr/>
          <p:nvPr/>
        </p:nvSpPr>
        <p:spPr>
          <a:xfrm>
            <a:off x="6465094" y="2361009"/>
            <a:ext cx="1928813" cy="928688"/>
          </a:xfrm>
          <a:prstGeom prst="rect">
            <a:avLst/>
          </a:prstGeom>
          <a:noFill/>
          <a:ln/>
        </p:spPr>
        <p:txBody>
          <a:bodyPr wrap="square" lIns="0" tIns="0" rIns="0" bIns="0" rtlCol="0" anchor="t">
            <a:spAutoFit/>
          </a:bodyPr>
          <a:lstStyle/>
          <a:p>
            <a:pPr marL="0" indent="0" algn="r">
              <a:lnSpc>
                <a:spcPts val="1500"/>
              </a:lnSpc>
              <a:buNone/>
            </a:pPr>
            <a:r>
              <a:rPr lang="en-US" sz="900" dirty="0">
                <a:solidFill>
                  <a:srgbClr val="1F3A3D"/>
                </a:solidFill>
              </a:rPr>
              <a:t>Engrosamiento y mayor conectividad. 
 Resultado: Mayor capacidad de regulación, perspectiva y toma de decisiones consciente.</a:t>
            </a:r>
            <a:endParaRPr lang="en-US" sz="900" dirty="0"/>
          </a:p>
        </p:txBody>
      </p:sp>
      <p:sp>
        <p:nvSpPr>
          <p:cNvPr id="18" name="Shape 12">
            <a:extLst>
              <a:ext uri="{FF2B5EF4-FFF2-40B4-BE49-F238E27FC236}">
                <a16:creationId xmlns:a16="http://schemas.microsoft.com/office/drawing/2014/main" id="{BF2DE9CD-5518-ABD6-12BF-405F170C348F}"/>
              </a:ext>
            </a:extLst>
          </p:cNvPr>
          <p:cNvSpPr/>
          <p:nvPr/>
        </p:nvSpPr>
        <p:spPr>
          <a:xfrm>
            <a:off x="571500" y="3943350"/>
            <a:ext cx="8001000" cy="771525"/>
          </a:xfrm>
          <a:prstGeom prst="rect">
            <a:avLst/>
          </a:prstGeom>
          <a:solidFill>
            <a:srgbClr val="E8F4F4"/>
          </a:solidFill>
          <a:ln/>
        </p:spPr>
        <p:txBody>
          <a:bodyPr/>
          <a:lstStyle/>
          <a:p>
            <a:endParaRPr lang="es-ES"/>
          </a:p>
        </p:txBody>
      </p:sp>
      <p:sp>
        <p:nvSpPr>
          <p:cNvPr id="19" name="Shape 13">
            <a:extLst>
              <a:ext uri="{FF2B5EF4-FFF2-40B4-BE49-F238E27FC236}">
                <a16:creationId xmlns:a16="http://schemas.microsoft.com/office/drawing/2014/main" id="{0834D05D-689F-65DA-18C6-417342059DB4}"/>
              </a:ext>
            </a:extLst>
          </p:cNvPr>
          <p:cNvSpPr/>
          <p:nvPr/>
        </p:nvSpPr>
        <p:spPr>
          <a:xfrm>
            <a:off x="571500" y="3943350"/>
            <a:ext cx="8001000" cy="28575"/>
          </a:xfrm>
          <a:prstGeom prst="rect">
            <a:avLst/>
          </a:prstGeom>
          <a:solidFill>
            <a:srgbClr val="1F3A3D"/>
          </a:solidFill>
          <a:ln/>
        </p:spPr>
        <p:txBody>
          <a:bodyPr/>
          <a:lstStyle/>
          <a:p>
            <a:endParaRPr lang="es-ES"/>
          </a:p>
        </p:txBody>
      </p:sp>
      <p:sp>
        <p:nvSpPr>
          <p:cNvPr id="20" name="Text 14">
            <a:extLst>
              <a:ext uri="{FF2B5EF4-FFF2-40B4-BE49-F238E27FC236}">
                <a16:creationId xmlns:a16="http://schemas.microsoft.com/office/drawing/2014/main" id="{4ACE9566-1A68-7F67-91DA-F9D69E23BAFE}"/>
              </a:ext>
            </a:extLst>
          </p:cNvPr>
          <p:cNvSpPr/>
          <p:nvPr/>
        </p:nvSpPr>
        <p:spPr>
          <a:xfrm>
            <a:off x="742950" y="4143375"/>
            <a:ext cx="7658100" cy="400050"/>
          </a:xfrm>
          <a:prstGeom prst="rect">
            <a:avLst/>
          </a:prstGeom>
          <a:noFill/>
          <a:ln/>
        </p:spPr>
        <p:txBody>
          <a:bodyPr wrap="square" lIns="0" tIns="0" rIns="0" bIns="0" rtlCol="0" anchor="t">
            <a:spAutoFit/>
          </a:bodyPr>
          <a:lstStyle/>
          <a:p>
            <a:pPr marL="0" indent="0" algn="ctr">
              <a:lnSpc>
                <a:spcPts val="1600"/>
              </a:lnSpc>
              <a:buNone/>
            </a:pPr>
            <a:r>
              <a:rPr lang="en-US" sz="1200" b="1" dirty="0">
                <a:solidFill>
                  <a:srgbClr val="1F3A3D"/>
                </a:solidFill>
              </a:rPr>
              <a:t>"La práctica de mindfulness no solo 'relaja' la mente momentáneamente; 
 cambia físicamente la estructura de tu cerebro para hacerlo más resiliente."</a:t>
            </a:r>
            <a:endParaRPr lang="en-US" sz="1200" dirty="0"/>
          </a:p>
        </p:txBody>
      </p:sp>
    </p:spTree>
    <p:extLst>
      <p:ext uri="{BB962C8B-B14F-4D97-AF65-F5344CB8AC3E}">
        <p14:creationId xmlns:p14="http://schemas.microsoft.com/office/powerpoint/2010/main" val="1549551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750D6-B9B8-956C-E86F-0A79AFC3EFC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A89BBE5-FE92-A96B-E4B0-2385127559D8}"/>
              </a:ext>
            </a:extLst>
          </p:cNvPr>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MECANISMO</a:t>
            </a:r>
            <a:endParaRPr lang="en-US" sz="1000" dirty="0"/>
          </a:p>
        </p:txBody>
      </p:sp>
      <p:sp>
        <p:nvSpPr>
          <p:cNvPr id="4" name="Text 1">
            <a:extLst>
              <a:ext uri="{FF2B5EF4-FFF2-40B4-BE49-F238E27FC236}">
                <a16:creationId xmlns:a16="http://schemas.microsoft.com/office/drawing/2014/main" id="{531AE422-DFE6-8346-BF08-36A4222D832A}"/>
              </a:ext>
            </a:extLst>
          </p:cNvPr>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Lo que haces con tu mente cambia tu cerebro</a:t>
            </a:r>
            <a:endParaRPr lang="en-US" sz="2200" dirty="0"/>
          </a:p>
        </p:txBody>
      </p:sp>
      <p:sp>
        <p:nvSpPr>
          <p:cNvPr id="5" name="Shape 2">
            <a:extLst>
              <a:ext uri="{FF2B5EF4-FFF2-40B4-BE49-F238E27FC236}">
                <a16:creationId xmlns:a16="http://schemas.microsoft.com/office/drawing/2014/main" id="{00373943-FAF1-37BB-FBCA-FE6116AB00F1}"/>
              </a:ext>
            </a:extLst>
          </p:cNvPr>
          <p:cNvSpPr/>
          <p:nvPr/>
        </p:nvSpPr>
        <p:spPr>
          <a:xfrm>
            <a:off x="571500" y="1143000"/>
            <a:ext cx="8001000" cy="857250"/>
          </a:xfrm>
          <a:prstGeom prst="rect">
            <a:avLst/>
          </a:prstGeom>
          <a:solidFill>
            <a:srgbClr val="FFFFFF"/>
          </a:solidFill>
          <a:ln/>
        </p:spPr>
        <p:txBody>
          <a:bodyPr/>
          <a:lstStyle/>
          <a:p>
            <a:endParaRPr lang="es-ES"/>
          </a:p>
        </p:txBody>
      </p:sp>
      <p:sp>
        <p:nvSpPr>
          <p:cNvPr id="6" name="Text 3">
            <a:extLst>
              <a:ext uri="{FF2B5EF4-FFF2-40B4-BE49-F238E27FC236}">
                <a16:creationId xmlns:a16="http://schemas.microsoft.com/office/drawing/2014/main" id="{53B59B5F-CAC9-B5AC-C00F-24AE1C90223F}"/>
              </a:ext>
            </a:extLst>
          </p:cNvPr>
          <p:cNvSpPr/>
          <p:nvPr/>
        </p:nvSpPr>
        <p:spPr>
          <a:xfrm>
            <a:off x="828675" y="1318022"/>
            <a:ext cx="2728913" cy="128588"/>
          </a:xfrm>
          <a:prstGeom prst="rect">
            <a:avLst/>
          </a:prstGeom>
          <a:noFill/>
          <a:ln/>
        </p:spPr>
        <p:txBody>
          <a:bodyPr wrap="none" lIns="0" tIns="0" rIns="0" bIns="0" rtlCol="0" anchor="t">
            <a:spAutoFit/>
          </a:bodyPr>
          <a:lstStyle/>
          <a:p>
            <a:pPr marL="0" indent="0" algn="l">
              <a:lnSpc>
                <a:spcPts val="1000"/>
              </a:lnSpc>
              <a:buNone/>
            </a:pPr>
            <a:r>
              <a:rPr lang="en-US" sz="800" b="1" kern="0" spc="1" dirty="0">
                <a:solidFill>
                  <a:srgbClr val="1F3A3D"/>
                </a:solidFill>
              </a:rPr>
              <a:t>Acción Psicológica</a:t>
            </a:r>
            <a:endParaRPr lang="en-US" sz="800" dirty="0"/>
          </a:p>
        </p:txBody>
      </p:sp>
      <p:sp>
        <p:nvSpPr>
          <p:cNvPr id="7" name="Text 4">
            <a:extLst>
              <a:ext uri="{FF2B5EF4-FFF2-40B4-BE49-F238E27FC236}">
                <a16:creationId xmlns:a16="http://schemas.microsoft.com/office/drawing/2014/main" id="{E0F0486F-506A-F1DA-A48B-34464E4BD46D}"/>
              </a:ext>
            </a:extLst>
          </p:cNvPr>
          <p:cNvSpPr/>
          <p:nvPr/>
        </p:nvSpPr>
        <p:spPr>
          <a:xfrm>
            <a:off x="828675" y="1482328"/>
            <a:ext cx="2728913"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F3A3D"/>
                </a:solidFill>
              </a:rPr>
              <a:t>Etiquetar la emoción</a:t>
            </a:r>
            <a:endParaRPr lang="en-US" sz="1200" dirty="0"/>
          </a:p>
        </p:txBody>
      </p:sp>
      <p:sp>
        <p:nvSpPr>
          <p:cNvPr id="8" name="Text 5">
            <a:extLst>
              <a:ext uri="{FF2B5EF4-FFF2-40B4-BE49-F238E27FC236}">
                <a16:creationId xmlns:a16="http://schemas.microsoft.com/office/drawing/2014/main" id="{7C0BBE37-5119-047C-5266-397FD5A41F60}"/>
              </a:ext>
            </a:extLst>
          </p:cNvPr>
          <p:cNvSpPr/>
          <p:nvPr/>
        </p:nvSpPr>
        <p:spPr>
          <a:xfrm>
            <a:off x="828675" y="1682353"/>
            <a:ext cx="2728913"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1F3A3D"/>
                </a:solidFill>
              </a:rPr>
              <a:t>"Esto es ansiedad"</a:t>
            </a:r>
            <a:endParaRPr lang="en-US" sz="800" dirty="0"/>
          </a:p>
        </p:txBody>
      </p:sp>
      <p:pic>
        <p:nvPicPr>
          <p:cNvPr id="9" name="Image 1" descr="preencoded.png">
            <a:extLst>
              <a:ext uri="{FF2B5EF4-FFF2-40B4-BE49-F238E27FC236}">
                <a16:creationId xmlns:a16="http://schemas.microsoft.com/office/drawing/2014/main" id="{36B6100A-4CD5-F82C-0F19-A563845B3E38}"/>
              </a:ext>
            </a:extLst>
          </p:cNvPr>
          <p:cNvPicPr>
            <a:picLocks noChangeAspect="1"/>
          </p:cNvPicPr>
          <p:nvPr/>
        </p:nvPicPr>
        <p:blipFill>
          <a:blip r:embed="rId3"/>
          <a:stretch>
            <a:fillRect/>
          </a:stretch>
        </p:blipFill>
        <p:spPr>
          <a:xfrm>
            <a:off x="4096941" y="1485900"/>
            <a:ext cx="150019" cy="171450"/>
          </a:xfrm>
          <a:prstGeom prst="rect">
            <a:avLst/>
          </a:prstGeom>
        </p:spPr>
      </p:pic>
      <p:sp>
        <p:nvSpPr>
          <p:cNvPr id="10" name="Shape 6">
            <a:extLst>
              <a:ext uri="{FF2B5EF4-FFF2-40B4-BE49-F238E27FC236}">
                <a16:creationId xmlns:a16="http://schemas.microsoft.com/office/drawing/2014/main" id="{C7DB903D-75EC-9EC9-14E9-9D1A3F9C60FF}"/>
              </a:ext>
            </a:extLst>
          </p:cNvPr>
          <p:cNvSpPr/>
          <p:nvPr/>
        </p:nvSpPr>
        <p:spPr>
          <a:xfrm>
            <a:off x="4572000" y="1143000"/>
            <a:ext cx="4000500" cy="857250"/>
          </a:xfrm>
          <a:prstGeom prst="rect">
            <a:avLst/>
          </a:prstGeom>
          <a:solidFill>
            <a:srgbClr val="F9FAFA"/>
          </a:solidFill>
          <a:ln/>
        </p:spPr>
        <p:txBody>
          <a:bodyPr/>
          <a:lstStyle/>
          <a:p>
            <a:endParaRPr lang="es-ES"/>
          </a:p>
        </p:txBody>
      </p:sp>
      <p:sp>
        <p:nvSpPr>
          <p:cNvPr id="11" name="Text 7">
            <a:extLst>
              <a:ext uri="{FF2B5EF4-FFF2-40B4-BE49-F238E27FC236}">
                <a16:creationId xmlns:a16="http://schemas.microsoft.com/office/drawing/2014/main" id="{B2762C37-103C-84AD-DA75-5DA8D3D43FBC}"/>
              </a:ext>
            </a:extLst>
          </p:cNvPr>
          <p:cNvSpPr/>
          <p:nvPr/>
        </p:nvSpPr>
        <p:spPr>
          <a:xfrm>
            <a:off x="4786313" y="1246584"/>
            <a:ext cx="3571875" cy="128588"/>
          </a:xfrm>
          <a:prstGeom prst="rect">
            <a:avLst/>
          </a:prstGeom>
          <a:noFill/>
          <a:ln/>
        </p:spPr>
        <p:txBody>
          <a:bodyPr wrap="none" lIns="0" tIns="0" rIns="0" bIns="0" rtlCol="0" anchor="t">
            <a:spAutoFit/>
          </a:bodyPr>
          <a:lstStyle/>
          <a:p>
            <a:pPr marL="0" indent="0" algn="l">
              <a:lnSpc>
                <a:spcPts val="1000"/>
              </a:lnSpc>
              <a:buNone/>
            </a:pPr>
            <a:r>
              <a:rPr lang="en-US" sz="800" b="1" kern="0" spc="1" dirty="0">
                <a:solidFill>
                  <a:srgbClr val="DC8060"/>
                </a:solidFill>
              </a:rPr>
              <a:t>Efecto Biológico</a:t>
            </a:r>
            <a:endParaRPr lang="en-US" sz="800" dirty="0"/>
          </a:p>
        </p:txBody>
      </p:sp>
      <p:sp>
        <p:nvSpPr>
          <p:cNvPr id="12" name="Text 8">
            <a:extLst>
              <a:ext uri="{FF2B5EF4-FFF2-40B4-BE49-F238E27FC236}">
                <a16:creationId xmlns:a16="http://schemas.microsoft.com/office/drawing/2014/main" id="{2D2D12CB-25CE-02B8-7D47-17E4DA0796A9}"/>
              </a:ext>
            </a:extLst>
          </p:cNvPr>
          <p:cNvSpPr/>
          <p:nvPr/>
        </p:nvSpPr>
        <p:spPr>
          <a:xfrm>
            <a:off x="4786313" y="1410891"/>
            <a:ext cx="3571875"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DC8060"/>
                </a:solidFill>
              </a:rPr>
              <a:t>Freno Prefrontal</a:t>
            </a:r>
            <a:endParaRPr lang="en-US" sz="1200" dirty="0"/>
          </a:p>
        </p:txBody>
      </p:sp>
      <p:sp>
        <p:nvSpPr>
          <p:cNvPr id="13" name="Text 9">
            <a:extLst>
              <a:ext uri="{FF2B5EF4-FFF2-40B4-BE49-F238E27FC236}">
                <a16:creationId xmlns:a16="http://schemas.microsoft.com/office/drawing/2014/main" id="{44319A6D-0477-7480-4D2C-82FD1B547756}"/>
              </a:ext>
            </a:extLst>
          </p:cNvPr>
          <p:cNvSpPr/>
          <p:nvPr/>
        </p:nvSpPr>
        <p:spPr>
          <a:xfrm>
            <a:off x="4786313" y="1610916"/>
            <a:ext cx="3571875" cy="285750"/>
          </a:xfrm>
          <a:prstGeom prst="rect">
            <a:avLst/>
          </a:prstGeom>
          <a:noFill/>
          <a:ln/>
        </p:spPr>
        <p:txBody>
          <a:bodyPr wrap="square" lIns="0" tIns="0" rIns="0" bIns="0" rtlCol="0" anchor="t">
            <a:spAutoFit/>
          </a:bodyPr>
          <a:lstStyle/>
          <a:p>
            <a:pPr marL="0" indent="0" algn="l">
              <a:lnSpc>
                <a:spcPts val="1100"/>
              </a:lnSpc>
              <a:buNone/>
            </a:pPr>
            <a:r>
              <a:rPr lang="en-US" sz="800" dirty="0">
                <a:solidFill>
                  <a:srgbClr val="4B5563"/>
                </a:solidFill>
              </a:rPr>
              <a:t>La corteza prefrontal ventrolateral se activa y reduce la actividad de la amígdala.</a:t>
            </a:r>
            <a:endParaRPr lang="en-US" sz="800" dirty="0"/>
          </a:p>
        </p:txBody>
      </p:sp>
      <p:sp>
        <p:nvSpPr>
          <p:cNvPr id="14" name="Shape 10">
            <a:extLst>
              <a:ext uri="{FF2B5EF4-FFF2-40B4-BE49-F238E27FC236}">
                <a16:creationId xmlns:a16="http://schemas.microsoft.com/office/drawing/2014/main" id="{49B17B36-6D44-1C20-F791-DE4818F5420C}"/>
              </a:ext>
            </a:extLst>
          </p:cNvPr>
          <p:cNvSpPr/>
          <p:nvPr/>
        </p:nvSpPr>
        <p:spPr>
          <a:xfrm>
            <a:off x="571500" y="2178844"/>
            <a:ext cx="8001000" cy="857250"/>
          </a:xfrm>
          <a:prstGeom prst="rect">
            <a:avLst/>
          </a:prstGeom>
          <a:solidFill>
            <a:srgbClr val="FFFFFF"/>
          </a:solidFill>
          <a:ln/>
        </p:spPr>
        <p:txBody>
          <a:bodyPr/>
          <a:lstStyle/>
          <a:p>
            <a:endParaRPr lang="es-ES"/>
          </a:p>
        </p:txBody>
      </p:sp>
      <p:sp>
        <p:nvSpPr>
          <p:cNvPr id="15" name="Text 11">
            <a:extLst>
              <a:ext uri="{FF2B5EF4-FFF2-40B4-BE49-F238E27FC236}">
                <a16:creationId xmlns:a16="http://schemas.microsoft.com/office/drawing/2014/main" id="{DBB689D0-F7DA-D8DC-F8DA-9EFF73E77EA2}"/>
              </a:ext>
            </a:extLst>
          </p:cNvPr>
          <p:cNvSpPr/>
          <p:nvPr/>
        </p:nvSpPr>
        <p:spPr>
          <a:xfrm>
            <a:off x="828675" y="2353866"/>
            <a:ext cx="2728913" cy="128588"/>
          </a:xfrm>
          <a:prstGeom prst="rect">
            <a:avLst/>
          </a:prstGeom>
          <a:noFill/>
          <a:ln/>
        </p:spPr>
        <p:txBody>
          <a:bodyPr wrap="none" lIns="0" tIns="0" rIns="0" bIns="0" rtlCol="0" anchor="t">
            <a:spAutoFit/>
          </a:bodyPr>
          <a:lstStyle/>
          <a:p>
            <a:pPr marL="0" indent="0" algn="l">
              <a:lnSpc>
                <a:spcPts val="1000"/>
              </a:lnSpc>
              <a:buNone/>
            </a:pPr>
            <a:r>
              <a:rPr lang="en-US" sz="800" b="1" kern="0" spc="1" dirty="0">
                <a:solidFill>
                  <a:srgbClr val="1F3A3D"/>
                </a:solidFill>
              </a:rPr>
              <a:t>Acción Psicológica</a:t>
            </a:r>
            <a:endParaRPr lang="en-US" sz="800" dirty="0"/>
          </a:p>
        </p:txBody>
      </p:sp>
      <p:sp>
        <p:nvSpPr>
          <p:cNvPr id="16" name="Text 12">
            <a:extLst>
              <a:ext uri="{FF2B5EF4-FFF2-40B4-BE49-F238E27FC236}">
                <a16:creationId xmlns:a16="http://schemas.microsoft.com/office/drawing/2014/main" id="{FD055668-DB24-5872-CCEF-206AEB1BD78A}"/>
              </a:ext>
            </a:extLst>
          </p:cNvPr>
          <p:cNvSpPr/>
          <p:nvPr/>
        </p:nvSpPr>
        <p:spPr>
          <a:xfrm>
            <a:off x="828675" y="2518172"/>
            <a:ext cx="2728913"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F3A3D"/>
                </a:solidFill>
              </a:rPr>
              <a:t>Sentir el cuerpo</a:t>
            </a:r>
            <a:endParaRPr lang="en-US" sz="1200" dirty="0"/>
          </a:p>
        </p:txBody>
      </p:sp>
      <p:sp>
        <p:nvSpPr>
          <p:cNvPr id="17" name="Text 13">
            <a:extLst>
              <a:ext uri="{FF2B5EF4-FFF2-40B4-BE49-F238E27FC236}">
                <a16:creationId xmlns:a16="http://schemas.microsoft.com/office/drawing/2014/main" id="{D4869CB9-293D-E6C4-17D9-D4170B10B041}"/>
              </a:ext>
            </a:extLst>
          </p:cNvPr>
          <p:cNvSpPr/>
          <p:nvPr/>
        </p:nvSpPr>
        <p:spPr>
          <a:xfrm>
            <a:off x="828675" y="2718197"/>
            <a:ext cx="2728913"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1F3A3D"/>
                </a:solidFill>
              </a:rPr>
              <a:t>Interocepción sin juicio</a:t>
            </a:r>
            <a:endParaRPr lang="en-US" sz="800" dirty="0"/>
          </a:p>
        </p:txBody>
      </p:sp>
      <p:pic>
        <p:nvPicPr>
          <p:cNvPr id="18" name="Image 2" descr="preencoded.png">
            <a:extLst>
              <a:ext uri="{FF2B5EF4-FFF2-40B4-BE49-F238E27FC236}">
                <a16:creationId xmlns:a16="http://schemas.microsoft.com/office/drawing/2014/main" id="{D59A1B48-D02B-FF2C-E8F5-25C6AD9E4D4B}"/>
              </a:ext>
            </a:extLst>
          </p:cNvPr>
          <p:cNvPicPr>
            <a:picLocks noChangeAspect="1"/>
          </p:cNvPicPr>
          <p:nvPr/>
        </p:nvPicPr>
        <p:blipFill>
          <a:blip r:embed="rId3"/>
          <a:stretch>
            <a:fillRect/>
          </a:stretch>
        </p:blipFill>
        <p:spPr>
          <a:xfrm>
            <a:off x="4096941" y="2521744"/>
            <a:ext cx="150019" cy="171450"/>
          </a:xfrm>
          <a:prstGeom prst="rect">
            <a:avLst/>
          </a:prstGeom>
        </p:spPr>
      </p:pic>
      <p:sp>
        <p:nvSpPr>
          <p:cNvPr id="19" name="Shape 14">
            <a:extLst>
              <a:ext uri="{FF2B5EF4-FFF2-40B4-BE49-F238E27FC236}">
                <a16:creationId xmlns:a16="http://schemas.microsoft.com/office/drawing/2014/main" id="{D9DC79F7-F92B-B48D-753A-7ACE3A882B13}"/>
              </a:ext>
            </a:extLst>
          </p:cNvPr>
          <p:cNvSpPr/>
          <p:nvPr/>
        </p:nvSpPr>
        <p:spPr>
          <a:xfrm>
            <a:off x="4572000" y="2178844"/>
            <a:ext cx="4000500" cy="857250"/>
          </a:xfrm>
          <a:prstGeom prst="rect">
            <a:avLst/>
          </a:prstGeom>
          <a:solidFill>
            <a:srgbClr val="F9FAFA"/>
          </a:solidFill>
          <a:ln/>
        </p:spPr>
        <p:txBody>
          <a:bodyPr/>
          <a:lstStyle/>
          <a:p>
            <a:endParaRPr lang="es-ES"/>
          </a:p>
        </p:txBody>
      </p:sp>
      <p:sp>
        <p:nvSpPr>
          <p:cNvPr id="20" name="Text 15">
            <a:extLst>
              <a:ext uri="{FF2B5EF4-FFF2-40B4-BE49-F238E27FC236}">
                <a16:creationId xmlns:a16="http://schemas.microsoft.com/office/drawing/2014/main" id="{3B22A795-98BD-ECCC-0816-4935EFF7F554}"/>
              </a:ext>
            </a:extLst>
          </p:cNvPr>
          <p:cNvSpPr/>
          <p:nvPr/>
        </p:nvSpPr>
        <p:spPr>
          <a:xfrm>
            <a:off x="4786313" y="2282428"/>
            <a:ext cx="3571875" cy="128588"/>
          </a:xfrm>
          <a:prstGeom prst="rect">
            <a:avLst/>
          </a:prstGeom>
          <a:noFill/>
          <a:ln/>
        </p:spPr>
        <p:txBody>
          <a:bodyPr wrap="none" lIns="0" tIns="0" rIns="0" bIns="0" rtlCol="0" anchor="t">
            <a:spAutoFit/>
          </a:bodyPr>
          <a:lstStyle/>
          <a:p>
            <a:pPr marL="0" indent="0" algn="l">
              <a:lnSpc>
                <a:spcPts val="1000"/>
              </a:lnSpc>
              <a:buNone/>
            </a:pPr>
            <a:r>
              <a:rPr lang="en-US" sz="800" b="1" kern="0" spc="1" dirty="0">
                <a:solidFill>
                  <a:srgbClr val="DC8060"/>
                </a:solidFill>
              </a:rPr>
              <a:t>Efecto Biológico</a:t>
            </a:r>
            <a:endParaRPr lang="en-US" sz="800" dirty="0"/>
          </a:p>
        </p:txBody>
      </p:sp>
      <p:sp>
        <p:nvSpPr>
          <p:cNvPr id="21" name="Text 16">
            <a:extLst>
              <a:ext uri="{FF2B5EF4-FFF2-40B4-BE49-F238E27FC236}">
                <a16:creationId xmlns:a16="http://schemas.microsoft.com/office/drawing/2014/main" id="{F8CFB701-D418-9A41-C15A-E6C30A824FFD}"/>
              </a:ext>
            </a:extLst>
          </p:cNvPr>
          <p:cNvSpPr/>
          <p:nvPr/>
        </p:nvSpPr>
        <p:spPr>
          <a:xfrm>
            <a:off x="4786313" y="2446734"/>
            <a:ext cx="3571875"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DC8060"/>
                </a:solidFill>
              </a:rPr>
              <a:t>Activación Vagal</a:t>
            </a:r>
            <a:endParaRPr lang="en-US" sz="1200" dirty="0"/>
          </a:p>
        </p:txBody>
      </p:sp>
      <p:sp>
        <p:nvSpPr>
          <p:cNvPr id="22" name="Text 17">
            <a:extLst>
              <a:ext uri="{FF2B5EF4-FFF2-40B4-BE49-F238E27FC236}">
                <a16:creationId xmlns:a16="http://schemas.microsoft.com/office/drawing/2014/main" id="{FC6E3C55-B477-2825-97F4-08247EBE489D}"/>
              </a:ext>
            </a:extLst>
          </p:cNvPr>
          <p:cNvSpPr/>
          <p:nvPr/>
        </p:nvSpPr>
        <p:spPr>
          <a:xfrm>
            <a:off x="4786313" y="2646759"/>
            <a:ext cx="3571875" cy="285750"/>
          </a:xfrm>
          <a:prstGeom prst="rect">
            <a:avLst/>
          </a:prstGeom>
          <a:noFill/>
          <a:ln/>
        </p:spPr>
        <p:txBody>
          <a:bodyPr wrap="square" lIns="0" tIns="0" rIns="0" bIns="0" rtlCol="0" anchor="t">
            <a:spAutoFit/>
          </a:bodyPr>
          <a:lstStyle/>
          <a:p>
            <a:pPr marL="0" indent="0" algn="l">
              <a:lnSpc>
                <a:spcPts val="1100"/>
              </a:lnSpc>
              <a:buNone/>
            </a:pPr>
            <a:r>
              <a:rPr lang="en-US" sz="800" dirty="0">
                <a:solidFill>
                  <a:srgbClr val="4B5563"/>
                </a:solidFill>
              </a:rPr>
              <a:t>Estimula el nervio vago, activando el sistema parasimpático (freno del estrés).</a:t>
            </a:r>
            <a:endParaRPr lang="en-US" sz="800" dirty="0"/>
          </a:p>
        </p:txBody>
      </p:sp>
      <p:sp>
        <p:nvSpPr>
          <p:cNvPr id="23" name="Shape 18">
            <a:extLst>
              <a:ext uri="{FF2B5EF4-FFF2-40B4-BE49-F238E27FC236}">
                <a16:creationId xmlns:a16="http://schemas.microsoft.com/office/drawing/2014/main" id="{E0D29579-38FD-E5C8-428C-10ED6CA075C2}"/>
              </a:ext>
            </a:extLst>
          </p:cNvPr>
          <p:cNvSpPr/>
          <p:nvPr/>
        </p:nvSpPr>
        <p:spPr>
          <a:xfrm>
            <a:off x="571500" y="3214688"/>
            <a:ext cx="8001000" cy="857250"/>
          </a:xfrm>
          <a:prstGeom prst="rect">
            <a:avLst/>
          </a:prstGeom>
          <a:solidFill>
            <a:srgbClr val="FFFFFF"/>
          </a:solidFill>
          <a:ln/>
        </p:spPr>
        <p:txBody>
          <a:bodyPr/>
          <a:lstStyle/>
          <a:p>
            <a:endParaRPr lang="es-ES"/>
          </a:p>
        </p:txBody>
      </p:sp>
      <p:sp>
        <p:nvSpPr>
          <p:cNvPr id="24" name="Text 19">
            <a:extLst>
              <a:ext uri="{FF2B5EF4-FFF2-40B4-BE49-F238E27FC236}">
                <a16:creationId xmlns:a16="http://schemas.microsoft.com/office/drawing/2014/main" id="{FA4EEFA6-0241-7AE1-AC4E-D1C174B6AF1B}"/>
              </a:ext>
            </a:extLst>
          </p:cNvPr>
          <p:cNvSpPr/>
          <p:nvPr/>
        </p:nvSpPr>
        <p:spPr>
          <a:xfrm>
            <a:off x="828675" y="3389709"/>
            <a:ext cx="2728913" cy="128588"/>
          </a:xfrm>
          <a:prstGeom prst="rect">
            <a:avLst/>
          </a:prstGeom>
          <a:noFill/>
          <a:ln/>
        </p:spPr>
        <p:txBody>
          <a:bodyPr wrap="none" lIns="0" tIns="0" rIns="0" bIns="0" rtlCol="0" anchor="t">
            <a:spAutoFit/>
          </a:bodyPr>
          <a:lstStyle/>
          <a:p>
            <a:pPr marL="0" indent="0" algn="l">
              <a:lnSpc>
                <a:spcPts val="1000"/>
              </a:lnSpc>
              <a:buNone/>
            </a:pPr>
            <a:r>
              <a:rPr lang="en-US" sz="800" b="1" kern="0" spc="1" dirty="0">
                <a:solidFill>
                  <a:srgbClr val="1F3A3D"/>
                </a:solidFill>
              </a:rPr>
              <a:t>Acción Psicológica</a:t>
            </a:r>
            <a:endParaRPr lang="en-US" sz="800" dirty="0"/>
          </a:p>
        </p:txBody>
      </p:sp>
      <p:sp>
        <p:nvSpPr>
          <p:cNvPr id="25" name="Text 20">
            <a:extLst>
              <a:ext uri="{FF2B5EF4-FFF2-40B4-BE49-F238E27FC236}">
                <a16:creationId xmlns:a16="http://schemas.microsoft.com/office/drawing/2014/main" id="{2719FF09-9CD5-DC2B-AB1B-20E061B66429}"/>
              </a:ext>
            </a:extLst>
          </p:cNvPr>
          <p:cNvSpPr/>
          <p:nvPr/>
        </p:nvSpPr>
        <p:spPr>
          <a:xfrm>
            <a:off x="828675" y="3554016"/>
            <a:ext cx="2728913"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F3A3D"/>
                </a:solidFill>
              </a:rPr>
              <a:t>Soltar la historia</a:t>
            </a:r>
            <a:endParaRPr lang="en-US" sz="1200" dirty="0"/>
          </a:p>
        </p:txBody>
      </p:sp>
      <p:sp>
        <p:nvSpPr>
          <p:cNvPr id="26" name="Text 21">
            <a:extLst>
              <a:ext uri="{FF2B5EF4-FFF2-40B4-BE49-F238E27FC236}">
                <a16:creationId xmlns:a16="http://schemas.microsoft.com/office/drawing/2014/main" id="{184ABEC8-6ECA-7F8A-1601-7088A6185D5C}"/>
              </a:ext>
            </a:extLst>
          </p:cNvPr>
          <p:cNvSpPr/>
          <p:nvPr/>
        </p:nvSpPr>
        <p:spPr>
          <a:xfrm>
            <a:off x="828675" y="3754041"/>
            <a:ext cx="2728913" cy="142875"/>
          </a:xfrm>
          <a:prstGeom prst="rect">
            <a:avLst/>
          </a:prstGeom>
          <a:noFill/>
          <a:ln/>
        </p:spPr>
        <p:txBody>
          <a:bodyPr wrap="none" lIns="0" tIns="0" rIns="0" bIns="0" rtlCol="0" anchor="t">
            <a:spAutoFit/>
          </a:bodyPr>
          <a:lstStyle/>
          <a:p>
            <a:pPr marL="0" indent="0" algn="l">
              <a:lnSpc>
                <a:spcPts val="1100"/>
              </a:lnSpc>
              <a:buNone/>
            </a:pPr>
            <a:r>
              <a:rPr lang="en-US" sz="800" dirty="0">
                <a:solidFill>
                  <a:srgbClr val="1F3A3D"/>
                </a:solidFill>
              </a:rPr>
              <a:t>Dejar de rumiar</a:t>
            </a:r>
            <a:endParaRPr lang="en-US" sz="800" dirty="0"/>
          </a:p>
        </p:txBody>
      </p:sp>
      <p:pic>
        <p:nvPicPr>
          <p:cNvPr id="27" name="Image 3" descr="preencoded.png">
            <a:extLst>
              <a:ext uri="{FF2B5EF4-FFF2-40B4-BE49-F238E27FC236}">
                <a16:creationId xmlns:a16="http://schemas.microsoft.com/office/drawing/2014/main" id="{26E24CED-5952-5ADF-43AF-26D774D5F9B6}"/>
              </a:ext>
            </a:extLst>
          </p:cNvPr>
          <p:cNvPicPr>
            <a:picLocks noChangeAspect="1"/>
          </p:cNvPicPr>
          <p:nvPr/>
        </p:nvPicPr>
        <p:blipFill>
          <a:blip r:embed="rId3"/>
          <a:stretch>
            <a:fillRect/>
          </a:stretch>
        </p:blipFill>
        <p:spPr>
          <a:xfrm>
            <a:off x="4096941" y="3557588"/>
            <a:ext cx="150019" cy="171450"/>
          </a:xfrm>
          <a:prstGeom prst="rect">
            <a:avLst/>
          </a:prstGeom>
        </p:spPr>
      </p:pic>
      <p:sp>
        <p:nvSpPr>
          <p:cNvPr id="28" name="Shape 22">
            <a:extLst>
              <a:ext uri="{FF2B5EF4-FFF2-40B4-BE49-F238E27FC236}">
                <a16:creationId xmlns:a16="http://schemas.microsoft.com/office/drawing/2014/main" id="{31B496B6-A687-3F9A-ACC9-43EE7986C0E6}"/>
              </a:ext>
            </a:extLst>
          </p:cNvPr>
          <p:cNvSpPr/>
          <p:nvPr/>
        </p:nvSpPr>
        <p:spPr>
          <a:xfrm>
            <a:off x="4572000" y="3214688"/>
            <a:ext cx="4000500" cy="857250"/>
          </a:xfrm>
          <a:prstGeom prst="rect">
            <a:avLst/>
          </a:prstGeom>
          <a:solidFill>
            <a:srgbClr val="F9FAFA"/>
          </a:solidFill>
          <a:ln/>
        </p:spPr>
        <p:txBody>
          <a:bodyPr/>
          <a:lstStyle/>
          <a:p>
            <a:endParaRPr lang="es-ES"/>
          </a:p>
        </p:txBody>
      </p:sp>
      <p:sp>
        <p:nvSpPr>
          <p:cNvPr id="29" name="Text 23">
            <a:extLst>
              <a:ext uri="{FF2B5EF4-FFF2-40B4-BE49-F238E27FC236}">
                <a16:creationId xmlns:a16="http://schemas.microsoft.com/office/drawing/2014/main" id="{AC0CAAD8-3EA2-7F34-A098-4FAFCEA644F9}"/>
              </a:ext>
            </a:extLst>
          </p:cNvPr>
          <p:cNvSpPr/>
          <p:nvPr/>
        </p:nvSpPr>
        <p:spPr>
          <a:xfrm>
            <a:off x="4786313" y="3318272"/>
            <a:ext cx="3571875" cy="128588"/>
          </a:xfrm>
          <a:prstGeom prst="rect">
            <a:avLst/>
          </a:prstGeom>
          <a:noFill/>
          <a:ln/>
        </p:spPr>
        <p:txBody>
          <a:bodyPr wrap="none" lIns="0" tIns="0" rIns="0" bIns="0" rtlCol="0" anchor="t">
            <a:spAutoFit/>
          </a:bodyPr>
          <a:lstStyle/>
          <a:p>
            <a:pPr marL="0" indent="0" algn="l">
              <a:lnSpc>
                <a:spcPts val="1000"/>
              </a:lnSpc>
              <a:buNone/>
            </a:pPr>
            <a:r>
              <a:rPr lang="en-US" sz="800" b="1" kern="0" spc="1" dirty="0">
                <a:solidFill>
                  <a:srgbClr val="DC8060"/>
                </a:solidFill>
              </a:rPr>
              <a:t>Efecto Biológico</a:t>
            </a:r>
            <a:endParaRPr lang="en-US" sz="800" dirty="0"/>
          </a:p>
        </p:txBody>
      </p:sp>
      <p:sp>
        <p:nvSpPr>
          <p:cNvPr id="30" name="Text 24">
            <a:extLst>
              <a:ext uri="{FF2B5EF4-FFF2-40B4-BE49-F238E27FC236}">
                <a16:creationId xmlns:a16="http://schemas.microsoft.com/office/drawing/2014/main" id="{B392D553-2156-B457-504F-9264B9A3A115}"/>
              </a:ext>
            </a:extLst>
          </p:cNvPr>
          <p:cNvSpPr/>
          <p:nvPr/>
        </p:nvSpPr>
        <p:spPr>
          <a:xfrm>
            <a:off x="4786313" y="3482578"/>
            <a:ext cx="3571875"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DC8060"/>
                </a:solidFill>
              </a:rPr>
              <a:t>Silencio Neural</a:t>
            </a:r>
            <a:endParaRPr lang="en-US" sz="1200" dirty="0"/>
          </a:p>
        </p:txBody>
      </p:sp>
      <p:sp>
        <p:nvSpPr>
          <p:cNvPr id="31" name="Text 25">
            <a:extLst>
              <a:ext uri="{FF2B5EF4-FFF2-40B4-BE49-F238E27FC236}">
                <a16:creationId xmlns:a16="http://schemas.microsoft.com/office/drawing/2014/main" id="{5DA3DA41-FBD3-2773-EEEF-77C7711CFBEF}"/>
              </a:ext>
            </a:extLst>
          </p:cNvPr>
          <p:cNvSpPr/>
          <p:nvPr/>
        </p:nvSpPr>
        <p:spPr>
          <a:xfrm>
            <a:off x="4786313" y="3682603"/>
            <a:ext cx="3571875" cy="285750"/>
          </a:xfrm>
          <a:prstGeom prst="rect">
            <a:avLst/>
          </a:prstGeom>
          <a:noFill/>
          <a:ln/>
        </p:spPr>
        <p:txBody>
          <a:bodyPr wrap="square" lIns="0" tIns="0" rIns="0" bIns="0" rtlCol="0" anchor="t">
            <a:spAutoFit/>
          </a:bodyPr>
          <a:lstStyle/>
          <a:p>
            <a:pPr marL="0" indent="0" algn="l">
              <a:lnSpc>
                <a:spcPts val="1100"/>
              </a:lnSpc>
              <a:buNone/>
            </a:pPr>
            <a:r>
              <a:rPr lang="en-US" sz="800" dirty="0">
                <a:solidFill>
                  <a:srgbClr val="4B5563"/>
                </a:solidFill>
              </a:rPr>
              <a:t>Se desactiva la "Red Neuronal por Defecto" (DMN), asociada al estrés y la divagación.</a:t>
            </a:r>
            <a:endParaRPr lang="en-US" sz="800" dirty="0"/>
          </a:p>
        </p:txBody>
      </p:sp>
      <p:sp>
        <p:nvSpPr>
          <p:cNvPr id="32" name="Text 26">
            <a:extLst>
              <a:ext uri="{FF2B5EF4-FFF2-40B4-BE49-F238E27FC236}">
                <a16:creationId xmlns:a16="http://schemas.microsoft.com/office/drawing/2014/main" id="{26F5BA5F-EFB7-F843-F97F-8A5A1EB1C4EF}"/>
              </a:ext>
            </a:extLst>
          </p:cNvPr>
          <p:cNvSpPr/>
          <p:nvPr/>
        </p:nvSpPr>
        <p:spPr>
          <a:xfrm>
            <a:off x="571500" y="4514850"/>
            <a:ext cx="8001000" cy="200025"/>
          </a:xfrm>
          <a:prstGeom prst="rect">
            <a:avLst/>
          </a:prstGeom>
          <a:noFill/>
          <a:ln/>
        </p:spPr>
        <p:txBody>
          <a:bodyPr wrap="none" lIns="0" tIns="0" rIns="0" bIns="0" rtlCol="0" anchor="t">
            <a:spAutoFit/>
          </a:bodyPr>
          <a:lstStyle/>
          <a:p>
            <a:pPr marL="0" indent="0" algn="ctr">
              <a:lnSpc>
                <a:spcPts val="1600"/>
              </a:lnSpc>
              <a:buNone/>
            </a:pPr>
            <a:r>
              <a:rPr lang="en-US" sz="1200" b="1" i="1" dirty="0">
                <a:solidFill>
                  <a:srgbClr val="1F3A3D"/>
                </a:solidFill>
              </a:rPr>
              <a:t>"La aceptación no es pasividad mental. Es </a:t>
            </a:r>
            <a:r>
              <a:rPr lang="en-US" sz="1200" b="1" dirty="0">
                <a:solidFill>
                  <a:srgbClr val="1F3A3D"/>
                </a:solidFill>
              </a:rPr>
              <a:t>regulación biológica activa</a:t>
            </a:r>
            <a:r>
              <a:rPr lang="en-US" sz="1200" b="1" i="1" dirty="0">
                <a:solidFill>
                  <a:srgbClr val="1F3A3D"/>
                </a:solidFill>
              </a:rPr>
              <a:t>."</a:t>
            </a:r>
            <a:endParaRPr lang="en-US" sz="900" dirty="0"/>
          </a:p>
        </p:txBody>
      </p:sp>
    </p:spTree>
    <p:extLst>
      <p:ext uri="{BB962C8B-B14F-4D97-AF65-F5344CB8AC3E}">
        <p14:creationId xmlns:p14="http://schemas.microsoft.com/office/powerpoint/2010/main" val="535855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EVIDENCIA CIENTÍFICA</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Davidson et al. (2003): El punto de inflexión</a:t>
            </a:r>
            <a:endParaRPr lang="en-US" sz="2200" dirty="0"/>
          </a:p>
        </p:txBody>
      </p:sp>
      <p:sp>
        <p:nvSpPr>
          <p:cNvPr id="5" name="Shape 2"/>
          <p:cNvSpPr/>
          <p:nvPr/>
        </p:nvSpPr>
        <p:spPr>
          <a:xfrm>
            <a:off x="571500" y="1328738"/>
            <a:ext cx="3133706" cy="1014413"/>
          </a:xfrm>
          <a:prstGeom prst="rect">
            <a:avLst/>
          </a:prstGeom>
          <a:solidFill>
            <a:srgbClr val="FFFFFF"/>
          </a:solidFill>
          <a:ln/>
        </p:spPr>
        <p:txBody>
          <a:bodyPr/>
          <a:lstStyle/>
          <a:p>
            <a:endParaRPr lang="es-ES"/>
          </a:p>
        </p:txBody>
      </p:sp>
      <p:sp>
        <p:nvSpPr>
          <p:cNvPr id="6" name="Shape 3"/>
          <p:cNvSpPr/>
          <p:nvPr/>
        </p:nvSpPr>
        <p:spPr>
          <a:xfrm>
            <a:off x="571500" y="1328738"/>
            <a:ext cx="28575" cy="1014413"/>
          </a:xfrm>
          <a:prstGeom prst="rect">
            <a:avLst/>
          </a:prstGeom>
          <a:solidFill>
            <a:srgbClr val="1F3A3D"/>
          </a:solidFill>
          <a:ln/>
        </p:spPr>
        <p:txBody>
          <a:bodyPr/>
          <a:lstStyle/>
          <a:p>
            <a:endParaRPr lang="es-ES"/>
          </a:p>
        </p:txBody>
      </p:sp>
      <p:pic>
        <p:nvPicPr>
          <p:cNvPr id="7" name="Image 1" descr="preencoded.png"/>
          <p:cNvPicPr>
            <a:picLocks noChangeAspect="1"/>
          </p:cNvPicPr>
          <p:nvPr/>
        </p:nvPicPr>
        <p:blipFill>
          <a:blip r:embed="rId3"/>
          <a:stretch>
            <a:fillRect/>
          </a:stretch>
        </p:blipFill>
        <p:spPr>
          <a:xfrm>
            <a:off x="750094" y="1507331"/>
            <a:ext cx="214313" cy="228600"/>
          </a:xfrm>
          <a:prstGeom prst="rect">
            <a:avLst/>
          </a:prstGeom>
        </p:spPr>
      </p:pic>
      <p:sp>
        <p:nvSpPr>
          <p:cNvPr id="8" name="Text 4"/>
          <p:cNvSpPr/>
          <p:nvPr/>
        </p:nvSpPr>
        <p:spPr>
          <a:xfrm>
            <a:off x="1078706" y="1521619"/>
            <a:ext cx="721240"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F3A3D"/>
                </a:solidFill>
              </a:rPr>
              <a:t>¿Quiénes?</a:t>
            </a:r>
            <a:endParaRPr lang="en-US" sz="1200" dirty="0"/>
          </a:p>
        </p:txBody>
      </p:sp>
      <p:sp>
        <p:nvSpPr>
          <p:cNvPr id="9" name="Text 5"/>
          <p:cNvSpPr/>
          <p:nvPr/>
        </p:nvSpPr>
        <p:spPr>
          <a:xfrm>
            <a:off x="750094" y="1821656"/>
            <a:ext cx="2776519" cy="342900"/>
          </a:xfrm>
          <a:prstGeom prst="rect">
            <a:avLst/>
          </a:prstGeom>
          <a:noFill/>
          <a:ln/>
        </p:spPr>
        <p:txBody>
          <a:bodyPr wrap="square" lIns="0" tIns="0" rIns="0" bIns="0" rtlCol="0" anchor="t">
            <a:spAutoFit/>
          </a:bodyPr>
          <a:lstStyle/>
          <a:p>
            <a:pPr marL="0" indent="0" algn="l">
              <a:lnSpc>
                <a:spcPts val="1400"/>
              </a:lnSpc>
              <a:buNone/>
            </a:pPr>
            <a:r>
              <a:rPr lang="en-US" sz="900" dirty="0">
                <a:solidFill>
                  <a:srgbClr val="1F3A3D"/>
                </a:solidFill>
              </a:rPr>
              <a:t>Empleados de una empresa biotecnológica en un entorno de alta presión y estrés laboral.</a:t>
            </a:r>
            <a:endParaRPr lang="en-US" sz="900" dirty="0"/>
          </a:p>
        </p:txBody>
      </p:sp>
      <p:sp>
        <p:nvSpPr>
          <p:cNvPr id="10" name="Shape 6"/>
          <p:cNvSpPr/>
          <p:nvPr/>
        </p:nvSpPr>
        <p:spPr>
          <a:xfrm>
            <a:off x="571500" y="2486025"/>
            <a:ext cx="3133706" cy="1014413"/>
          </a:xfrm>
          <a:prstGeom prst="rect">
            <a:avLst/>
          </a:prstGeom>
          <a:solidFill>
            <a:srgbClr val="FFFFFF"/>
          </a:solidFill>
          <a:ln/>
        </p:spPr>
        <p:txBody>
          <a:bodyPr/>
          <a:lstStyle/>
          <a:p>
            <a:endParaRPr lang="es-ES"/>
          </a:p>
        </p:txBody>
      </p:sp>
      <p:sp>
        <p:nvSpPr>
          <p:cNvPr id="11" name="Shape 7"/>
          <p:cNvSpPr/>
          <p:nvPr/>
        </p:nvSpPr>
        <p:spPr>
          <a:xfrm>
            <a:off x="571500" y="2486025"/>
            <a:ext cx="28575" cy="1014413"/>
          </a:xfrm>
          <a:prstGeom prst="rect">
            <a:avLst/>
          </a:prstGeom>
          <a:solidFill>
            <a:srgbClr val="DC8060"/>
          </a:solidFill>
          <a:ln/>
        </p:spPr>
        <p:txBody>
          <a:bodyPr/>
          <a:lstStyle/>
          <a:p>
            <a:endParaRPr lang="es-ES"/>
          </a:p>
        </p:txBody>
      </p:sp>
      <p:pic>
        <p:nvPicPr>
          <p:cNvPr id="12" name="Image 2" descr="preencoded.png"/>
          <p:cNvPicPr>
            <a:picLocks noChangeAspect="1"/>
          </p:cNvPicPr>
          <p:nvPr/>
        </p:nvPicPr>
        <p:blipFill>
          <a:blip r:embed="rId4"/>
          <a:stretch>
            <a:fillRect/>
          </a:stretch>
        </p:blipFill>
        <p:spPr>
          <a:xfrm>
            <a:off x="750094" y="2664619"/>
            <a:ext cx="150019" cy="228600"/>
          </a:xfrm>
          <a:prstGeom prst="rect">
            <a:avLst/>
          </a:prstGeom>
        </p:spPr>
      </p:pic>
      <p:sp>
        <p:nvSpPr>
          <p:cNvPr id="13" name="Text 8"/>
          <p:cNvSpPr/>
          <p:nvPr/>
        </p:nvSpPr>
        <p:spPr>
          <a:xfrm>
            <a:off x="1014413" y="2678906"/>
            <a:ext cx="1048708"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F3A3D"/>
                </a:solidFill>
              </a:rPr>
              <a:t>¿Qué hicieron?</a:t>
            </a:r>
            <a:endParaRPr lang="en-US" sz="1200" dirty="0"/>
          </a:p>
        </p:txBody>
      </p:sp>
      <p:sp>
        <p:nvSpPr>
          <p:cNvPr id="14" name="Text 9"/>
          <p:cNvSpPr/>
          <p:nvPr/>
        </p:nvSpPr>
        <p:spPr>
          <a:xfrm>
            <a:off x="750094" y="2978944"/>
            <a:ext cx="2776519" cy="342900"/>
          </a:xfrm>
          <a:prstGeom prst="rect">
            <a:avLst/>
          </a:prstGeom>
          <a:noFill/>
          <a:ln/>
        </p:spPr>
        <p:txBody>
          <a:bodyPr wrap="square" lIns="0" tIns="0" rIns="0" bIns="0" rtlCol="0" anchor="t">
            <a:spAutoFit/>
          </a:bodyPr>
          <a:lstStyle/>
          <a:p>
            <a:pPr marL="0" indent="0" algn="l">
              <a:lnSpc>
                <a:spcPts val="1400"/>
              </a:lnSpc>
              <a:buNone/>
            </a:pPr>
            <a:r>
              <a:rPr lang="en-US" sz="900" dirty="0">
                <a:solidFill>
                  <a:srgbClr val="1F3A3D"/>
                </a:solidFill>
              </a:rPr>
              <a:t>Programa MBSR (Reducción de Estrés Basado en Mindfulness) durante </a:t>
            </a:r>
            <a:r>
              <a:rPr lang="en-US" sz="800" b="1" dirty="0">
                <a:solidFill>
                  <a:srgbClr val="1F3A3D"/>
                </a:solidFill>
              </a:rPr>
              <a:t>8 semanas</a:t>
            </a:r>
            <a:r>
              <a:rPr lang="en-US" sz="900" dirty="0">
                <a:solidFill>
                  <a:srgbClr val="1F3A3D"/>
                </a:solidFill>
              </a:rPr>
              <a:t>.</a:t>
            </a:r>
            <a:endParaRPr lang="en-US" sz="900" dirty="0"/>
          </a:p>
        </p:txBody>
      </p:sp>
      <p:sp>
        <p:nvSpPr>
          <p:cNvPr id="15" name="Text 10"/>
          <p:cNvSpPr/>
          <p:nvPr/>
        </p:nvSpPr>
        <p:spPr>
          <a:xfrm>
            <a:off x="571500" y="3757613"/>
            <a:ext cx="3133706" cy="428625"/>
          </a:xfrm>
          <a:prstGeom prst="rect">
            <a:avLst/>
          </a:prstGeom>
          <a:noFill/>
          <a:ln/>
        </p:spPr>
        <p:txBody>
          <a:bodyPr wrap="square" lIns="0" tIns="0" rIns="0" bIns="0" rtlCol="0" anchor="t">
            <a:spAutoFit/>
          </a:bodyPr>
          <a:lstStyle/>
          <a:p>
            <a:pPr marL="0" indent="0" algn="l">
              <a:lnSpc>
                <a:spcPts val="1100"/>
              </a:lnSpc>
              <a:buNone/>
            </a:pPr>
            <a:r>
              <a:rPr lang="en-US" sz="800" i="1" dirty="0">
                <a:solidFill>
                  <a:srgbClr val="6B7280"/>
                </a:solidFill>
              </a:rPr>
              <a:t>Reference: Davidson, R. J., et al. (2003). Alterations in brain and immune function produced by mindfulness meditation. Psychosomatic Medicine.</a:t>
            </a:r>
            <a:endParaRPr lang="en-US" sz="800" dirty="0"/>
          </a:p>
        </p:txBody>
      </p:sp>
      <p:sp>
        <p:nvSpPr>
          <p:cNvPr id="17" name="Text 12"/>
          <p:cNvSpPr/>
          <p:nvPr/>
        </p:nvSpPr>
        <p:spPr>
          <a:xfrm>
            <a:off x="4048106" y="1193564"/>
            <a:ext cx="228600" cy="127471"/>
          </a:xfrm>
          <a:prstGeom prst="rect">
            <a:avLst/>
          </a:prstGeom>
          <a:noFill/>
          <a:ln/>
        </p:spPr>
        <p:txBody>
          <a:bodyPr wrap="square" lIns="0" tIns="0" rIns="0" bIns="0" rtlCol="0" anchor="ctr">
            <a:spAutoFit/>
          </a:bodyPr>
          <a:lstStyle/>
          <a:p>
            <a:pPr marL="0" indent="0" algn="ctr">
              <a:lnSpc>
                <a:spcPts val="1100"/>
              </a:lnSpc>
              <a:buNone/>
            </a:pPr>
            <a:endParaRPr lang="en-US" sz="1000" dirty="0"/>
          </a:p>
        </p:txBody>
      </p:sp>
      <p:sp>
        <p:nvSpPr>
          <p:cNvPr id="18" name="Text 13"/>
          <p:cNvSpPr/>
          <p:nvPr/>
        </p:nvSpPr>
        <p:spPr>
          <a:xfrm>
            <a:off x="4048106" y="1210258"/>
            <a:ext cx="1181453"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F3A3D"/>
                </a:solidFill>
              </a:rPr>
              <a:t>Cambio Cerebral</a:t>
            </a:r>
            <a:endParaRPr lang="en-US" sz="1200" dirty="0"/>
          </a:p>
        </p:txBody>
      </p:sp>
      <p:sp>
        <p:nvSpPr>
          <p:cNvPr id="19" name="Text 14"/>
          <p:cNvSpPr/>
          <p:nvPr/>
        </p:nvSpPr>
        <p:spPr>
          <a:xfrm>
            <a:off x="4048106" y="1428750"/>
            <a:ext cx="4524366" cy="285750"/>
          </a:xfrm>
          <a:prstGeom prst="rect">
            <a:avLst/>
          </a:prstGeom>
          <a:noFill/>
          <a:ln/>
        </p:spPr>
        <p:txBody>
          <a:bodyPr wrap="square" lIns="0" tIns="0" rIns="0" bIns="0" rtlCol="0" anchor="t">
            <a:spAutoFit/>
          </a:bodyPr>
          <a:lstStyle/>
          <a:p>
            <a:pPr marL="0" indent="0" algn="l">
              <a:lnSpc>
                <a:spcPts val="1100"/>
              </a:lnSpc>
              <a:buNone/>
            </a:pPr>
            <a:r>
              <a:rPr lang="en-US" sz="800" dirty="0">
                <a:solidFill>
                  <a:srgbClr val="1F3A3D"/>
                </a:solidFill>
              </a:rPr>
              <a:t>Desplazamiento de la actividad hacia la corteza prefrontal izquierda (asociada a bienestar y resiliencia).</a:t>
            </a:r>
            <a:endParaRPr lang="en-US" sz="800" dirty="0"/>
          </a:p>
        </p:txBody>
      </p:sp>
      <p:pic>
        <p:nvPicPr>
          <p:cNvPr id="20" name="Image 3" descr="preencoded.png"/>
          <p:cNvPicPr>
            <a:picLocks noChangeAspect="1"/>
          </p:cNvPicPr>
          <p:nvPr/>
        </p:nvPicPr>
        <p:blipFill>
          <a:blip r:embed="rId5"/>
          <a:stretch>
            <a:fillRect/>
          </a:stretch>
        </p:blipFill>
        <p:spPr>
          <a:xfrm>
            <a:off x="4048106" y="1828800"/>
            <a:ext cx="4523780" cy="1571625"/>
          </a:xfrm>
          <a:prstGeom prst="rect">
            <a:avLst/>
          </a:prstGeom>
        </p:spPr>
      </p:pic>
      <p:sp>
        <p:nvSpPr>
          <p:cNvPr id="21" name="Shape 15"/>
          <p:cNvSpPr/>
          <p:nvPr/>
        </p:nvSpPr>
        <p:spPr>
          <a:xfrm>
            <a:off x="4048134" y="3604022"/>
            <a:ext cx="4524366" cy="800100"/>
          </a:xfrm>
          <a:prstGeom prst="rect">
            <a:avLst/>
          </a:prstGeom>
          <a:solidFill>
            <a:srgbClr val="E8F4F4"/>
          </a:solidFill>
          <a:ln/>
        </p:spPr>
        <p:txBody>
          <a:bodyPr/>
          <a:lstStyle/>
          <a:p>
            <a:endParaRPr lang="es-ES"/>
          </a:p>
        </p:txBody>
      </p:sp>
      <p:sp>
        <p:nvSpPr>
          <p:cNvPr id="22" name="Shape 16"/>
          <p:cNvSpPr/>
          <p:nvPr/>
        </p:nvSpPr>
        <p:spPr>
          <a:xfrm>
            <a:off x="4190981" y="3757613"/>
            <a:ext cx="385763" cy="428625"/>
          </a:xfrm>
          <a:prstGeom prst="roundRect">
            <a:avLst/>
          </a:prstGeom>
          <a:solidFill>
            <a:srgbClr val="FFFFFF"/>
          </a:solidFill>
          <a:ln/>
        </p:spPr>
        <p:txBody>
          <a:bodyPr/>
          <a:lstStyle/>
          <a:p>
            <a:endParaRPr lang="es-ES"/>
          </a:p>
        </p:txBody>
      </p:sp>
      <p:pic>
        <p:nvPicPr>
          <p:cNvPr id="23" name="Image 4" descr="preencoded.png"/>
          <p:cNvPicPr>
            <a:picLocks noChangeAspect="1"/>
          </p:cNvPicPr>
          <p:nvPr/>
        </p:nvPicPr>
        <p:blipFill>
          <a:blip r:embed="rId6"/>
          <a:stretch>
            <a:fillRect/>
          </a:stretch>
        </p:blipFill>
        <p:spPr>
          <a:xfrm>
            <a:off x="4276706" y="3843338"/>
            <a:ext cx="214313" cy="257175"/>
          </a:xfrm>
          <a:prstGeom prst="rect">
            <a:avLst/>
          </a:prstGeom>
        </p:spPr>
      </p:pic>
      <p:sp>
        <p:nvSpPr>
          <p:cNvPr id="26" name="Text 19"/>
          <p:cNvSpPr/>
          <p:nvPr/>
        </p:nvSpPr>
        <p:spPr>
          <a:xfrm>
            <a:off x="4714834" y="3705324"/>
            <a:ext cx="1236650" cy="175022"/>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Respuesta Inmune</a:t>
            </a:r>
            <a:endParaRPr lang="en-US" sz="900" dirty="0"/>
          </a:p>
        </p:txBody>
      </p:sp>
      <p:sp>
        <p:nvSpPr>
          <p:cNvPr id="27" name="Text 20"/>
          <p:cNvSpPr/>
          <p:nvPr/>
        </p:nvSpPr>
        <p:spPr>
          <a:xfrm>
            <a:off x="4719619" y="3943350"/>
            <a:ext cx="3709978" cy="285750"/>
          </a:xfrm>
          <a:prstGeom prst="rect">
            <a:avLst/>
          </a:prstGeom>
          <a:noFill/>
          <a:ln/>
        </p:spPr>
        <p:txBody>
          <a:bodyPr wrap="square" lIns="0" tIns="0" rIns="0" bIns="0" rtlCol="0" anchor="t">
            <a:spAutoFit/>
          </a:bodyPr>
          <a:lstStyle/>
          <a:p>
            <a:pPr marL="0" indent="0" algn="l">
              <a:lnSpc>
                <a:spcPts val="1100"/>
              </a:lnSpc>
              <a:buNone/>
            </a:pPr>
            <a:r>
              <a:rPr lang="en-US" sz="800" dirty="0">
                <a:solidFill>
                  <a:srgbClr val="1F3A3D"/>
                </a:solidFill>
              </a:rPr>
              <a:t>El grupo de mindfulness generó significativamente </a:t>
            </a:r>
            <a:r>
              <a:rPr lang="en-US" sz="800" b="1" dirty="0">
                <a:solidFill>
                  <a:srgbClr val="1F3A3D"/>
                </a:solidFill>
              </a:rPr>
              <a:t>más anticuerpos</a:t>
            </a:r>
            <a:r>
              <a:rPr lang="en-US" sz="800" dirty="0">
                <a:solidFill>
                  <a:srgbClr val="1F3A3D"/>
                </a:solidFill>
              </a:rPr>
              <a:t> tras recibir la vacuna de la gripe que el grupo de control.</a:t>
            </a:r>
            <a:endParaRPr lang="en-US" sz="800" dirty="0"/>
          </a:p>
        </p:txBody>
      </p:sp>
      <p:sp>
        <p:nvSpPr>
          <p:cNvPr id="29" name="Shape 22"/>
          <p:cNvSpPr/>
          <p:nvPr/>
        </p:nvSpPr>
        <p:spPr>
          <a:xfrm>
            <a:off x="570886" y="4592332"/>
            <a:ext cx="8001000" cy="7144"/>
          </a:xfrm>
          <a:prstGeom prst="rect">
            <a:avLst/>
          </a:prstGeom>
          <a:solidFill>
            <a:srgbClr val="E5E7EB"/>
          </a:solidFill>
          <a:ln/>
        </p:spPr>
        <p:txBody>
          <a:bodyPr/>
          <a:lstStyle/>
          <a:p>
            <a:endParaRPr lang="es-ES"/>
          </a:p>
        </p:txBody>
      </p:sp>
      <p:sp>
        <p:nvSpPr>
          <p:cNvPr id="30" name="Text 23"/>
          <p:cNvSpPr/>
          <p:nvPr/>
        </p:nvSpPr>
        <p:spPr>
          <a:xfrm>
            <a:off x="490519" y="4714875"/>
            <a:ext cx="8001000" cy="200025"/>
          </a:xfrm>
          <a:prstGeom prst="rect">
            <a:avLst/>
          </a:prstGeom>
          <a:noFill/>
          <a:ln/>
        </p:spPr>
        <p:txBody>
          <a:bodyPr wrap="none" lIns="0" tIns="0" rIns="0" bIns="0" rtlCol="0" anchor="t">
            <a:spAutoFit/>
          </a:bodyPr>
          <a:lstStyle/>
          <a:p>
            <a:pPr marL="0" indent="0" algn="ctr">
              <a:lnSpc>
                <a:spcPts val="1600"/>
              </a:lnSpc>
              <a:buNone/>
            </a:pPr>
            <a:r>
              <a:rPr lang="en-US" sz="1200" b="1" dirty="0">
                <a:solidFill>
                  <a:srgbClr val="1F3A3D"/>
                </a:solidFill>
              </a:rPr>
              <a:t>"El entrenamiento mental no solo cambia cómo te sientes. </a:t>
            </a:r>
            <a:r>
              <a:rPr lang="en-US" sz="1200" b="1" dirty="0">
                <a:solidFill>
                  <a:srgbClr val="DC8060"/>
                </a:solidFill>
              </a:rPr>
              <a:t>Cambia tu biología.</a:t>
            </a:r>
            <a:r>
              <a:rPr lang="en-US" sz="1200" b="1" dirty="0">
                <a:solidFill>
                  <a:srgbClr val="1F3A3D"/>
                </a:solidFill>
              </a:rPr>
              <a: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CONEXIÓN CON M1-M3</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Todo lo aprendido se deteriora bajo estrés crónico</a:t>
            </a:r>
            <a:endParaRPr lang="en-US" sz="2200" dirty="0"/>
          </a:p>
        </p:txBody>
      </p:sp>
      <p:sp>
        <p:nvSpPr>
          <p:cNvPr id="5" name="Shape 2"/>
          <p:cNvSpPr/>
          <p:nvPr/>
        </p:nvSpPr>
        <p:spPr>
          <a:xfrm>
            <a:off x="571500" y="1200150"/>
            <a:ext cx="8001000" cy="714375"/>
          </a:xfrm>
          <a:prstGeom prst="rect">
            <a:avLst/>
          </a:prstGeom>
          <a:solidFill>
            <a:srgbClr val="FFFFFF"/>
          </a:solidFill>
          <a:ln/>
        </p:spPr>
        <p:txBody>
          <a:bodyPr/>
          <a:lstStyle/>
          <a:p>
            <a:endParaRPr lang="es-ES"/>
          </a:p>
        </p:txBody>
      </p:sp>
      <p:sp>
        <p:nvSpPr>
          <p:cNvPr id="6" name="Shape 3"/>
          <p:cNvSpPr/>
          <p:nvPr/>
        </p:nvSpPr>
        <p:spPr>
          <a:xfrm>
            <a:off x="571500" y="1200150"/>
            <a:ext cx="571500" cy="714375"/>
          </a:xfrm>
          <a:prstGeom prst="rect">
            <a:avLst/>
          </a:prstGeom>
          <a:solidFill>
            <a:srgbClr val="DC8060"/>
          </a:solidFill>
          <a:ln/>
        </p:spPr>
        <p:txBody>
          <a:bodyPr/>
          <a:lstStyle/>
          <a:p>
            <a:endParaRPr lang="es-ES"/>
          </a:p>
        </p:txBody>
      </p:sp>
      <p:sp>
        <p:nvSpPr>
          <p:cNvPr id="7" name="Text 4"/>
          <p:cNvSpPr/>
          <p:nvPr/>
        </p:nvSpPr>
        <p:spPr>
          <a:xfrm>
            <a:off x="571500" y="1200150"/>
            <a:ext cx="571500" cy="714375"/>
          </a:xfrm>
          <a:prstGeom prst="rect">
            <a:avLst/>
          </a:prstGeom>
          <a:noFill/>
          <a:ln/>
        </p:spPr>
        <p:txBody>
          <a:bodyPr wrap="square" lIns="0" tIns="0" rIns="0" bIns="0" rtlCol="0" anchor="ctr">
            <a:spAutoFit/>
          </a:bodyPr>
          <a:lstStyle/>
          <a:p>
            <a:pPr marL="0" indent="0" algn="ctr">
              <a:lnSpc>
                <a:spcPts val="1600"/>
              </a:lnSpc>
              <a:buNone/>
            </a:pPr>
            <a:r>
              <a:rPr lang="en-US" sz="900" b="1" dirty="0">
                <a:solidFill>
                  <a:srgbClr val="FFFFFF"/>
                </a:solidFill>
              </a:rPr>
              <a:t>M1</a:t>
            </a:r>
            <a:endParaRPr lang="en-US" sz="900" dirty="0"/>
          </a:p>
        </p:txBody>
      </p:sp>
      <p:sp>
        <p:nvSpPr>
          <p:cNvPr id="8" name="Text 5"/>
          <p:cNvSpPr/>
          <p:nvPr/>
        </p:nvSpPr>
        <p:spPr>
          <a:xfrm>
            <a:off x="1143000" y="1463018"/>
            <a:ext cx="3500438" cy="188612"/>
          </a:xfrm>
          <a:prstGeom prst="rect">
            <a:avLst/>
          </a:prstGeom>
          <a:noFill/>
          <a:ln/>
        </p:spPr>
        <p:txBody>
          <a:bodyPr wrap="none" lIns="255143" tIns="0" rIns="255143" bIns="0" rtlCol="0" anchor="t">
            <a:spAutoFit/>
          </a:bodyPr>
          <a:lstStyle/>
          <a:p>
            <a:pPr marL="0" indent="0" algn="l">
              <a:lnSpc>
                <a:spcPts val="1500"/>
              </a:lnSpc>
              <a:buNone/>
            </a:pPr>
            <a:r>
              <a:rPr lang="en-US" sz="900" b="1" dirty="0">
                <a:solidFill>
                  <a:srgbClr val="1F3A3D"/>
                </a:solidFill>
              </a:rPr>
              <a:t>El Sistema 2 puede modular al Sistema 1</a:t>
            </a:r>
            <a:endParaRPr lang="en-US" sz="900" dirty="0"/>
          </a:p>
        </p:txBody>
      </p:sp>
      <p:pic>
        <p:nvPicPr>
          <p:cNvPr id="9" name="Image 1" descr="preencoded.png"/>
          <p:cNvPicPr>
            <a:picLocks noChangeAspect="1"/>
          </p:cNvPicPr>
          <p:nvPr/>
        </p:nvPicPr>
        <p:blipFill>
          <a:blip r:embed="rId3"/>
          <a:stretch>
            <a:fillRect/>
          </a:stretch>
        </p:blipFill>
        <p:spPr>
          <a:xfrm>
            <a:off x="4782741" y="1471613"/>
            <a:ext cx="150019" cy="171450"/>
          </a:xfrm>
          <a:prstGeom prst="rect">
            <a:avLst/>
          </a:prstGeom>
        </p:spPr>
      </p:pic>
      <p:sp>
        <p:nvSpPr>
          <p:cNvPr id="10" name="Shape 6"/>
          <p:cNvSpPr/>
          <p:nvPr/>
        </p:nvSpPr>
        <p:spPr>
          <a:xfrm>
            <a:off x="5072063" y="1200150"/>
            <a:ext cx="3500438" cy="714375"/>
          </a:xfrm>
          <a:prstGeom prst="rect">
            <a:avLst/>
          </a:prstGeom>
          <a:solidFill>
            <a:srgbClr val="FFF5F2"/>
          </a:solidFill>
          <a:ln/>
        </p:spPr>
        <p:txBody>
          <a:bodyPr/>
          <a:lstStyle/>
          <a:p>
            <a:endParaRPr lang="es-ES"/>
          </a:p>
        </p:txBody>
      </p:sp>
      <p:pic>
        <p:nvPicPr>
          <p:cNvPr id="11" name="Image 2" descr="preencoded.png"/>
          <p:cNvPicPr>
            <a:picLocks noChangeAspect="1"/>
          </p:cNvPicPr>
          <p:nvPr/>
        </p:nvPicPr>
        <p:blipFill>
          <a:blip r:embed="rId4"/>
          <a:stretch>
            <a:fillRect/>
          </a:stretch>
        </p:blipFill>
        <p:spPr>
          <a:xfrm>
            <a:off x="5286375" y="1494467"/>
            <a:ext cx="94655" cy="125741"/>
          </a:xfrm>
          <a:prstGeom prst="rect">
            <a:avLst/>
          </a:prstGeom>
        </p:spPr>
      </p:pic>
      <p:sp>
        <p:nvSpPr>
          <p:cNvPr id="12" name="Text 7"/>
          <p:cNvSpPr/>
          <p:nvPr/>
        </p:nvSpPr>
        <p:spPr>
          <a:xfrm>
            <a:off x="5466755" y="1463018"/>
            <a:ext cx="1812420" cy="188612"/>
          </a:xfrm>
          <a:prstGeom prst="rect">
            <a:avLst/>
          </a:prstGeom>
          <a:noFill/>
          <a:ln/>
        </p:spPr>
        <p:txBody>
          <a:bodyPr wrap="none" lIns="0" tIns="0" rIns="0" bIns="0" rtlCol="0" anchor="t">
            <a:spAutoFit/>
          </a:bodyPr>
          <a:lstStyle/>
          <a:p>
            <a:pPr marL="0" indent="0" algn="l">
              <a:lnSpc>
                <a:spcPts val="1500"/>
              </a:lnSpc>
              <a:buNone/>
            </a:pPr>
            <a:r>
              <a:rPr lang="en-US" sz="900" b="1" dirty="0">
                <a:solidFill>
                  <a:srgbClr val="DC8060"/>
                </a:solidFill>
              </a:rPr>
              <a:t>El estrés colapsa el Sistema 2</a:t>
            </a:r>
            <a:endParaRPr lang="en-US" sz="900" dirty="0"/>
          </a:p>
        </p:txBody>
      </p:sp>
      <p:sp>
        <p:nvSpPr>
          <p:cNvPr id="13" name="Shape 8"/>
          <p:cNvSpPr/>
          <p:nvPr/>
        </p:nvSpPr>
        <p:spPr>
          <a:xfrm>
            <a:off x="571500" y="2128838"/>
            <a:ext cx="8001000" cy="714375"/>
          </a:xfrm>
          <a:prstGeom prst="rect">
            <a:avLst/>
          </a:prstGeom>
          <a:solidFill>
            <a:srgbClr val="FFFFFF"/>
          </a:solidFill>
          <a:ln/>
        </p:spPr>
        <p:txBody>
          <a:bodyPr/>
          <a:lstStyle/>
          <a:p>
            <a:endParaRPr lang="es-ES"/>
          </a:p>
        </p:txBody>
      </p:sp>
      <p:sp>
        <p:nvSpPr>
          <p:cNvPr id="14" name="Shape 9"/>
          <p:cNvSpPr/>
          <p:nvPr/>
        </p:nvSpPr>
        <p:spPr>
          <a:xfrm>
            <a:off x="571500" y="2128838"/>
            <a:ext cx="571500" cy="714375"/>
          </a:xfrm>
          <a:prstGeom prst="rect">
            <a:avLst/>
          </a:prstGeom>
          <a:solidFill>
            <a:srgbClr val="C48870"/>
          </a:solidFill>
          <a:ln/>
        </p:spPr>
        <p:txBody>
          <a:bodyPr/>
          <a:lstStyle/>
          <a:p>
            <a:endParaRPr lang="es-ES"/>
          </a:p>
        </p:txBody>
      </p:sp>
      <p:sp>
        <p:nvSpPr>
          <p:cNvPr id="15" name="Text 10"/>
          <p:cNvSpPr/>
          <p:nvPr/>
        </p:nvSpPr>
        <p:spPr>
          <a:xfrm>
            <a:off x="571500" y="2128838"/>
            <a:ext cx="571500" cy="714375"/>
          </a:xfrm>
          <a:prstGeom prst="rect">
            <a:avLst/>
          </a:prstGeom>
          <a:noFill/>
          <a:ln/>
        </p:spPr>
        <p:txBody>
          <a:bodyPr wrap="square" lIns="0" tIns="0" rIns="0" bIns="0" rtlCol="0" anchor="ctr">
            <a:spAutoFit/>
          </a:bodyPr>
          <a:lstStyle/>
          <a:p>
            <a:pPr marL="0" indent="0" algn="ctr">
              <a:lnSpc>
                <a:spcPts val="1600"/>
              </a:lnSpc>
              <a:buNone/>
            </a:pPr>
            <a:r>
              <a:rPr lang="en-US" sz="900" b="1" dirty="0">
                <a:solidFill>
                  <a:srgbClr val="FFFFFF"/>
                </a:solidFill>
              </a:rPr>
              <a:t>M2</a:t>
            </a:r>
            <a:endParaRPr lang="en-US" sz="900" dirty="0"/>
          </a:p>
        </p:txBody>
      </p:sp>
      <p:sp>
        <p:nvSpPr>
          <p:cNvPr id="16" name="Text 11"/>
          <p:cNvSpPr/>
          <p:nvPr/>
        </p:nvSpPr>
        <p:spPr>
          <a:xfrm>
            <a:off x="1143000" y="2391705"/>
            <a:ext cx="3500438" cy="188612"/>
          </a:xfrm>
          <a:prstGeom prst="rect">
            <a:avLst/>
          </a:prstGeom>
          <a:noFill/>
          <a:ln/>
        </p:spPr>
        <p:txBody>
          <a:bodyPr wrap="none" lIns="255143" tIns="0" rIns="255143" bIns="0" rtlCol="0" anchor="t">
            <a:spAutoFit/>
          </a:bodyPr>
          <a:lstStyle/>
          <a:p>
            <a:pPr marL="0" indent="0" algn="l">
              <a:lnSpc>
                <a:spcPts val="1500"/>
              </a:lnSpc>
              <a:buNone/>
            </a:pPr>
            <a:r>
              <a:rPr lang="en-US" sz="900" b="1" dirty="0">
                <a:solidFill>
                  <a:srgbClr val="1F3A3D"/>
                </a:solidFill>
              </a:rPr>
              <a:t>El cuerpo informa (interocepción)</a:t>
            </a:r>
            <a:endParaRPr lang="en-US" sz="900" dirty="0"/>
          </a:p>
        </p:txBody>
      </p:sp>
      <p:pic>
        <p:nvPicPr>
          <p:cNvPr id="17" name="Image 3" descr="preencoded.png"/>
          <p:cNvPicPr>
            <a:picLocks noChangeAspect="1"/>
          </p:cNvPicPr>
          <p:nvPr/>
        </p:nvPicPr>
        <p:blipFill>
          <a:blip r:embed="rId3"/>
          <a:stretch>
            <a:fillRect/>
          </a:stretch>
        </p:blipFill>
        <p:spPr>
          <a:xfrm>
            <a:off x="4782741" y="2400300"/>
            <a:ext cx="150019" cy="171450"/>
          </a:xfrm>
          <a:prstGeom prst="rect">
            <a:avLst/>
          </a:prstGeom>
        </p:spPr>
      </p:pic>
      <p:sp>
        <p:nvSpPr>
          <p:cNvPr id="18" name="Shape 12"/>
          <p:cNvSpPr/>
          <p:nvPr/>
        </p:nvSpPr>
        <p:spPr>
          <a:xfrm>
            <a:off x="5072063" y="2128838"/>
            <a:ext cx="3500438" cy="714375"/>
          </a:xfrm>
          <a:prstGeom prst="rect">
            <a:avLst/>
          </a:prstGeom>
          <a:solidFill>
            <a:srgbClr val="FFF5F2"/>
          </a:solidFill>
          <a:ln/>
        </p:spPr>
        <p:txBody>
          <a:bodyPr/>
          <a:lstStyle/>
          <a:p>
            <a:endParaRPr lang="es-ES"/>
          </a:p>
        </p:txBody>
      </p:sp>
      <p:pic>
        <p:nvPicPr>
          <p:cNvPr id="19" name="Image 4" descr="preencoded.png"/>
          <p:cNvPicPr>
            <a:picLocks noChangeAspect="1"/>
          </p:cNvPicPr>
          <p:nvPr/>
        </p:nvPicPr>
        <p:blipFill>
          <a:blip r:embed="rId5"/>
          <a:stretch>
            <a:fillRect/>
          </a:stretch>
        </p:blipFill>
        <p:spPr>
          <a:xfrm>
            <a:off x="5286375" y="2423154"/>
            <a:ext cx="157163" cy="125741"/>
          </a:xfrm>
          <a:prstGeom prst="rect">
            <a:avLst/>
          </a:prstGeom>
        </p:spPr>
      </p:pic>
      <p:sp>
        <p:nvSpPr>
          <p:cNvPr id="20" name="Text 13"/>
          <p:cNvSpPr/>
          <p:nvPr/>
        </p:nvSpPr>
        <p:spPr>
          <a:xfrm>
            <a:off x="5529263" y="2391705"/>
            <a:ext cx="1961155" cy="188612"/>
          </a:xfrm>
          <a:prstGeom prst="rect">
            <a:avLst/>
          </a:prstGeom>
          <a:noFill/>
          <a:ln/>
        </p:spPr>
        <p:txBody>
          <a:bodyPr wrap="none" lIns="0" tIns="0" rIns="0" bIns="0" rtlCol="0" anchor="t">
            <a:spAutoFit/>
          </a:bodyPr>
          <a:lstStyle/>
          <a:p>
            <a:pPr marL="0" indent="0" algn="l">
              <a:lnSpc>
                <a:spcPts val="1500"/>
              </a:lnSpc>
              <a:buNone/>
            </a:pPr>
            <a:r>
              <a:rPr lang="en-US" sz="900" b="1" dirty="0">
                <a:solidFill>
                  <a:srgbClr val="DC8060"/>
                </a:solidFill>
              </a:rPr>
              <a:t>El estrés desconecta del cuerpo</a:t>
            </a:r>
            <a:endParaRPr lang="en-US" sz="900" dirty="0"/>
          </a:p>
        </p:txBody>
      </p:sp>
      <p:sp>
        <p:nvSpPr>
          <p:cNvPr id="21" name="Shape 14"/>
          <p:cNvSpPr/>
          <p:nvPr/>
        </p:nvSpPr>
        <p:spPr>
          <a:xfrm>
            <a:off x="571500" y="3057525"/>
            <a:ext cx="8001000" cy="714375"/>
          </a:xfrm>
          <a:prstGeom prst="rect">
            <a:avLst/>
          </a:prstGeom>
          <a:solidFill>
            <a:srgbClr val="FFFFFF"/>
          </a:solidFill>
          <a:ln/>
        </p:spPr>
        <p:txBody>
          <a:bodyPr/>
          <a:lstStyle/>
          <a:p>
            <a:endParaRPr lang="es-ES"/>
          </a:p>
        </p:txBody>
      </p:sp>
      <p:sp>
        <p:nvSpPr>
          <p:cNvPr id="22" name="Shape 15"/>
          <p:cNvSpPr/>
          <p:nvPr/>
        </p:nvSpPr>
        <p:spPr>
          <a:xfrm>
            <a:off x="571500" y="3057525"/>
            <a:ext cx="571500" cy="714375"/>
          </a:xfrm>
          <a:prstGeom prst="rect">
            <a:avLst/>
          </a:prstGeom>
          <a:solidFill>
            <a:srgbClr val="A89080"/>
          </a:solidFill>
          <a:ln/>
        </p:spPr>
        <p:txBody>
          <a:bodyPr/>
          <a:lstStyle/>
          <a:p>
            <a:endParaRPr lang="es-ES"/>
          </a:p>
        </p:txBody>
      </p:sp>
      <p:sp>
        <p:nvSpPr>
          <p:cNvPr id="23" name="Text 16"/>
          <p:cNvSpPr/>
          <p:nvPr/>
        </p:nvSpPr>
        <p:spPr>
          <a:xfrm>
            <a:off x="571500" y="3057525"/>
            <a:ext cx="571500" cy="714375"/>
          </a:xfrm>
          <a:prstGeom prst="rect">
            <a:avLst/>
          </a:prstGeom>
          <a:noFill/>
          <a:ln/>
        </p:spPr>
        <p:txBody>
          <a:bodyPr wrap="square" lIns="0" tIns="0" rIns="0" bIns="0" rtlCol="0" anchor="ctr">
            <a:spAutoFit/>
          </a:bodyPr>
          <a:lstStyle/>
          <a:p>
            <a:pPr marL="0" indent="0" algn="ctr">
              <a:lnSpc>
                <a:spcPts val="1600"/>
              </a:lnSpc>
              <a:buNone/>
            </a:pPr>
            <a:r>
              <a:rPr lang="en-US" sz="900" b="1" dirty="0">
                <a:solidFill>
                  <a:srgbClr val="FFFFFF"/>
                </a:solidFill>
              </a:rPr>
              <a:t>M3</a:t>
            </a:r>
            <a:endParaRPr lang="en-US" sz="900" dirty="0"/>
          </a:p>
        </p:txBody>
      </p:sp>
      <p:sp>
        <p:nvSpPr>
          <p:cNvPr id="24" name="Text 17"/>
          <p:cNvSpPr/>
          <p:nvPr/>
        </p:nvSpPr>
        <p:spPr>
          <a:xfrm>
            <a:off x="1143000" y="3320393"/>
            <a:ext cx="3500438" cy="188612"/>
          </a:xfrm>
          <a:prstGeom prst="rect">
            <a:avLst/>
          </a:prstGeom>
          <a:noFill/>
          <a:ln/>
        </p:spPr>
        <p:txBody>
          <a:bodyPr wrap="none" lIns="255143" tIns="0" rIns="255143" bIns="0" rtlCol="0" anchor="t">
            <a:spAutoFit/>
          </a:bodyPr>
          <a:lstStyle/>
          <a:p>
            <a:pPr marL="0" indent="0" algn="l">
              <a:lnSpc>
                <a:spcPts val="1500"/>
              </a:lnSpc>
              <a:buNone/>
            </a:pPr>
            <a:r>
              <a:rPr lang="en-US" sz="900" b="1" dirty="0">
                <a:solidFill>
                  <a:srgbClr val="1F3A3D"/>
                </a:solidFill>
              </a:rPr>
              <a:t>Hay un espacio entre estímulo y respuesta</a:t>
            </a:r>
            <a:endParaRPr lang="en-US" sz="900" dirty="0"/>
          </a:p>
        </p:txBody>
      </p:sp>
      <p:pic>
        <p:nvPicPr>
          <p:cNvPr id="25" name="Image 5" descr="preencoded.png"/>
          <p:cNvPicPr>
            <a:picLocks noChangeAspect="1"/>
          </p:cNvPicPr>
          <p:nvPr/>
        </p:nvPicPr>
        <p:blipFill>
          <a:blip r:embed="rId3"/>
          <a:stretch>
            <a:fillRect/>
          </a:stretch>
        </p:blipFill>
        <p:spPr>
          <a:xfrm>
            <a:off x="4782741" y="3328988"/>
            <a:ext cx="150019" cy="171450"/>
          </a:xfrm>
          <a:prstGeom prst="rect">
            <a:avLst/>
          </a:prstGeom>
        </p:spPr>
      </p:pic>
      <p:sp>
        <p:nvSpPr>
          <p:cNvPr id="26" name="Shape 18"/>
          <p:cNvSpPr/>
          <p:nvPr/>
        </p:nvSpPr>
        <p:spPr>
          <a:xfrm>
            <a:off x="5072063" y="3057525"/>
            <a:ext cx="3500438" cy="714375"/>
          </a:xfrm>
          <a:prstGeom prst="rect">
            <a:avLst/>
          </a:prstGeom>
          <a:solidFill>
            <a:srgbClr val="FFF5F2"/>
          </a:solidFill>
          <a:ln/>
        </p:spPr>
        <p:txBody>
          <a:bodyPr/>
          <a:lstStyle/>
          <a:p>
            <a:endParaRPr lang="es-ES"/>
          </a:p>
        </p:txBody>
      </p:sp>
      <p:pic>
        <p:nvPicPr>
          <p:cNvPr id="27" name="Image 6" descr="preencoded.png"/>
          <p:cNvPicPr>
            <a:picLocks noChangeAspect="1"/>
          </p:cNvPicPr>
          <p:nvPr/>
        </p:nvPicPr>
        <p:blipFill>
          <a:blip r:embed="rId6"/>
          <a:stretch>
            <a:fillRect/>
          </a:stretch>
        </p:blipFill>
        <p:spPr>
          <a:xfrm>
            <a:off x="5286375" y="3351842"/>
            <a:ext cx="125016" cy="125741"/>
          </a:xfrm>
          <a:prstGeom prst="rect">
            <a:avLst/>
          </a:prstGeom>
        </p:spPr>
      </p:pic>
      <p:sp>
        <p:nvSpPr>
          <p:cNvPr id="28" name="Text 19"/>
          <p:cNvSpPr/>
          <p:nvPr/>
        </p:nvSpPr>
        <p:spPr>
          <a:xfrm>
            <a:off x="5497116" y="3320393"/>
            <a:ext cx="1671135" cy="188612"/>
          </a:xfrm>
          <a:prstGeom prst="rect">
            <a:avLst/>
          </a:prstGeom>
          <a:noFill/>
          <a:ln/>
        </p:spPr>
        <p:txBody>
          <a:bodyPr wrap="none" lIns="0" tIns="0" rIns="0" bIns="0" rtlCol="0" anchor="t">
            <a:spAutoFit/>
          </a:bodyPr>
          <a:lstStyle/>
          <a:p>
            <a:pPr marL="0" indent="0" algn="l">
              <a:lnSpc>
                <a:spcPts val="1500"/>
              </a:lnSpc>
              <a:buNone/>
            </a:pPr>
            <a:r>
              <a:rPr lang="en-US" sz="900" b="1" dirty="0">
                <a:solidFill>
                  <a:srgbClr val="DC8060"/>
                </a:solidFill>
              </a:rPr>
              <a:t>El estrés cierra ese espacio</a:t>
            </a:r>
            <a:endParaRPr lang="en-US" sz="900" dirty="0"/>
          </a:p>
        </p:txBody>
      </p:sp>
      <p:sp>
        <p:nvSpPr>
          <p:cNvPr id="29" name="Shape 20"/>
          <p:cNvSpPr/>
          <p:nvPr/>
        </p:nvSpPr>
        <p:spPr>
          <a:xfrm>
            <a:off x="571500" y="4134445"/>
            <a:ext cx="8001000" cy="760809"/>
          </a:xfrm>
          <a:prstGeom prst="rect">
            <a:avLst/>
          </a:prstGeom>
          <a:solidFill>
            <a:srgbClr val="E8F4F4"/>
          </a:solidFill>
          <a:ln/>
        </p:spPr>
        <p:txBody>
          <a:bodyPr/>
          <a:lstStyle/>
          <a:p>
            <a:endParaRPr lang="es-ES"/>
          </a:p>
        </p:txBody>
      </p:sp>
      <p:sp>
        <p:nvSpPr>
          <p:cNvPr id="30" name="Shape 21"/>
          <p:cNvSpPr/>
          <p:nvPr/>
        </p:nvSpPr>
        <p:spPr>
          <a:xfrm>
            <a:off x="571500" y="4157663"/>
            <a:ext cx="28575" cy="760809"/>
          </a:xfrm>
          <a:prstGeom prst="rect">
            <a:avLst/>
          </a:prstGeom>
          <a:solidFill>
            <a:srgbClr val="DC8060"/>
          </a:solidFill>
          <a:ln/>
        </p:spPr>
        <p:txBody>
          <a:bodyPr/>
          <a:lstStyle/>
          <a:p>
            <a:endParaRPr lang="es-ES"/>
          </a:p>
        </p:txBody>
      </p:sp>
      <p:pic>
        <p:nvPicPr>
          <p:cNvPr id="31" name="Image 7" descr="preencoded.png"/>
          <p:cNvPicPr>
            <a:picLocks noChangeAspect="1"/>
          </p:cNvPicPr>
          <p:nvPr/>
        </p:nvPicPr>
        <p:blipFill>
          <a:blip r:embed="rId7"/>
          <a:stretch>
            <a:fillRect/>
          </a:stretch>
        </p:blipFill>
        <p:spPr>
          <a:xfrm>
            <a:off x="742950" y="4357688"/>
            <a:ext cx="171450" cy="228600"/>
          </a:xfrm>
          <a:prstGeom prst="rect">
            <a:avLst/>
          </a:prstGeom>
        </p:spPr>
      </p:pic>
      <p:sp>
        <p:nvSpPr>
          <p:cNvPr id="32" name="Text 22"/>
          <p:cNvSpPr/>
          <p:nvPr/>
        </p:nvSpPr>
        <p:spPr>
          <a:xfrm>
            <a:off x="1057275" y="4239588"/>
            <a:ext cx="5815515" cy="417909"/>
          </a:xfrm>
          <a:prstGeom prst="rect">
            <a:avLst/>
          </a:prstGeom>
          <a:noFill/>
          <a:ln/>
        </p:spPr>
        <p:txBody>
          <a:bodyPr wrap="square" lIns="0" tIns="0" rIns="0" bIns="0" rtlCol="0" anchor="t">
            <a:spAutoFit/>
          </a:bodyPr>
          <a:lstStyle/>
          <a:p>
            <a:pPr marL="0" indent="0" algn="l">
              <a:lnSpc>
                <a:spcPts val="1600"/>
              </a:lnSpc>
              <a:buNone/>
            </a:pPr>
            <a:r>
              <a:rPr lang="en-US" sz="900" b="1" dirty="0">
                <a:solidFill>
                  <a:srgbClr val="1F3A3D"/>
                </a:solidFill>
              </a:rPr>
              <a:t>M4 muestra cómo proteger esas capacidades. 
 </a:t>
            </a:r>
            <a:r>
              <a:rPr lang="en-US" sz="900" dirty="0">
                <a:solidFill>
                  <a:srgbClr val="1F3A3D"/>
                </a:solidFill>
              </a:rPr>
              <a:t>No puedes extender consciencia hacia el otro si tu propia consciencia está colapsada por la presión.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LA PAUSA: MINUTO 2</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Estrechar el foco</a:t>
            </a:r>
            <a:endParaRPr lang="en-US" sz="2200" dirty="0"/>
          </a:p>
        </p:txBody>
      </p:sp>
      <p:sp>
        <p:nvSpPr>
          <p:cNvPr id="5" name="Text 2"/>
          <p:cNvSpPr/>
          <p:nvPr/>
        </p:nvSpPr>
        <p:spPr>
          <a:xfrm>
            <a:off x="510540" y="1378414"/>
            <a:ext cx="910506" cy="923330"/>
          </a:xfrm>
          <a:prstGeom prst="rect">
            <a:avLst/>
          </a:prstGeom>
          <a:noFill/>
          <a:ln/>
        </p:spPr>
        <p:txBody>
          <a:bodyPr wrap="none" lIns="0" tIns="0" rIns="0" bIns="0" rtlCol="0" anchor="t">
            <a:spAutoFit/>
          </a:bodyPr>
          <a:lstStyle/>
          <a:p>
            <a:pPr marL="0" indent="0" algn="l">
              <a:lnSpc>
                <a:spcPts val="7200"/>
              </a:lnSpc>
              <a:buNone/>
            </a:pPr>
            <a:r>
              <a:rPr lang="en-US" sz="6633" b="1" dirty="0">
                <a:solidFill>
                  <a:srgbClr val="1F3A3D">
                    <a:alpha val="10000"/>
                  </a:srgbClr>
                </a:solidFill>
              </a:rPr>
              <a:t>01</a:t>
            </a:r>
            <a:endParaRPr lang="en-US" sz="6633" dirty="0"/>
          </a:p>
        </p:txBody>
      </p:sp>
      <p:sp>
        <p:nvSpPr>
          <p:cNvPr id="6" name="Text 3"/>
          <p:cNvSpPr/>
          <p:nvPr/>
        </p:nvSpPr>
        <p:spPr>
          <a:xfrm>
            <a:off x="571500" y="2311003"/>
            <a:ext cx="2438391" cy="428625"/>
          </a:xfrm>
          <a:prstGeom prst="rect">
            <a:avLst/>
          </a:prstGeom>
          <a:noFill/>
          <a:ln/>
        </p:spPr>
        <p:txBody>
          <a:bodyPr wrap="none" lIns="0" tIns="0" rIns="0" bIns="0" rtlCol="0" anchor="t">
            <a:spAutoFit/>
          </a:bodyPr>
          <a:lstStyle/>
          <a:p>
            <a:pPr marL="0" indent="0" algn="l">
              <a:lnSpc>
                <a:spcPts val="3400"/>
              </a:lnSpc>
              <a:buNone/>
            </a:pPr>
            <a:r>
              <a:rPr lang="en-US" sz="3077" b="1" dirty="0">
                <a:solidFill>
                  <a:srgbClr val="1F3A3D"/>
                </a:solidFill>
              </a:rPr>
              <a:t>REUNIR</a:t>
            </a:r>
            <a:endParaRPr lang="en-US" sz="3077" dirty="0"/>
          </a:p>
        </p:txBody>
      </p:sp>
      <p:sp>
        <p:nvSpPr>
          <p:cNvPr id="7" name="Text 4"/>
          <p:cNvSpPr/>
          <p:nvPr/>
        </p:nvSpPr>
        <p:spPr>
          <a:xfrm>
            <a:off x="571500" y="3082528"/>
            <a:ext cx="2438391" cy="464344"/>
          </a:xfrm>
          <a:prstGeom prst="rect">
            <a:avLst/>
          </a:prstGeom>
          <a:noFill/>
          <a:ln/>
        </p:spPr>
        <p:txBody>
          <a:bodyPr wrap="square" lIns="0" tIns="0" rIns="0" bIns="0" rtlCol="0" anchor="t">
            <a:spAutoFit/>
          </a:bodyPr>
          <a:lstStyle/>
          <a:p>
            <a:pPr marL="0" indent="0" algn="l">
              <a:lnSpc>
                <a:spcPts val="1800"/>
              </a:lnSpc>
              <a:buNone/>
            </a:pPr>
            <a:r>
              <a:rPr lang="en-US" sz="1200" dirty="0">
                <a:solidFill>
                  <a:srgbClr val="1F3A3D"/>
                </a:solidFill>
              </a:rPr>
              <a:t>De la experiencia general a un solo punto de anclaje.</a:t>
            </a:r>
            <a:endParaRPr lang="en-US" sz="1200" dirty="0"/>
          </a:p>
        </p:txBody>
      </p:sp>
      <p:sp>
        <p:nvSpPr>
          <p:cNvPr id="8" name="Shape 5"/>
          <p:cNvSpPr/>
          <p:nvPr/>
        </p:nvSpPr>
        <p:spPr>
          <a:xfrm>
            <a:off x="3352791" y="1143000"/>
            <a:ext cx="5219709" cy="3571875"/>
          </a:xfrm>
          <a:prstGeom prst="rect">
            <a:avLst/>
          </a:prstGeom>
          <a:solidFill>
            <a:srgbClr val="FFFFFF"/>
          </a:solidFill>
          <a:ln/>
        </p:spPr>
        <p:txBody>
          <a:bodyPr/>
          <a:lstStyle/>
          <a:p>
            <a:endParaRPr lang="es-ES"/>
          </a:p>
        </p:txBody>
      </p:sp>
      <p:sp>
        <p:nvSpPr>
          <p:cNvPr id="9" name="Shape 6"/>
          <p:cNvSpPr/>
          <p:nvPr/>
        </p:nvSpPr>
        <p:spPr>
          <a:xfrm>
            <a:off x="3352791" y="1143000"/>
            <a:ext cx="5219709" cy="57150"/>
          </a:xfrm>
          <a:prstGeom prst="rect">
            <a:avLst/>
          </a:prstGeom>
          <a:solidFill>
            <a:srgbClr val="1F3A3D"/>
          </a:solidFill>
          <a:ln/>
        </p:spPr>
        <p:txBody>
          <a:bodyPr/>
          <a:lstStyle/>
          <a:p>
            <a:endParaRPr lang="es-ES"/>
          </a:p>
        </p:txBody>
      </p:sp>
      <p:pic>
        <p:nvPicPr>
          <p:cNvPr id="10" name="Image 1" descr="preencoded.png"/>
          <p:cNvPicPr>
            <a:picLocks noChangeAspect="1"/>
          </p:cNvPicPr>
          <p:nvPr/>
        </p:nvPicPr>
        <p:blipFill>
          <a:blip r:embed="rId4"/>
          <a:stretch>
            <a:fillRect/>
          </a:stretch>
        </p:blipFill>
        <p:spPr>
          <a:xfrm>
            <a:off x="5448281" y="1793081"/>
            <a:ext cx="228600" cy="228600"/>
          </a:xfrm>
          <a:prstGeom prst="rect">
            <a:avLst/>
          </a:prstGeom>
        </p:spPr>
      </p:pic>
      <p:sp>
        <p:nvSpPr>
          <p:cNvPr id="11" name="Shape 7"/>
          <p:cNvSpPr/>
          <p:nvPr/>
        </p:nvSpPr>
        <p:spPr>
          <a:xfrm>
            <a:off x="5748319" y="1693069"/>
            <a:ext cx="428625" cy="428625"/>
          </a:xfrm>
          <a:prstGeom prst="ellipse">
            <a:avLst/>
          </a:prstGeom>
          <a:solidFill>
            <a:srgbClr val="1F3A3D"/>
          </a:solidFill>
          <a:ln/>
        </p:spPr>
        <p:txBody>
          <a:bodyPr/>
          <a:lstStyle/>
          <a:p>
            <a:endParaRPr lang="es-ES"/>
          </a:p>
        </p:txBody>
      </p:sp>
      <p:pic>
        <p:nvPicPr>
          <p:cNvPr id="12" name="Image 2" descr="preencoded.png"/>
          <p:cNvPicPr>
            <a:picLocks noChangeAspect="1"/>
          </p:cNvPicPr>
          <p:nvPr/>
        </p:nvPicPr>
        <p:blipFill>
          <a:blip r:embed="rId5"/>
          <a:stretch>
            <a:fillRect/>
          </a:stretch>
        </p:blipFill>
        <p:spPr>
          <a:xfrm>
            <a:off x="5855475" y="1821656"/>
            <a:ext cx="214313" cy="171450"/>
          </a:xfrm>
          <a:prstGeom prst="rect">
            <a:avLst/>
          </a:prstGeom>
        </p:spPr>
      </p:pic>
      <p:pic>
        <p:nvPicPr>
          <p:cNvPr id="13" name="Image 3" descr="preencoded.png"/>
          <p:cNvPicPr>
            <a:picLocks noChangeAspect="1"/>
          </p:cNvPicPr>
          <p:nvPr/>
        </p:nvPicPr>
        <p:blipFill>
          <a:blip r:embed="rId6"/>
          <a:stretch>
            <a:fillRect/>
          </a:stretch>
        </p:blipFill>
        <p:spPr>
          <a:xfrm>
            <a:off x="6248381" y="1793081"/>
            <a:ext cx="228600" cy="228600"/>
          </a:xfrm>
          <a:prstGeom prst="rect">
            <a:avLst/>
          </a:prstGeom>
        </p:spPr>
      </p:pic>
      <p:sp>
        <p:nvSpPr>
          <p:cNvPr id="14" name="Text 8"/>
          <p:cNvSpPr/>
          <p:nvPr/>
        </p:nvSpPr>
        <p:spPr>
          <a:xfrm>
            <a:off x="3638541" y="2336006"/>
            <a:ext cx="4648209" cy="228600"/>
          </a:xfrm>
          <a:prstGeom prst="rect">
            <a:avLst/>
          </a:prstGeom>
          <a:noFill/>
          <a:ln/>
        </p:spPr>
        <p:txBody>
          <a:bodyPr wrap="none" lIns="0" tIns="0" rIns="0" bIns="0" rtlCol="0" anchor="t">
            <a:spAutoFit/>
          </a:bodyPr>
          <a:lstStyle/>
          <a:p>
            <a:pPr marL="0" indent="0" algn="ctr">
              <a:lnSpc>
                <a:spcPts val="1800"/>
              </a:lnSpc>
              <a:buNone/>
            </a:pPr>
            <a:r>
              <a:rPr lang="en-US" sz="1200" b="1" dirty="0">
                <a:solidFill>
                  <a:srgbClr val="1F3A3D"/>
                </a:solidFill>
              </a:rPr>
              <a:t>Recoge tu atención en la respiración</a:t>
            </a:r>
            <a:endParaRPr lang="en-US" sz="1200" dirty="0"/>
          </a:p>
        </p:txBody>
      </p:sp>
      <p:sp>
        <p:nvSpPr>
          <p:cNvPr id="15" name="Shape 9"/>
          <p:cNvSpPr/>
          <p:nvPr/>
        </p:nvSpPr>
        <p:spPr>
          <a:xfrm>
            <a:off x="3867141" y="2736056"/>
            <a:ext cx="285750" cy="285750"/>
          </a:xfrm>
          <a:prstGeom prst="ellipse">
            <a:avLst/>
          </a:prstGeom>
          <a:solidFill>
            <a:srgbClr val="E8F4F4"/>
          </a:solidFill>
          <a:ln/>
        </p:spPr>
        <p:txBody>
          <a:bodyPr/>
          <a:lstStyle/>
          <a:p>
            <a:endParaRPr lang="es-ES"/>
          </a:p>
        </p:txBody>
      </p:sp>
      <p:sp>
        <p:nvSpPr>
          <p:cNvPr id="16" name="Text 10"/>
          <p:cNvSpPr/>
          <p:nvPr/>
        </p:nvSpPr>
        <p:spPr>
          <a:xfrm>
            <a:off x="3867141" y="2736056"/>
            <a:ext cx="285750" cy="285750"/>
          </a:xfrm>
          <a:prstGeom prst="rect">
            <a:avLst/>
          </a:prstGeom>
          <a:noFill/>
          <a:ln/>
        </p:spPr>
        <p:txBody>
          <a:bodyPr wrap="square" lIns="0" tIns="0" rIns="0" bIns="0" rtlCol="0" anchor="ctr">
            <a:spAutoFit/>
          </a:bodyPr>
          <a:lstStyle/>
          <a:p>
            <a:pPr marL="0" indent="0" algn="ctr">
              <a:lnSpc>
                <a:spcPts val="1400"/>
              </a:lnSpc>
              <a:buNone/>
            </a:pPr>
            <a:r>
              <a:rPr lang="en-US" sz="800" b="1" dirty="0">
                <a:solidFill>
                  <a:srgbClr val="1F3A3D"/>
                </a:solidFill>
              </a:rPr>
              <a:t>1</a:t>
            </a:r>
            <a:endParaRPr lang="en-US" sz="800" dirty="0"/>
          </a:p>
        </p:txBody>
      </p:sp>
      <p:sp>
        <p:nvSpPr>
          <p:cNvPr id="17" name="Text 11"/>
          <p:cNvSpPr/>
          <p:nvPr/>
        </p:nvSpPr>
        <p:spPr>
          <a:xfrm>
            <a:off x="4267191" y="2736056"/>
            <a:ext cx="3790959" cy="400050"/>
          </a:xfrm>
          <a:prstGeom prst="rect">
            <a:avLst/>
          </a:prstGeom>
          <a:noFill/>
          <a:ln/>
        </p:spPr>
        <p:txBody>
          <a:bodyPr wrap="square" lIns="0" tIns="0" rIns="0" bIns="0" rtlCol="0" anchor="t">
            <a:spAutoFit/>
          </a:bodyPr>
          <a:lstStyle/>
          <a:p>
            <a:pPr marL="0" indent="0" algn="l">
              <a:lnSpc>
                <a:spcPts val="1600"/>
              </a:lnSpc>
              <a:buNone/>
            </a:pPr>
            <a:r>
              <a:rPr lang="en-US" sz="900" dirty="0">
                <a:solidFill>
                  <a:srgbClr val="1F3A3D"/>
                </a:solidFill>
              </a:rPr>
              <a:t>Lleva toda tu atención a las sensaciones físicas de la respiración en el abdomen.</a:t>
            </a:r>
            <a:endParaRPr lang="en-US" sz="900" dirty="0"/>
          </a:p>
        </p:txBody>
      </p:sp>
      <p:sp>
        <p:nvSpPr>
          <p:cNvPr id="18" name="Shape 12"/>
          <p:cNvSpPr/>
          <p:nvPr/>
        </p:nvSpPr>
        <p:spPr>
          <a:xfrm>
            <a:off x="3867141" y="3307556"/>
            <a:ext cx="285750" cy="285750"/>
          </a:xfrm>
          <a:prstGeom prst="ellipse">
            <a:avLst/>
          </a:prstGeom>
          <a:solidFill>
            <a:srgbClr val="E8F4F4"/>
          </a:solidFill>
          <a:ln/>
        </p:spPr>
        <p:txBody>
          <a:bodyPr/>
          <a:lstStyle/>
          <a:p>
            <a:endParaRPr lang="es-ES"/>
          </a:p>
        </p:txBody>
      </p:sp>
      <p:sp>
        <p:nvSpPr>
          <p:cNvPr id="19" name="Text 13"/>
          <p:cNvSpPr/>
          <p:nvPr/>
        </p:nvSpPr>
        <p:spPr>
          <a:xfrm>
            <a:off x="3867141" y="3307556"/>
            <a:ext cx="285750" cy="285750"/>
          </a:xfrm>
          <a:prstGeom prst="rect">
            <a:avLst/>
          </a:prstGeom>
          <a:noFill/>
          <a:ln/>
        </p:spPr>
        <p:txBody>
          <a:bodyPr wrap="square" lIns="0" tIns="0" rIns="0" bIns="0" rtlCol="0" anchor="ctr">
            <a:spAutoFit/>
          </a:bodyPr>
          <a:lstStyle/>
          <a:p>
            <a:pPr marL="0" indent="0" algn="ctr">
              <a:lnSpc>
                <a:spcPts val="1400"/>
              </a:lnSpc>
              <a:buNone/>
            </a:pPr>
            <a:r>
              <a:rPr lang="en-US" sz="800" b="1" dirty="0">
                <a:solidFill>
                  <a:srgbClr val="1F3A3D"/>
                </a:solidFill>
              </a:rPr>
              <a:t>2</a:t>
            </a:r>
            <a:endParaRPr lang="en-US" sz="800" dirty="0"/>
          </a:p>
        </p:txBody>
      </p:sp>
      <p:sp>
        <p:nvSpPr>
          <p:cNvPr id="20" name="Text 14"/>
          <p:cNvSpPr/>
          <p:nvPr/>
        </p:nvSpPr>
        <p:spPr>
          <a:xfrm>
            <a:off x="4267191" y="3307556"/>
            <a:ext cx="3715559" cy="200025"/>
          </a:xfrm>
          <a:prstGeom prst="rect">
            <a:avLst/>
          </a:prstGeom>
          <a:noFill/>
          <a:ln/>
        </p:spPr>
        <p:txBody>
          <a:bodyPr wrap="none" lIns="0" tIns="0" rIns="0" bIns="0" rtlCol="0" anchor="t">
            <a:spAutoFit/>
          </a:bodyPr>
          <a:lstStyle/>
          <a:p>
            <a:pPr marL="0" indent="0" algn="l">
              <a:lnSpc>
                <a:spcPts val="1600"/>
              </a:lnSpc>
              <a:buNone/>
            </a:pPr>
            <a:r>
              <a:rPr lang="en-US" sz="900" dirty="0">
                <a:solidFill>
                  <a:srgbClr val="1F3A3D"/>
                </a:solidFill>
              </a:rPr>
              <a:t>Siente cómo se expande al inspirar y cómo se contrae al espirar.</a:t>
            </a:r>
            <a:endParaRPr lang="en-US" sz="900" dirty="0"/>
          </a:p>
        </p:txBody>
      </p:sp>
      <p:sp>
        <p:nvSpPr>
          <p:cNvPr id="21" name="Shape 15"/>
          <p:cNvSpPr/>
          <p:nvPr/>
        </p:nvSpPr>
        <p:spPr>
          <a:xfrm>
            <a:off x="3867141" y="3764756"/>
            <a:ext cx="285750" cy="285750"/>
          </a:xfrm>
          <a:prstGeom prst="ellipse">
            <a:avLst/>
          </a:prstGeom>
          <a:solidFill>
            <a:srgbClr val="E8F4F4"/>
          </a:solidFill>
          <a:ln/>
        </p:spPr>
        <p:txBody>
          <a:bodyPr/>
          <a:lstStyle/>
          <a:p>
            <a:endParaRPr lang="es-ES"/>
          </a:p>
        </p:txBody>
      </p:sp>
      <p:sp>
        <p:nvSpPr>
          <p:cNvPr id="22" name="Text 16"/>
          <p:cNvSpPr/>
          <p:nvPr/>
        </p:nvSpPr>
        <p:spPr>
          <a:xfrm>
            <a:off x="3867141" y="3764756"/>
            <a:ext cx="285750" cy="285750"/>
          </a:xfrm>
          <a:prstGeom prst="rect">
            <a:avLst/>
          </a:prstGeom>
          <a:noFill/>
          <a:ln/>
        </p:spPr>
        <p:txBody>
          <a:bodyPr wrap="square" lIns="0" tIns="0" rIns="0" bIns="0" rtlCol="0" anchor="ctr">
            <a:spAutoFit/>
          </a:bodyPr>
          <a:lstStyle/>
          <a:p>
            <a:pPr marL="0" indent="0" algn="ctr">
              <a:lnSpc>
                <a:spcPts val="1400"/>
              </a:lnSpc>
              <a:buNone/>
            </a:pPr>
            <a:r>
              <a:rPr lang="en-US" sz="800" b="1" dirty="0">
                <a:solidFill>
                  <a:srgbClr val="1F3A3D"/>
                </a:solidFill>
              </a:rPr>
              <a:t>3</a:t>
            </a:r>
            <a:endParaRPr lang="en-US" sz="800" dirty="0"/>
          </a:p>
        </p:txBody>
      </p:sp>
      <p:sp>
        <p:nvSpPr>
          <p:cNvPr id="23" name="Text 17"/>
          <p:cNvSpPr/>
          <p:nvPr/>
        </p:nvSpPr>
        <p:spPr>
          <a:xfrm>
            <a:off x="4267191" y="3764756"/>
            <a:ext cx="3790959" cy="400050"/>
          </a:xfrm>
          <a:prstGeom prst="rect">
            <a:avLst/>
          </a:prstGeom>
          <a:noFill/>
          <a:ln/>
        </p:spPr>
        <p:txBody>
          <a:bodyPr wrap="square" lIns="0" tIns="0" rIns="0" bIns="0" rtlCol="0" anchor="t">
            <a:spAutoFit/>
          </a:bodyPr>
          <a:lstStyle/>
          <a:p>
            <a:pPr marL="0" indent="0" algn="l">
              <a:lnSpc>
                <a:spcPts val="1600"/>
              </a:lnSpc>
              <a:buNone/>
            </a:pPr>
            <a:r>
              <a:rPr lang="en-US" sz="900" dirty="0">
                <a:solidFill>
                  <a:srgbClr val="1F3A3D"/>
                </a:solidFill>
              </a:rPr>
              <a:t>Usa la respiración como un </a:t>
            </a:r>
            <a:r>
              <a:rPr lang="en-US" sz="900" b="1" dirty="0">
                <a:solidFill>
                  <a:srgbClr val="DC8060"/>
                </a:solidFill>
              </a:rPr>
              <a:t>ancla</a:t>
            </a:r>
            <a:r>
              <a:rPr lang="en-US" sz="900" dirty="0">
                <a:solidFill>
                  <a:srgbClr val="1F3A3D"/>
                </a:solidFill>
              </a:rPr>
              <a:t> para mantenerte en el presente.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SÍNTESIS</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Las 3 ideas para llevar</a:t>
            </a:r>
            <a:endParaRPr lang="en-US" sz="2200" dirty="0"/>
          </a:p>
        </p:txBody>
      </p:sp>
      <p:sp>
        <p:nvSpPr>
          <p:cNvPr id="5" name="Shape 2"/>
          <p:cNvSpPr/>
          <p:nvPr/>
        </p:nvSpPr>
        <p:spPr>
          <a:xfrm>
            <a:off x="571500" y="1200150"/>
            <a:ext cx="2476509" cy="3514725"/>
          </a:xfrm>
          <a:prstGeom prst="rect">
            <a:avLst/>
          </a:prstGeom>
          <a:solidFill>
            <a:srgbClr val="FFFFFF"/>
          </a:solidFill>
          <a:ln/>
        </p:spPr>
        <p:txBody>
          <a:bodyPr/>
          <a:lstStyle/>
          <a:p>
            <a:endParaRPr lang="es-ES"/>
          </a:p>
        </p:txBody>
      </p:sp>
      <p:sp>
        <p:nvSpPr>
          <p:cNvPr id="6" name="Shape 3"/>
          <p:cNvSpPr/>
          <p:nvPr/>
        </p:nvSpPr>
        <p:spPr>
          <a:xfrm>
            <a:off x="571500" y="1200150"/>
            <a:ext cx="2476509" cy="42863"/>
          </a:xfrm>
          <a:prstGeom prst="rect">
            <a:avLst/>
          </a:prstGeom>
          <a:solidFill>
            <a:srgbClr val="DC8060"/>
          </a:solidFill>
          <a:ln/>
        </p:spPr>
        <p:txBody>
          <a:bodyPr/>
          <a:lstStyle/>
          <a:p>
            <a:endParaRPr lang="es-ES"/>
          </a:p>
        </p:txBody>
      </p:sp>
      <p:pic>
        <p:nvPicPr>
          <p:cNvPr id="7" name="Image 1" descr="preencoded.png"/>
          <p:cNvPicPr>
            <a:picLocks noChangeAspect="1"/>
          </p:cNvPicPr>
          <p:nvPr/>
        </p:nvPicPr>
        <p:blipFill>
          <a:blip r:embed="rId3"/>
          <a:stretch>
            <a:fillRect/>
          </a:stretch>
        </p:blipFill>
        <p:spPr>
          <a:xfrm>
            <a:off x="785813" y="1414463"/>
            <a:ext cx="250031" cy="285750"/>
          </a:xfrm>
          <a:prstGeom prst="rect">
            <a:avLst/>
          </a:prstGeom>
        </p:spPr>
      </p:pic>
      <p:sp>
        <p:nvSpPr>
          <p:cNvPr id="8" name="Text 4"/>
          <p:cNvSpPr/>
          <p:nvPr/>
        </p:nvSpPr>
        <p:spPr>
          <a:xfrm>
            <a:off x="2305171" y="1414463"/>
            <a:ext cx="528526"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DC8060">
                    <a:alpha val="20000"/>
                  </a:srgbClr>
                </a:solidFill>
              </a:rPr>
              <a:t>01</a:t>
            </a:r>
            <a:endParaRPr lang="en-US" sz="3294" dirty="0"/>
          </a:p>
        </p:txBody>
      </p:sp>
      <p:sp>
        <p:nvSpPr>
          <p:cNvPr id="9" name="Text 5"/>
          <p:cNvSpPr/>
          <p:nvPr/>
        </p:nvSpPr>
        <p:spPr>
          <a:xfrm>
            <a:off x="785813" y="2014538"/>
            <a:ext cx="2047884" cy="457200"/>
          </a:xfrm>
          <a:prstGeom prst="rect">
            <a:avLst/>
          </a:prstGeom>
          <a:noFill/>
          <a:ln/>
        </p:spPr>
        <p:txBody>
          <a:bodyPr wrap="square" lIns="0" tIns="0" rIns="0" bIns="0" rtlCol="0" anchor="t">
            <a:spAutoFit/>
          </a:bodyPr>
          <a:lstStyle/>
          <a:p>
            <a:pPr marL="0" indent="0" algn="l">
              <a:lnSpc>
                <a:spcPts val="1800"/>
              </a:lnSpc>
              <a:buNone/>
            </a:pPr>
            <a:r>
              <a:rPr lang="en-US" sz="1200" b="1" dirty="0">
                <a:solidFill>
                  <a:srgbClr val="1F3A3D"/>
                </a:solidFill>
              </a:rPr>
              <a:t>El estrés es físico, no solo mental</a:t>
            </a:r>
            <a:endParaRPr lang="en-US" sz="1200" dirty="0"/>
          </a:p>
        </p:txBody>
      </p:sp>
      <p:sp>
        <p:nvSpPr>
          <p:cNvPr id="10" name="Text 6"/>
          <p:cNvSpPr/>
          <p:nvPr/>
        </p:nvSpPr>
        <p:spPr>
          <a:xfrm>
            <a:off x="785813" y="2586038"/>
            <a:ext cx="2047884" cy="928688"/>
          </a:xfrm>
          <a:prstGeom prst="rect">
            <a:avLst/>
          </a:prstGeom>
          <a:noFill/>
          <a:ln/>
        </p:spPr>
        <p:txBody>
          <a:bodyPr wrap="square" lIns="0" tIns="0" rIns="0" bIns="0" rtlCol="0" anchor="t">
            <a:spAutoFit/>
          </a:bodyPr>
          <a:lstStyle/>
          <a:p>
            <a:pPr marL="0" indent="0" algn="l">
              <a:lnSpc>
                <a:spcPts val="1500"/>
              </a:lnSpc>
              <a:buNone/>
            </a:pPr>
            <a:r>
              <a:rPr lang="en-US" sz="900" dirty="0">
                <a:solidFill>
                  <a:srgbClr val="4B5563"/>
                </a:solidFill>
              </a:rPr>
              <a:t>No puedes "pensar" tu salida del estrés. Necesitas completar el ciclo fisiológico a través del cuerpo: movimiento, respiración o conexión social.</a:t>
            </a:r>
            <a:endParaRPr lang="en-US" sz="900" dirty="0"/>
          </a:p>
        </p:txBody>
      </p:sp>
      <p:sp>
        <p:nvSpPr>
          <p:cNvPr id="11" name="Shape 7"/>
          <p:cNvSpPr/>
          <p:nvPr/>
        </p:nvSpPr>
        <p:spPr>
          <a:xfrm>
            <a:off x="3333759" y="1200150"/>
            <a:ext cx="2476509" cy="3514725"/>
          </a:xfrm>
          <a:prstGeom prst="rect">
            <a:avLst/>
          </a:prstGeom>
          <a:solidFill>
            <a:srgbClr val="FFFFFF"/>
          </a:solidFill>
          <a:ln/>
        </p:spPr>
        <p:txBody>
          <a:bodyPr/>
          <a:lstStyle/>
          <a:p>
            <a:endParaRPr lang="es-ES"/>
          </a:p>
        </p:txBody>
      </p:sp>
      <p:sp>
        <p:nvSpPr>
          <p:cNvPr id="12" name="Shape 8"/>
          <p:cNvSpPr/>
          <p:nvPr/>
        </p:nvSpPr>
        <p:spPr>
          <a:xfrm>
            <a:off x="3333759" y="1200150"/>
            <a:ext cx="2476509" cy="42863"/>
          </a:xfrm>
          <a:prstGeom prst="rect">
            <a:avLst/>
          </a:prstGeom>
          <a:solidFill>
            <a:srgbClr val="1F3A3D"/>
          </a:solidFill>
          <a:ln/>
        </p:spPr>
        <p:txBody>
          <a:bodyPr/>
          <a:lstStyle/>
          <a:p>
            <a:endParaRPr lang="es-ES"/>
          </a:p>
        </p:txBody>
      </p:sp>
      <p:pic>
        <p:nvPicPr>
          <p:cNvPr id="13" name="Image 2" descr="preencoded.png"/>
          <p:cNvPicPr>
            <a:picLocks noChangeAspect="1"/>
          </p:cNvPicPr>
          <p:nvPr/>
        </p:nvPicPr>
        <p:blipFill>
          <a:blip r:embed="rId4"/>
          <a:stretch>
            <a:fillRect/>
          </a:stretch>
        </p:blipFill>
        <p:spPr>
          <a:xfrm>
            <a:off x="3548072" y="1414463"/>
            <a:ext cx="321469" cy="285750"/>
          </a:xfrm>
          <a:prstGeom prst="rect">
            <a:avLst/>
          </a:prstGeom>
        </p:spPr>
      </p:pic>
      <p:sp>
        <p:nvSpPr>
          <p:cNvPr id="14" name="Text 9"/>
          <p:cNvSpPr/>
          <p:nvPr/>
        </p:nvSpPr>
        <p:spPr>
          <a:xfrm>
            <a:off x="5067430" y="1414463"/>
            <a:ext cx="528526"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1F3A3D">
                    <a:alpha val="20000"/>
                  </a:srgbClr>
                </a:solidFill>
              </a:rPr>
              <a:t>02</a:t>
            </a:r>
            <a:endParaRPr lang="en-US" sz="3294" dirty="0"/>
          </a:p>
        </p:txBody>
      </p:sp>
      <p:sp>
        <p:nvSpPr>
          <p:cNvPr id="15" name="Text 10"/>
          <p:cNvSpPr/>
          <p:nvPr/>
        </p:nvSpPr>
        <p:spPr>
          <a:xfrm>
            <a:off x="3548072" y="2014538"/>
            <a:ext cx="2047884" cy="457200"/>
          </a:xfrm>
          <a:prstGeom prst="rect">
            <a:avLst/>
          </a:prstGeom>
          <a:noFill/>
          <a:ln/>
        </p:spPr>
        <p:txBody>
          <a:bodyPr wrap="square" lIns="0" tIns="0" rIns="0" bIns="0" rtlCol="0" anchor="t">
            <a:spAutoFit/>
          </a:bodyPr>
          <a:lstStyle/>
          <a:p>
            <a:pPr marL="0" indent="0" algn="l">
              <a:lnSpc>
                <a:spcPts val="1800"/>
              </a:lnSpc>
              <a:buNone/>
            </a:pPr>
            <a:r>
              <a:rPr lang="en-US" sz="1200" b="1" dirty="0">
                <a:solidFill>
                  <a:srgbClr val="1F3A3D"/>
                </a:solidFill>
              </a:rPr>
              <a:t>Lo que resistes, persiste</a:t>
            </a:r>
            <a:endParaRPr lang="en-US" sz="1200" dirty="0"/>
          </a:p>
        </p:txBody>
      </p:sp>
      <p:sp>
        <p:nvSpPr>
          <p:cNvPr id="16" name="Text 11"/>
          <p:cNvSpPr/>
          <p:nvPr/>
        </p:nvSpPr>
        <p:spPr>
          <a:xfrm>
            <a:off x="3548072" y="2586038"/>
            <a:ext cx="2047884" cy="742950"/>
          </a:xfrm>
          <a:prstGeom prst="rect">
            <a:avLst/>
          </a:prstGeom>
          <a:noFill/>
          <a:ln/>
        </p:spPr>
        <p:txBody>
          <a:bodyPr wrap="square" lIns="0" tIns="0" rIns="0" bIns="0" rtlCol="0" anchor="t">
            <a:spAutoFit/>
          </a:bodyPr>
          <a:lstStyle/>
          <a:p>
            <a:pPr marL="0" indent="0" algn="l">
              <a:lnSpc>
                <a:spcPts val="1500"/>
              </a:lnSpc>
              <a:buNone/>
            </a:pPr>
            <a:r>
              <a:rPr lang="en-US" sz="900" dirty="0">
                <a:solidFill>
                  <a:srgbClr val="4B5563"/>
                </a:solidFill>
              </a:rPr>
              <a:t>Luchar contra el malestar consume energía y lo amplifica. La aceptación radical es el primer paso paradójico para recuperar el equilibrio.</a:t>
            </a:r>
            <a:endParaRPr lang="en-US" sz="900" dirty="0"/>
          </a:p>
        </p:txBody>
      </p:sp>
      <p:sp>
        <p:nvSpPr>
          <p:cNvPr id="17" name="Shape 12"/>
          <p:cNvSpPr/>
          <p:nvPr/>
        </p:nvSpPr>
        <p:spPr>
          <a:xfrm>
            <a:off x="6096019" y="1200150"/>
            <a:ext cx="2476509" cy="3514725"/>
          </a:xfrm>
          <a:prstGeom prst="rect">
            <a:avLst/>
          </a:prstGeom>
          <a:solidFill>
            <a:srgbClr val="FFFFFF"/>
          </a:solidFill>
          <a:ln/>
        </p:spPr>
        <p:txBody>
          <a:bodyPr/>
          <a:lstStyle/>
          <a:p>
            <a:endParaRPr lang="es-ES"/>
          </a:p>
        </p:txBody>
      </p:sp>
      <p:sp>
        <p:nvSpPr>
          <p:cNvPr id="18" name="Shape 13"/>
          <p:cNvSpPr/>
          <p:nvPr/>
        </p:nvSpPr>
        <p:spPr>
          <a:xfrm>
            <a:off x="6096019" y="1200150"/>
            <a:ext cx="2476509" cy="42863"/>
          </a:xfrm>
          <a:prstGeom prst="rect">
            <a:avLst/>
          </a:prstGeom>
          <a:solidFill>
            <a:srgbClr val="DC8060"/>
          </a:solidFill>
          <a:ln/>
        </p:spPr>
        <p:txBody>
          <a:bodyPr/>
          <a:lstStyle/>
          <a:p>
            <a:endParaRPr lang="es-ES"/>
          </a:p>
        </p:txBody>
      </p:sp>
      <p:pic>
        <p:nvPicPr>
          <p:cNvPr id="19" name="Image 3" descr="preencoded.png"/>
          <p:cNvPicPr>
            <a:picLocks noChangeAspect="1"/>
          </p:cNvPicPr>
          <p:nvPr/>
        </p:nvPicPr>
        <p:blipFill>
          <a:blip r:embed="rId5"/>
          <a:stretch>
            <a:fillRect/>
          </a:stretch>
        </p:blipFill>
        <p:spPr>
          <a:xfrm>
            <a:off x="6310331" y="1414463"/>
            <a:ext cx="285750" cy="285750"/>
          </a:xfrm>
          <a:prstGeom prst="rect">
            <a:avLst/>
          </a:prstGeom>
        </p:spPr>
      </p:pic>
      <p:sp>
        <p:nvSpPr>
          <p:cNvPr id="20" name="Text 14"/>
          <p:cNvSpPr/>
          <p:nvPr/>
        </p:nvSpPr>
        <p:spPr>
          <a:xfrm>
            <a:off x="7829690" y="1414463"/>
            <a:ext cx="528526"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DC8060">
                    <a:alpha val="20000"/>
                  </a:srgbClr>
                </a:solidFill>
              </a:rPr>
              <a:t>03</a:t>
            </a:r>
            <a:endParaRPr lang="en-US" sz="3294" dirty="0"/>
          </a:p>
        </p:txBody>
      </p:sp>
      <p:sp>
        <p:nvSpPr>
          <p:cNvPr id="21" name="Text 15"/>
          <p:cNvSpPr/>
          <p:nvPr/>
        </p:nvSpPr>
        <p:spPr>
          <a:xfrm>
            <a:off x="6310331" y="2014538"/>
            <a:ext cx="2047884" cy="457200"/>
          </a:xfrm>
          <a:prstGeom prst="rect">
            <a:avLst/>
          </a:prstGeom>
          <a:noFill/>
          <a:ln/>
        </p:spPr>
        <p:txBody>
          <a:bodyPr wrap="square" lIns="0" tIns="0" rIns="0" bIns="0" rtlCol="0" anchor="t">
            <a:spAutoFit/>
          </a:bodyPr>
          <a:lstStyle/>
          <a:p>
            <a:pPr marL="0" indent="0" algn="l">
              <a:lnSpc>
                <a:spcPts val="1800"/>
              </a:lnSpc>
              <a:buNone/>
            </a:pPr>
            <a:r>
              <a:rPr lang="en-US" sz="1200" b="1" dirty="0">
                <a:solidFill>
                  <a:srgbClr val="1F3A3D"/>
                </a:solidFill>
              </a:rPr>
              <a:t>La pausa cambia tu cerebro</a:t>
            </a:r>
            <a:endParaRPr lang="en-US" sz="1200" dirty="0"/>
          </a:p>
        </p:txBody>
      </p:sp>
      <p:sp>
        <p:nvSpPr>
          <p:cNvPr id="22" name="Text 16"/>
          <p:cNvSpPr/>
          <p:nvPr/>
        </p:nvSpPr>
        <p:spPr>
          <a:xfrm>
            <a:off x="6310331" y="2586038"/>
            <a:ext cx="2047884" cy="742950"/>
          </a:xfrm>
          <a:prstGeom prst="rect">
            <a:avLst/>
          </a:prstGeom>
          <a:noFill/>
          <a:ln/>
        </p:spPr>
        <p:txBody>
          <a:bodyPr wrap="square" lIns="0" tIns="0" rIns="0" bIns="0" rtlCol="0" anchor="t">
            <a:spAutoFit/>
          </a:bodyPr>
          <a:lstStyle/>
          <a:p>
            <a:pPr marL="0" indent="0" algn="l">
              <a:lnSpc>
                <a:spcPts val="1500"/>
              </a:lnSpc>
              <a:buNone/>
            </a:pPr>
            <a:r>
              <a:rPr lang="en-US" sz="900" dirty="0">
                <a:solidFill>
                  <a:srgbClr val="4B5563"/>
                </a:solidFill>
              </a:rPr>
              <a:t>Detenerte 3 minutos no es perder el tiempo; es recablear tu sistema nervioso para pasar de la reacción automática a la respuesta consciente.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0"/>
          <p:cNvSpPr/>
          <p:nvPr/>
        </p:nvSpPr>
        <p:spPr>
          <a:xfrm>
            <a:off x="3389542" y="428625"/>
            <a:ext cx="2364916" cy="142875"/>
          </a:xfrm>
          <a:prstGeom prst="rect">
            <a:avLst/>
          </a:prstGeom>
          <a:noFill/>
          <a:ln/>
        </p:spPr>
        <p:txBody>
          <a:bodyPr wrap="none" lIns="0" tIns="0" rIns="0" bIns="0" rtlCol="0" anchor="t">
            <a:spAutoFit/>
          </a:bodyPr>
          <a:lstStyle/>
          <a:p>
            <a:pPr marL="0" indent="0" algn="ctr">
              <a:lnSpc>
                <a:spcPts val="1100"/>
              </a:lnSpc>
              <a:buNone/>
            </a:pPr>
            <a:r>
              <a:rPr lang="en-US" sz="1000" b="1" kern="0" spc="2" dirty="0">
                <a:solidFill>
                  <a:srgbClr val="DC8060"/>
                </a:solidFill>
              </a:rPr>
              <a:t>EL MANIFIESTO DEL LÍDER SEMILLA</a:t>
            </a:r>
            <a:endParaRPr lang="en-US" sz="1000" dirty="0"/>
          </a:p>
        </p:txBody>
      </p:sp>
      <p:sp>
        <p:nvSpPr>
          <p:cNvPr id="4" name="Shape 1"/>
          <p:cNvSpPr/>
          <p:nvPr/>
        </p:nvSpPr>
        <p:spPr>
          <a:xfrm>
            <a:off x="4143375" y="800100"/>
            <a:ext cx="857250" cy="857250"/>
          </a:xfrm>
          <a:prstGeom prst="ellipse">
            <a:avLst/>
          </a:prstGeom>
          <a:solidFill>
            <a:srgbClr val="E8F4F4"/>
          </a:solidFill>
          <a:ln w="27432">
            <a:solidFill>
              <a:srgbClr val="1F3A3D"/>
            </a:solidFill>
            <a:prstDash val="solid"/>
          </a:ln>
        </p:spPr>
        <p:txBody>
          <a:bodyPr/>
          <a:lstStyle/>
          <a:p>
            <a:endParaRPr lang="es-ES"/>
          </a:p>
        </p:txBody>
      </p:sp>
      <p:pic>
        <p:nvPicPr>
          <p:cNvPr id="5" name="Image 1" descr="preencoded.png"/>
          <p:cNvPicPr>
            <a:picLocks noChangeAspect="1"/>
          </p:cNvPicPr>
          <p:nvPr/>
        </p:nvPicPr>
        <p:blipFill>
          <a:blip r:embed="rId3"/>
          <a:stretch>
            <a:fillRect/>
          </a:stretch>
        </p:blipFill>
        <p:spPr>
          <a:xfrm>
            <a:off x="4286250" y="1000125"/>
            <a:ext cx="571500" cy="457200"/>
          </a:xfrm>
          <a:prstGeom prst="rect">
            <a:avLst/>
          </a:prstGeom>
        </p:spPr>
      </p:pic>
      <p:sp>
        <p:nvSpPr>
          <p:cNvPr id="6" name="Text 2"/>
          <p:cNvSpPr/>
          <p:nvPr/>
        </p:nvSpPr>
        <p:spPr>
          <a:xfrm>
            <a:off x="2506159" y="2038444"/>
            <a:ext cx="4138826" cy="428625"/>
          </a:xfrm>
          <a:prstGeom prst="rect">
            <a:avLst/>
          </a:prstGeom>
          <a:noFill/>
          <a:ln/>
        </p:spPr>
        <p:txBody>
          <a:bodyPr wrap="none" lIns="0" tIns="0" rIns="0" bIns="0" rtlCol="0" anchor="t">
            <a:spAutoFit/>
          </a:bodyPr>
          <a:lstStyle/>
          <a:p>
            <a:pPr marL="0" indent="0" algn="ctr">
              <a:lnSpc>
                <a:spcPts val="3400"/>
              </a:lnSpc>
              <a:buNone/>
            </a:pPr>
            <a:r>
              <a:rPr lang="en-US" sz="3077" b="1" dirty="0">
                <a:solidFill>
                  <a:srgbClr val="DC8060"/>
                </a:solidFill>
              </a:rPr>
              <a:t>4.</a:t>
            </a:r>
            <a:r>
              <a:rPr lang="en-US" sz="3077" b="1" dirty="0">
                <a:solidFill>
                  <a:srgbClr val="1F3A3D"/>
                </a:solidFill>
              </a:rPr>
              <a:t> SOSTENIBILIDAD</a:t>
            </a:r>
            <a:endParaRPr lang="en-US" sz="3077" dirty="0"/>
          </a:p>
        </p:txBody>
      </p:sp>
      <p:sp>
        <p:nvSpPr>
          <p:cNvPr id="7" name="Text 3"/>
          <p:cNvSpPr/>
          <p:nvPr/>
        </p:nvSpPr>
        <p:spPr>
          <a:xfrm>
            <a:off x="1853596" y="2704607"/>
            <a:ext cx="5738269" cy="533929"/>
          </a:xfrm>
          <a:prstGeom prst="rect">
            <a:avLst/>
          </a:prstGeom>
          <a:noFill/>
          <a:ln/>
        </p:spPr>
        <p:txBody>
          <a:bodyPr wrap="square" lIns="0" tIns="0" rIns="0" bIns="0" rtlCol="0" anchor="t">
            <a:spAutoFit/>
          </a:bodyPr>
          <a:lstStyle/>
          <a:p>
            <a:pPr marL="0" indent="0" algn="ctr">
              <a:lnSpc>
                <a:spcPts val="2200"/>
              </a:lnSpc>
              <a:buNone/>
            </a:pPr>
            <a:r>
              <a:rPr lang="en-US" sz="1200" dirty="0">
                <a:solidFill>
                  <a:srgbClr val="1F3A3D"/>
                </a:solidFill>
              </a:rPr>
              <a:t>"La capacidad de mantener el impacto y el rendimiento en el tiempo, 
 </a:t>
            </a:r>
            <a:r>
              <a:rPr lang="en-US" sz="1200" b="1" dirty="0">
                <a:solidFill>
                  <a:srgbClr val="1F3A3D"/>
                </a:solidFill>
              </a:rPr>
              <a:t>sin comprometer la propia salud ni la del ecosistema.</a:t>
            </a:r>
            <a:r>
              <a:rPr lang="en-US" sz="1200" dirty="0">
                <a:solidFill>
                  <a:srgbClr val="1F3A3D"/>
                </a:solidFill>
              </a:rPr>
              <a:t>"</a:t>
            </a:r>
            <a:endParaRPr lang="en-US" sz="1200" dirty="0"/>
          </a:p>
        </p:txBody>
      </p:sp>
      <p:sp>
        <p:nvSpPr>
          <p:cNvPr id="8" name="Shape 4"/>
          <p:cNvSpPr/>
          <p:nvPr/>
        </p:nvSpPr>
        <p:spPr>
          <a:xfrm>
            <a:off x="1357313" y="3703337"/>
            <a:ext cx="6429375" cy="1011538"/>
          </a:xfrm>
          <a:prstGeom prst="rect">
            <a:avLst/>
          </a:prstGeom>
          <a:solidFill>
            <a:srgbClr val="000000">
              <a:alpha val="0"/>
            </a:srgbClr>
          </a:solidFill>
          <a:ln w="18288">
            <a:solidFill>
              <a:srgbClr val="E5E7EB"/>
            </a:solidFill>
            <a:prstDash val="solid"/>
          </a:ln>
        </p:spPr>
        <p:txBody>
          <a:bodyPr/>
          <a:lstStyle/>
          <a:p>
            <a:endParaRPr lang="es-ES"/>
          </a:p>
        </p:txBody>
      </p:sp>
      <p:sp>
        <p:nvSpPr>
          <p:cNvPr id="9" name="Shape 5"/>
          <p:cNvSpPr/>
          <p:nvPr/>
        </p:nvSpPr>
        <p:spPr>
          <a:xfrm>
            <a:off x="1357313" y="3731912"/>
            <a:ext cx="3218259" cy="982963"/>
          </a:xfrm>
          <a:prstGeom prst="rect">
            <a:avLst/>
          </a:prstGeom>
          <a:solidFill>
            <a:srgbClr val="FFF5F2"/>
          </a:solidFill>
          <a:ln/>
        </p:spPr>
        <p:txBody>
          <a:bodyPr/>
          <a:lstStyle/>
          <a:p>
            <a:endParaRPr lang="es-ES"/>
          </a:p>
        </p:txBody>
      </p:sp>
      <p:sp>
        <p:nvSpPr>
          <p:cNvPr id="10" name="Shape 6"/>
          <p:cNvSpPr/>
          <p:nvPr/>
        </p:nvSpPr>
        <p:spPr>
          <a:xfrm>
            <a:off x="4568428" y="3731912"/>
            <a:ext cx="7144" cy="982963"/>
          </a:xfrm>
          <a:prstGeom prst="rect">
            <a:avLst/>
          </a:prstGeom>
          <a:solidFill>
            <a:srgbClr val="E5E7EB"/>
          </a:solidFill>
          <a:ln/>
        </p:spPr>
        <p:txBody>
          <a:bodyPr/>
          <a:lstStyle/>
          <a:p>
            <a:endParaRPr lang="es-ES"/>
          </a:p>
        </p:txBody>
      </p:sp>
      <p:pic>
        <p:nvPicPr>
          <p:cNvPr id="11" name="Image 2" descr="preencoded.png"/>
          <p:cNvPicPr>
            <a:picLocks noChangeAspect="1"/>
          </p:cNvPicPr>
          <p:nvPr/>
        </p:nvPicPr>
        <p:blipFill>
          <a:blip r:embed="rId4"/>
          <a:stretch>
            <a:fillRect/>
          </a:stretch>
        </p:blipFill>
        <p:spPr>
          <a:xfrm>
            <a:off x="2467440" y="3937295"/>
            <a:ext cx="113881" cy="102859"/>
          </a:xfrm>
          <a:prstGeom prst="rect">
            <a:avLst/>
          </a:prstGeom>
        </p:spPr>
      </p:pic>
      <p:sp>
        <p:nvSpPr>
          <p:cNvPr id="12" name="Text 7"/>
          <p:cNvSpPr/>
          <p:nvPr/>
        </p:nvSpPr>
        <p:spPr>
          <a:xfrm>
            <a:off x="2638472" y="3915863"/>
            <a:ext cx="823401" cy="141089"/>
          </a:xfrm>
          <a:prstGeom prst="rect">
            <a:avLst/>
          </a:prstGeom>
          <a:noFill/>
          <a:ln/>
        </p:spPr>
        <p:txBody>
          <a:bodyPr wrap="none" lIns="0" tIns="0" rIns="0" bIns="0" rtlCol="0" anchor="t">
            <a:spAutoFit/>
          </a:bodyPr>
          <a:lstStyle/>
          <a:p>
            <a:pPr marL="0" indent="0" algn="ctr">
              <a:lnSpc>
                <a:spcPts val="1200"/>
              </a:lnSpc>
              <a:buNone/>
            </a:pPr>
            <a:r>
              <a:rPr lang="en-US" sz="800" b="1" kern="0" spc="1" dirty="0">
                <a:solidFill>
                  <a:srgbClr val="DC8060"/>
                </a:solidFill>
              </a:rPr>
              <a:t>Líder Héroe</a:t>
            </a:r>
            <a:endParaRPr lang="en-US" sz="800" dirty="0"/>
          </a:p>
        </p:txBody>
      </p:sp>
      <p:sp>
        <p:nvSpPr>
          <p:cNvPr id="13" name="Text 8"/>
          <p:cNvSpPr/>
          <p:nvPr/>
        </p:nvSpPr>
        <p:spPr>
          <a:xfrm>
            <a:off x="2622593" y="4136231"/>
            <a:ext cx="684098" cy="200025"/>
          </a:xfrm>
          <a:prstGeom prst="rect">
            <a:avLst/>
          </a:prstGeom>
          <a:noFill/>
          <a:ln/>
        </p:spPr>
        <p:txBody>
          <a:bodyPr wrap="none" lIns="0" tIns="0" rIns="0" bIns="0" rtlCol="0" anchor="t">
            <a:spAutoFit/>
          </a:bodyPr>
          <a:lstStyle/>
          <a:p>
            <a:pPr marL="0" indent="0" algn="ctr">
              <a:lnSpc>
                <a:spcPts val="1600"/>
              </a:lnSpc>
              <a:buNone/>
            </a:pPr>
            <a:r>
              <a:rPr lang="en-US" sz="800" b="1" dirty="0">
                <a:solidFill>
                  <a:srgbClr val="DC8060"/>
                </a:solidFill>
              </a:rPr>
              <a:t>Se sacrifica</a:t>
            </a:r>
            <a:endParaRPr lang="en-US" sz="900" dirty="0"/>
          </a:p>
        </p:txBody>
      </p:sp>
      <p:sp>
        <p:nvSpPr>
          <p:cNvPr id="14" name="Text 9"/>
          <p:cNvSpPr/>
          <p:nvPr/>
        </p:nvSpPr>
        <p:spPr>
          <a:xfrm>
            <a:off x="2101881" y="4393406"/>
            <a:ext cx="1725523" cy="142875"/>
          </a:xfrm>
          <a:prstGeom prst="rect">
            <a:avLst/>
          </a:prstGeom>
          <a:noFill/>
          <a:ln/>
        </p:spPr>
        <p:txBody>
          <a:bodyPr wrap="none" lIns="0" tIns="0" rIns="0" bIns="0" rtlCol="0" anchor="t">
            <a:spAutoFit/>
          </a:bodyPr>
          <a:lstStyle/>
          <a:p>
            <a:pPr marL="0" indent="0" algn="ctr">
              <a:lnSpc>
                <a:spcPts val="1100"/>
              </a:lnSpc>
              <a:buNone/>
            </a:pPr>
            <a:r>
              <a:rPr lang="en-US" sz="800" dirty="0">
                <a:solidFill>
                  <a:srgbClr val="DC8060">
                    <a:alpha val="80000"/>
                  </a:srgbClr>
                </a:solidFill>
              </a:rPr>
              <a:t>"Quemar la vela por ambos extremos"</a:t>
            </a:r>
            <a:endParaRPr lang="en-US" sz="800" dirty="0"/>
          </a:p>
        </p:txBody>
      </p:sp>
      <p:sp>
        <p:nvSpPr>
          <p:cNvPr id="15" name="Shape 10"/>
          <p:cNvSpPr/>
          <p:nvPr/>
        </p:nvSpPr>
        <p:spPr>
          <a:xfrm>
            <a:off x="4572000" y="3731912"/>
            <a:ext cx="3214688" cy="982963"/>
          </a:xfrm>
          <a:prstGeom prst="rect">
            <a:avLst/>
          </a:prstGeom>
          <a:solidFill>
            <a:srgbClr val="F0F7F7"/>
          </a:solidFill>
          <a:ln/>
        </p:spPr>
        <p:txBody>
          <a:bodyPr/>
          <a:lstStyle/>
          <a:p>
            <a:endParaRPr lang="es-ES"/>
          </a:p>
        </p:txBody>
      </p:sp>
      <p:pic>
        <p:nvPicPr>
          <p:cNvPr id="16" name="Image 3" descr="preencoded.png"/>
          <p:cNvPicPr>
            <a:picLocks noChangeAspect="1"/>
          </p:cNvPicPr>
          <p:nvPr/>
        </p:nvPicPr>
        <p:blipFill>
          <a:blip r:embed="rId5"/>
          <a:stretch>
            <a:fillRect/>
          </a:stretch>
        </p:blipFill>
        <p:spPr>
          <a:xfrm>
            <a:off x="5620457" y="3937295"/>
            <a:ext cx="113881" cy="102859"/>
          </a:xfrm>
          <a:prstGeom prst="rect">
            <a:avLst/>
          </a:prstGeom>
        </p:spPr>
      </p:pic>
      <p:sp>
        <p:nvSpPr>
          <p:cNvPr id="17" name="Text 11"/>
          <p:cNvSpPr/>
          <p:nvPr/>
        </p:nvSpPr>
        <p:spPr>
          <a:xfrm>
            <a:off x="5791488" y="3915863"/>
            <a:ext cx="946742" cy="141089"/>
          </a:xfrm>
          <a:prstGeom prst="rect">
            <a:avLst/>
          </a:prstGeom>
          <a:noFill/>
          <a:ln/>
        </p:spPr>
        <p:txBody>
          <a:bodyPr wrap="none" lIns="0" tIns="0" rIns="0" bIns="0" rtlCol="0" anchor="t">
            <a:spAutoFit/>
          </a:bodyPr>
          <a:lstStyle/>
          <a:p>
            <a:pPr marL="0" indent="0" algn="ctr">
              <a:lnSpc>
                <a:spcPts val="1200"/>
              </a:lnSpc>
              <a:buNone/>
            </a:pPr>
            <a:r>
              <a:rPr lang="en-US" sz="800" b="1" kern="0" spc="1" dirty="0">
                <a:solidFill>
                  <a:srgbClr val="1F3A3D"/>
                </a:solidFill>
              </a:rPr>
              <a:t>Líder Semilla</a:t>
            </a:r>
            <a:endParaRPr lang="en-US" sz="800" dirty="0"/>
          </a:p>
        </p:txBody>
      </p:sp>
      <p:sp>
        <p:nvSpPr>
          <p:cNvPr id="18" name="Text 12"/>
          <p:cNvSpPr/>
          <p:nvPr/>
        </p:nvSpPr>
        <p:spPr>
          <a:xfrm>
            <a:off x="5824054" y="4136231"/>
            <a:ext cx="710580" cy="200025"/>
          </a:xfrm>
          <a:prstGeom prst="rect">
            <a:avLst/>
          </a:prstGeom>
          <a:noFill/>
          <a:ln/>
        </p:spPr>
        <p:txBody>
          <a:bodyPr wrap="none" lIns="0" tIns="0" rIns="0" bIns="0" rtlCol="0" anchor="t">
            <a:spAutoFit/>
          </a:bodyPr>
          <a:lstStyle/>
          <a:p>
            <a:pPr marL="0" indent="0" algn="ctr">
              <a:lnSpc>
                <a:spcPts val="1600"/>
              </a:lnSpc>
              <a:buNone/>
            </a:pPr>
            <a:r>
              <a:rPr lang="en-US" sz="800" b="1" dirty="0">
                <a:solidFill>
                  <a:srgbClr val="1F3A3D"/>
                </a:solidFill>
              </a:rPr>
              <a:t>Se gestiona</a:t>
            </a:r>
            <a:endParaRPr lang="en-US" sz="900" dirty="0"/>
          </a:p>
        </p:txBody>
      </p:sp>
      <p:sp>
        <p:nvSpPr>
          <p:cNvPr id="19" name="Text 13"/>
          <p:cNvSpPr/>
          <p:nvPr/>
        </p:nvSpPr>
        <p:spPr>
          <a:xfrm>
            <a:off x="5138338" y="4393406"/>
            <a:ext cx="2081985" cy="142875"/>
          </a:xfrm>
          <a:prstGeom prst="rect">
            <a:avLst/>
          </a:prstGeom>
          <a:noFill/>
          <a:ln/>
        </p:spPr>
        <p:txBody>
          <a:bodyPr wrap="none" lIns="0" tIns="0" rIns="0" bIns="0" rtlCol="0" anchor="t">
            <a:spAutoFit/>
          </a:bodyPr>
          <a:lstStyle/>
          <a:p>
            <a:pPr marL="0" indent="0" algn="ctr">
              <a:lnSpc>
                <a:spcPts val="1100"/>
              </a:lnSpc>
              <a:buNone/>
            </a:pPr>
            <a:r>
              <a:rPr lang="en-US" sz="800" dirty="0">
                <a:solidFill>
                  <a:srgbClr val="1F3A3D">
                    <a:alpha val="80000"/>
                  </a:srgbClr>
                </a:solidFill>
              </a:rPr>
              <a:t>"Cuidarse es una responsabilidad profesional"</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EUSTRÉS VS. DISTRÉS</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No todo estrés es perjudicial</a:t>
            </a:r>
            <a:endParaRPr lang="en-US" sz="2200" dirty="0"/>
          </a:p>
        </p:txBody>
      </p:sp>
      <p:pic>
        <p:nvPicPr>
          <p:cNvPr id="5" name="Image 1" descr="preencoded.png"/>
          <p:cNvPicPr>
            <a:picLocks noChangeAspect="1"/>
          </p:cNvPicPr>
          <p:nvPr/>
        </p:nvPicPr>
        <p:blipFill>
          <a:blip r:embed="rId3"/>
          <a:stretch>
            <a:fillRect/>
          </a:stretch>
        </p:blipFill>
        <p:spPr>
          <a:xfrm>
            <a:off x="571500" y="1085850"/>
            <a:ext cx="8001000" cy="1873448"/>
          </a:xfrm>
          <a:prstGeom prst="rect">
            <a:avLst/>
          </a:prstGeom>
        </p:spPr>
      </p:pic>
      <p:sp>
        <p:nvSpPr>
          <p:cNvPr id="6" name="Text 2"/>
          <p:cNvSpPr/>
          <p:nvPr/>
        </p:nvSpPr>
        <p:spPr>
          <a:xfrm>
            <a:off x="1771650" y="2022574"/>
            <a:ext cx="678210" cy="142875"/>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9CA3AF"/>
                </a:solidFill>
              </a:rPr>
              <a:t>Aburrimiento</a:t>
            </a:r>
            <a:endParaRPr lang="en-US" sz="1000" dirty="0"/>
          </a:p>
        </p:txBody>
      </p:sp>
      <p:sp>
        <p:nvSpPr>
          <p:cNvPr id="7" name="Text 3"/>
          <p:cNvSpPr/>
          <p:nvPr/>
        </p:nvSpPr>
        <p:spPr>
          <a:xfrm>
            <a:off x="4171950" y="1273178"/>
            <a:ext cx="542255"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1F3A3D"/>
                </a:solidFill>
              </a:rPr>
              <a:t>EUSTRÉS</a:t>
            </a:r>
            <a:endParaRPr lang="en-US" sz="900" dirty="0"/>
          </a:p>
        </p:txBody>
      </p:sp>
      <p:sp>
        <p:nvSpPr>
          <p:cNvPr id="8" name="Text 4"/>
          <p:cNvSpPr/>
          <p:nvPr/>
        </p:nvSpPr>
        <p:spPr>
          <a:xfrm>
            <a:off x="6854121" y="2022574"/>
            <a:ext cx="518229" cy="200025"/>
          </a:xfrm>
          <a:prstGeom prst="rect">
            <a:avLst/>
          </a:prstGeom>
          <a:noFill/>
          <a:ln/>
        </p:spPr>
        <p:txBody>
          <a:bodyPr wrap="none" lIns="0" tIns="0" rIns="0" bIns="0" rtlCol="0" anchor="t">
            <a:spAutoFit/>
          </a:bodyPr>
          <a:lstStyle/>
          <a:p>
            <a:pPr marL="0" indent="0" algn="l">
              <a:lnSpc>
                <a:spcPts val="1600"/>
              </a:lnSpc>
              <a:buNone/>
            </a:pPr>
            <a:r>
              <a:rPr lang="en-US" sz="900" b="1" dirty="0">
                <a:solidFill>
                  <a:srgbClr val="DC8060"/>
                </a:solidFill>
              </a:rPr>
              <a:t>DISTRÉS</a:t>
            </a:r>
            <a:endParaRPr lang="en-US" sz="900" dirty="0"/>
          </a:p>
        </p:txBody>
      </p:sp>
      <p:sp>
        <p:nvSpPr>
          <p:cNvPr id="9" name="Text 5"/>
          <p:cNvSpPr/>
          <p:nvPr/>
        </p:nvSpPr>
        <p:spPr>
          <a:xfrm>
            <a:off x="742950" y="3173611"/>
            <a:ext cx="3600450"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1F3A3D"/>
                </a:solidFill>
              </a:rPr>
              <a:t>Eustrés (Positivo)</a:t>
            </a:r>
            <a:endParaRPr lang="en-US" sz="1200" dirty="0"/>
          </a:p>
        </p:txBody>
      </p:sp>
      <p:sp>
        <p:nvSpPr>
          <p:cNvPr id="10" name="Text 6"/>
          <p:cNvSpPr/>
          <p:nvPr/>
        </p:nvSpPr>
        <p:spPr>
          <a:xfrm>
            <a:off x="742950" y="3430786"/>
            <a:ext cx="3600450" cy="626864"/>
          </a:xfrm>
          <a:prstGeom prst="rect">
            <a:avLst/>
          </a:prstGeom>
          <a:noFill/>
          <a:ln/>
        </p:spPr>
        <p:txBody>
          <a:bodyPr wrap="square" lIns="0" tIns="0" rIns="0" bIns="0" rtlCol="0" anchor="t">
            <a:spAutoFit/>
          </a:bodyPr>
          <a:lstStyle/>
          <a:p>
            <a:pPr marL="0" indent="0" algn="l">
              <a:lnSpc>
                <a:spcPts val="1600"/>
              </a:lnSpc>
              <a:buNone/>
            </a:pPr>
            <a:r>
              <a:rPr lang="en-US" sz="900" dirty="0">
                <a:solidFill>
                  <a:srgbClr val="1F3A3D"/>
                </a:solidFill>
              </a:rPr>
              <a:t>Activa, motiva y energiza. Se asocia con retos percibidos como estimulantes y alcanzables. Es la zona de máximo rendimiento.</a:t>
            </a:r>
            <a:endParaRPr lang="en-US" sz="900" dirty="0"/>
          </a:p>
        </p:txBody>
      </p:sp>
      <p:sp>
        <p:nvSpPr>
          <p:cNvPr id="11" name="Text 7"/>
          <p:cNvSpPr/>
          <p:nvPr/>
        </p:nvSpPr>
        <p:spPr>
          <a:xfrm>
            <a:off x="4972050" y="3173611"/>
            <a:ext cx="3600450" cy="200025"/>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DC8060"/>
                </a:solidFill>
              </a:rPr>
              <a:t>Distrés (Negativo)</a:t>
            </a:r>
            <a:endParaRPr lang="en-US" sz="1200" dirty="0"/>
          </a:p>
        </p:txBody>
      </p:sp>
      <p:sp>
        <p:nvSpPr>
          <p:cNvPr id="12" name="Text 8"/>
          <p:cNvSpPr/>
          <p:nvPr/>
        </p:nvSpPr>
        <p:spPr>
          <a:xfrm>
            <a:off x="4972050" y="3430786"/>
            <a:ext cx="3600450" cy="626864"/>
          </a:xfrm>
          <a:prstGeom prst="rect">
            <a:avLst/>
          </a:prstGeom>
          <a:noFill/>
          <a:ln/>
        </p:spPr>
        <p:txBody>
          <a:bodyPr wrap="square" lIns="0" tIns="0" rIns="0" bIns="0" rtlCol="0" anchor="t">
            <a:spAutoFit/>
          </a:bodyPr>
          <a:lstStyle/>
          <a:p>
            <a:pPr marL="0" indent="0" algn="l">
              <a:lnSpc>
                <a:spcPts val="1600"/>
              </a:lnSpc>
              <a:buNone/>
            </a:pPr>
            <a:r>
              <a:rPr lang="en-US" sz="900" dirty="0">
                <a:solidFill>
                  <a:srgbClr val="1F3A3D"/>
                </a:solidFill>
              </a:rPr>
              <a:t>Desgasta, agota y paraliza. Surge cuando las demandas superan la capacidad de respuesta percibida. Lleva al colapso.</a:t>
            </a:r>
            <a:endParaRPr lang="en-US" sz="900" dirty="0"/>
          </a:p>
        </p:txBody>
      </p:sp>
      <p:sp>
        <p:nvSpPr>
          <p:cNvPr id="13" name="Shape 9"/>
          <p:cNvSpPr/>
          <p:nvPr/>
        </p:nvSpPr>
        <p:spPr>
          <a:xfrm>
            <a:off x="571500" y="4286250"/>
            <a:ext cx="8001000" cy="428625"/>
          </a:xfrm>
          <a:prstGeom prst="rect">
            <a:avLst/>
          </a:prstGeom>
          <a:solidFill>
            <a:srgbClr val="E8F4F4"/>
          </a:solidFill>
          <a:ln/>
        </p:spPr>
        <p:txBody>
          <a:bodyPr/>
          <a:lstStyle/>
          <a:p>
            <a:endParaRPr lang="es-ES"/>
          </a:p>
        </p:txBody>
      </p:sp>
      <p:sp>
        <p:nvSpPr>
          <p:cNvPr id="14" name="Text 10"/>
          <p:cNvSpPr/>
          <p:nvPr/>
        </p:nvSpPr>
        <p:spPr>
          <a:xfrm>
            <a:off x="685800" y="4400550"/>
            <a:ext cx="7772400" cy="200025"/>
          </a:xfrm>
          <a:prstGeom prst="rect">
            <a:avLst/>
          </a:prstGeom>
          <a:noFill/>
          <a:ln/>
        </p:spPr>
        <p:txBody>
          <a:bodyPr wrap="none" lIns="0" tIns="0" rIns="0" bIns="0" rtlCol="0" anchor="t">
            <a:spAutoFit/>
          </a:bodyPr>
          <a:lstStyle/>
          <a:p>
            <a:pPr marL="0" indent="0" algn="ctr">
              <a:lnSpc>
                <a:spcPts val="1600"/>
              </a:lnSpc>
              <a:buNone/>
            </a:pPr>
            <a:r>
              <a:rPr lang="en-US" sz="900" b="1" dirty="0">
                <a:solidFill>
                  <a:srgbClr val="1F3A3D"/>
                </a:solidFill>
              </a:rPr>
              <a:t>"No es la situación lo que determina el tipo de estrés; es tu </a:t>
            </a:r>
            <a:r>
              <a:rPr lang="en-US" sz="900" b="1" dirty="0">
                <a:solidFill>
                  <a:srgbClr val="DC8060"/>
                </a:solidFill>
              </a:rPr>
              <a:t>interpretación</a:t>
            </a:r>
            <a:r>
              <a:rPr lang="en-US" sz="900" b="1" dirty="0">
                <a:solidFill>
                  <a:srgbClr val="1F3A3D"/>
                </a:solidFill>
              </a:rPr>
              <a:t> de esa situación frente a tus recursos."</a:t>
            </a:r>
            <a:endParaRPr lang="en-US" sz="900" dirty="0"/>
          </a:p>
        </p:txBody>
      </p:sp>
      <p:cxnSp>
        <p:nvCxnSpPr>
          <p:cNvPr id="16" name="Conector recto 15">
            <a:extLst>
              <a:ext uri="{FF2B5EF4-FFF2-40B4-BE49-F238E27FC236}">
                <a16:creationId xmlns:a16="http://schemas.microsoft.com/office/drawing/2014/main" id="{5E2F8CE2-7960-C421-614E-29BDA9D37435}"/>
              </a:ext>
            </a:extLst>
          </p:cNvPr>
          <p:cNvCxnSpPr>
            <a:cxnSpLocks/>
          </p:cNvCxnSpPr>
          <p:nvPr/>
        </p:nvCxnSpPr>
        <p:spPr>
          <a:xfrm>
            <a:off x="571500" y="3215883"/>
            <a:ext cx="0" cy="784459"/>
          </a:xfrm>
          <a:prstGeom prst="line">
            <a:avLst/>
          </a:prstGeom>
          <a:ln w="28575">
            <a:solidFill>
              <a:srgbClr val="1F3A3D"/>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C887F5CA-D5F9-2B59-343D-C90686C661C7}"/>
              </a:ext>
            </a:extLst>
          </p:cNvPr>
          <p:cNvCxnSpPr>
            <a:cxnSpLocks/>
          </p:cNvCxnSpPr>
          <p:nvPr/>
        </p:nvCxnSpPr>
        <p:spPr>
          <a:xfrm>
            <a:off x="4838700" y="3215883"/>
            <a:ext cx="0" cy="784459"/>
          </a:xfrm>
          <a:prstGeom prst="line">
            <a:avLst/>
          </a:prstGeom>
          <a:ln w="28575">
            <a:solidFill>
              <a:srgbClr val="E3987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Text 0"/>
          <p:cNvSpPr/>
          <p:nvPr/>
        </p:nvSpPr>
        <p:spPr>
          <a:xfrm>
            <a:off x="571500" y="428625"/>
            <a:ext cx="8001000" cy="142875"/>
          </a:xfrm>
          <a:prstGeom prst="rect">
            <a:avLst/>
          </a:prstGeom>
          <a:noFill/>
          <a:ln/>
        </p:spPr>
        <p:txBody>
          <a:bodyPr wrap="none" lIns="0" tIns="0" rIns="0" bIns="0" rtlCol="0" anchor="t">
            <a:spAutoFit/>
          </a:bodyPr>
          <a:lstStyle/>
          <a:p>
            <a:pPr marL="0" indent="0" algn="l">
              <a:lnSpc>
                <a:spcPts val="1100"/>
              </a:lnSpc>
              <a:buNone/>
            </a:pPr>
            <a:r>
              <a:rPr lang="en-US" sz="1000" b="1" kern="0" spc="2" dirty="0">
                <a:solidFill>
                  <a:srgbClr val="DC8060"/>
                </a:solidFill>
              </a:rPr>
              <a:t>EL VIAJE</a:t>
            </a:r>
            <a:endParaRPr lang="en-US" sz="1000" dirty="0"/>
          </a:p>
        </p:txBody>
      </p:sp>
      <p:sp>
        <p:nvSpPr>
          <p:cNvPr id="4" name="Text 1"/>
          <p:cNvSpPr/>
          <p:nvPr/>
        </p:nvSpPr>
        <p:spPr>
          <a:xfrm>
            <a:off x="571500" y="628650"/>
            <a:ext cx="8001000" cy="285750"/>
          </a:xfrm>
          <a:prstGeom prst="rect">
            <a:avLst/>
          </a:prstGeom>
          <a:noFill/>
          <a:ln/>
        </p:spPr>
        <p:txBody>
          <a:bodyPr wrap="none" lIns="0" tIns="0" rIns="0" bIns="0" rtlCol="0" anchor="t">
            <a:spAutoFit/>
          </a:bodyPr>
          <a:lstStyle/>
          <a:p>
            <a:pPr marL="0" indent="0" algn="l">
              <a:lnSpc>
                <a:spcPts val="2300"/>
              </a:lnSpc>
              <a:buNone/>
            </a:pPr>
            <a:r>
              <a:rPr lang="en-US" sz="2200" b="1" dirty="0">
                <a:solidFill>
                  <a:srgbClr val="1F3A3D"/>
                </a:solidFill>
              </a:rPr>
              <a:t>La pieza que faltaba</a:t>
            </a:r>
            <a:endParaRPr lang="en-US" sz="2200" dirty="0"/>
          </a:p>
        </p:txBody>
      </p:sp>
      <p:sp>
        <p:nvSpPr>
          <p:cNvPr id="5" name="Shape 2"/>
          <p:cNvSpPr/>
          <p:nvPr/>
        </p:nvSpPr>
        <p:spPr>
          <a:xfrm>
            <a:off x="857250" y="1543050"/>
            <a:ext cx="2143125" cy="2000250"/>
          </a:xfrm>
          <a:prstGeom prst="rect">
            <a:avLst/>
          </a:prstGeom>
          <a:solidFill>
            <a:srgbClr val="FFFFFF"/>
          </a:solidFill>
          <a:ln/>
        </p:spPr>
        <p:txBody>
          <a:bodyPr/>
          <a:lstStyle/>
          <a:p>
            <a:endParaRPr lang="es-ES"/>
          </a:p>
        </p:txBody>
      </p:sp>
      <p:sp>
        <p:nvSpPr>
          <p:cNvPr id="6" name="Shape 3"/>
          <p:cNvSpPr/>
          <p:nvPr/>
        </p:nvSpPr>
        <p:spPr>
          <a:xfrm>
            <a:off x="1678781" y="1757363"/>
            <a:ext cx="500063" cy="500063"/>
          </a:xfrm>
          <a:prstGeom prst="ellipse">
            <a:avLst/>
          </a:prstGeom>
          <a:solidFill>
            <a:srgbClr val="F0F7F7"/>
          </a:solidFill>
          <a:ln/>
        </p:spPr>
        <p:txBody>
          <a:bodyPr/>
          <a:lstStyle/>
          <a:p>
            <a:endParaRPr lang="es-ES"/>
          </a:p>
        </p:txBody>
      </p:sp>
      <p:pic>
        <p:nvPicPr>
          <p:cNvPr id="7" name="Image 1" descr="preencoded.png"/>
          <p:cNvPicPr>
            <a:picLocks noChangeAspect="1"/>
          </p:cNvPicPr>
          <p:nvPr/>
        </p:nvPicPr>
        <p:blipFill>
          <a:blip r:embed="rId3"/>
          <a:stretch>
            <a:fillRect/>
          </a:stretch>
        </p:blipFill>
        <p:spPr>
          <a:xfrm>
            <a:off x="1814513" y="1893094"/>
            <a:ext cx="228600" cy="228600"/>
          </a:xfrm>
          <a:prstGeom prst="rect">
            <a:avLst/>
          </a:prstGeom>
        </p:spPr>
      </p:pic>
      <p:sp>
        <p:nvSpPr>
          <p:cNvPr id="8" name="Text 4"/>
          <p:cNvSpPr/>
          <p:nvPr/>
        </p:nvSpPr>
        <p:spPr>
          <a:xfrm>
            <a:off x="1500243" y="2400300"/>
            <a:ext cx="857110" cy="200025"/>
          </a:xfrm>
          <a:prstGeom prst="rect">
            <a:avLst/>
          </a:prstGeom>
          <a:noFill/>
          <a:ln/>
        </p:spPr>
        <p:txBody>
          <a:bodyPr wrap="none" lIns="0" tIns="0" rIns="0" bIns="0" rtlCol="0" anchor="t">
            <a:spAutoFit/>
          </a:bodyPr>
          <a:lstStyle/>
          <a:p>
            <a:pPr marL="0" indent="0" algn="ctr">
              <a:lnSpc>
                <a:spcPts val="1600"/>
              </a:lnSpc>
              <a:buNone/>
            </a:pPr>
            <a:r>
              <a:rPr lang="en-US" sz="1200" b="1" dirty="0">
                <a:solidFill>
                  <a:srgbClr val="1F3A3D"/>
                </a:solidFill>
              </a:rPr>
              <a:t>Módulos 1-3</a:t>
            </a:r>
            <a:endParaRPr lang="en-US" sz="1200" dirty="0"/>
          </a:p>
        </p:txBody>
      </p:sp>
      <p:sp>
        <p:nvSpPr>
          <p:cNvPr id="9" name="Text 5"/>
          <p:cNvSpPr/>
          <p:nvPr/>
        </p:nvSpPr>
        <p:spPr>
          <a:xfrm>
            <a:off x="1629947" y="2657475"/>
            <a:ext cx="597703" cy="114300"/>
          </a:xfrm>
          <a:prstGeom prst="rect">
            <a:avLst/>
          </a:prstGeom>
          <a:noFill/>
          <a:ln/>
        </p:spPr>
        <p:txBody>
          <a:bodyPr wrap="none" lIns="0" tIns="0" rIns="0" bIns="0" rtlCol="0" anchor="t">
            <a:spAutoFit/>
          </a:bodyPr>
          <a:lstStyle/>
          <a:p>
            <a:pPr marL="0" indent="0" algn="ctr">
              <a:lnSpc>
                <a:spcPts val="900"/>
              </a:lnSpc>
              <a:buNone/>
            </a:pPr>
            <a:r>
              <a:rPr lang="en-US" sz="800" b="1" dirty="0">
                <a:solidFill>
                  <a:srgbClr val="9CA3AF"/>
                </a:solidFill>
              </a:rPr>
              <a:t>El Software</a:t>
            </a:r>
            <a:endParaRPr lang="en-US" sz="800" dirty="0"/>
          </a:p>
        </p:txBody>
      </p:sp>
      <p:sp>
        <p:nvSpPr>
          <p:cNvPr id="10" name="Text 6"/>
          <p:cNvSpPr/>
          <p:nvPr/>
        </p:nvSpPr>
        <p:spPr>
          <a:xfrm>
            <a:off x="1071563" y="2886075"/>
            <a:ext cx="1714500" cy="325041"/>
          </a:xfrm>
          <a:prstGeom prst="rect">
            <a:avLst/>
          </a:prstGeom>
          <a:noFill/>
          <a:ln/>
        </p:spPr>
        <p:txBody>
          <a:bodyPr wrap="square" lIns="0" tIns="0" rIns="0" bIns="0" rtlCol="0" anchor="t">
            <a:spAutoFit/>
          </a:bodyPr>
          <a:lstStyle/>
          <a:p>
            <a:pPr marL="0" indent="0" algn="ctr">
              <a:lnSpc>
                <a:spcPts val="1300"/>
              </a:lnSpc>
              <a:buNone/>
            </a:pPr>
            <a:r>
              <a:rPr lang="en-US" sz="800" dirty="0">
                <a:solidFill>
                  <a:srgbClr val="1F3A3D"/>
                </a:solidFill>
              </a:rPr>
              <a:t>Trabajamos en tu mentalidad, tus creencias y tu gestión emocional.</a:t>
            </a:r>
            <a:endParaRPr lang="en-US" sz="800" dirty="0"/>
          </a:p>
        </p:txBody>
      </p:sp>
      <p:sp>
        <p:nvSpPr>
          <p:cNvPr id="11" name="Shape 7"/>
          <p:cNvSpPr/>
          <p:nvPr/>
        </p:nvSpPr>
        <p:spPr>
          <a:xfrm>
            <a:off x="3446859" y="1493044"/>
            <a:ext cx="2250281" cy="2100263"/>
          </a:xfrm>
          <a:prstGeom prst="rect">
            <a:avLst/>
          </a:prstGeom>
          <a:solidFill>
            <a:srgbClr val="FFFFFF"/>
          </a:solidFill>
          <a:ln w="18288">
            <a:solidFill>
              <a:srgbClr val="DC8060"/>
            </a:solidFill>
            <a:prstDash val="solid"/>
          </a:ln>
        </p:spPr>
        <p:txBody>
          <a:bodyPr/>
          <a:lstStyle/>
          <a:p>
            <a:endParaRPr lang="es-ES"/>
          </a:p>
        </p:txBody>
      </p:sp>
      <p:sp>
        <p:nvSpPr>
          <p:cNvPr id="12" name="Shape 8"/>
          <p:cNvSpPr/>
          <p:nvPr/>
        </p:nvSpPr>
        <p:spPr>
          <a:xfrm>
            <a:off x="4212746" y="1373029"/>
            <a:ext cx="718478" cy="180022"/>
          </a:xfrm>
          <a:prstGeom prst="roundRect">
            <a:avLst/>
          </a:prstGeom>
          <a:solidFill>
            <a:srgbClr val="DC8060"/>
          </a:solidFill>
          <a:ln/>
        </p:spPr>
        <p:txBody>
          <a:bodyPr/>
          <a:lstStyle/>
          <a:p>
            <a:endParaRPr lang="es-ES"/>
          </a:p>
        </p:txBody>
      </p:sp>
      <p:sp>
        <p:nvSpPr>
          <p:cNvPr id="13" name="Text 9"/>
          <p:cNvSpPr/>
          <p:nvPr/>
        </p:nvSpPr>
        <p:spPr>
          <a:xfrm>
            <a:off x="4212746" y="1373029"/>
            <a:ext cx="718478" cy="180022"/>
          </a:xfrm>
          <a:prstGeom prst="rect">
            <a:avLst/>
          </a:prstGeom>
          <a:noFill/>
          <a:ln/>
        </p:spPr>
        <p:txBody>
          <a:bodyPr wrap="square" lIns="102108" tIns="34036" rIns="102108" bIns="34036" rtlCol="0" anchor="t">
            <a:spAutoFit/>
          </a:bodyPr>
          <a:lstStyle/>
          <a:p>
            <a:pPr marL="0" indent="0" algn="ctr">
              <a:lnSpc>
                <a:spcPts val="900"/>
              </a:lnSpc>
              <a:buNone/>
            </a:pPr>
            <a:r>
              <a:rPr lang="en-US" sz="800" b="1" dirty="0">
                <a:solidFill>
                  <a:srgbClr val="FFFFFF"/>
                </a:solidFill>
              </a:rPr>
              <a:t>Estás aquí</a:t>
            </a:r>
            <a:endParaRPr lang="en-US" sz="800" dirty="0"/>
          </a:p>
        </p:txBody>
      </p:sp>
      <p:sp>
        <p:nvSpPr>
          <p:cNvPr id="14" name="Shape 10"/>
          <p:cNvSpPr/>
          <p:nvPr/>
        </p:nvSpPr>
        <p:spPr>
          <a:xfrm>
            <a:off x="4309467" y="1718072"/>
            <a:ext cx="525066" cy="478185"/>
          </a:xfrm>
          <a:prstGeom prst="roundRect">
            <a:avLst/>
          </a:prstGeom>
          <a:solidFill>
            <a:srgbClr val="DC8060"/>
          </a:solidFill>
          <a:ln/>
        </p:spPr>
        <p:txBody>
          <a:bodyPr/>
          <a:lstStyle/>
          <a:p>
            <a:endParaRPr lang="es-ES"/>
          </a:p>
        </p:txBody>
      </p:sp>
      <p:pic>
        <p:nvPicPr>
          <p:cNvPr id="15" name="Image 2" descr="preencoded.png"/>
          <p:cNvPicPr>
            <a:picLocks noChangeAspect="1"/>
          </p:cNvPicPr>
          <p:nvPr/>
        </p:nvPicPr>
        <p:blipFill>
          <a:blip r:embed="rId4"/>
          <a:stretch>
            <a:fillRect/>
          </a:stretch>
        </p:blipFill>
        <p:spPr>
          <a:xfrm>
            <a:off x="4436983" y="1837149"/>
            <a:ext cx="270034" cy="240030"/>
          </a:xfrm>
          <a:prstGeom prst="rect">
            <a:avLst/>
          </a:prstGeom>
        </p:spPr>
      </p:pic>
      <p:sp>
        <p:nvSpPr>
          <p:cNvPr id="16" name="Text 11"/>
          <p:cNvSpPr/>
          <p:nvPr/>
        </p:nvSpPr>
        <p:spPr>
          <a:xfrm>
            <a:off x="4226342" y="2346275"/>
            <a:ext cx="691287" cy="210026"/>
          </a:xfrm>
          <a:prstGeom prst="rect">
            <a:avLst/>
          </a:prstGeom>
          <a:noFill/>
          <a:ln/>
        </p:spPr>
        <p:txBody>
          <a:bodyPr wrap="none" lIns="0" tIns="0" rIns="0" bIns="0" rtlCol="0" anchor="t">
            <a:spAutoFit/>
          </a:bodyPr>
          <a:lstStyle/>
          <a:p>
            <a:pPr marL="0" indent="0" algn="ctr">
              <a:lnSpc>
                <a:spcPts val="1600"/>
              </a:lnSpc>
              <a:buNone/>
            </a:pPr>
            <a:r>
              <a:rPr lang="en-US" sz="1200" b="1" dirty="0">
                <a:solidFill>
                  <a:srgbClr val="DC8060"/>
                </a:solidFill>
              </a:rPr>
              <a:t>Módulo 4</a:t>
            </a:r>
            <a:endParaRPr lang="en-US" sz="1200" dirty="0"/>
          </a:p>
        </p:txBody>
      </p:sp>
      <p:sp>
        <p:nvSpPr>
          <p:cNvPr id="17" name="Text 12"/>
          <p:cNvSpPr/>
          <p:nvPr/>
        </p:nvSpPr>
        <p:spPr>
          <a:xfrm>
            <a:off x="4241548" y="2616309"/>
            <a:ext cx="660874" cy="120015"/>
          </a:xfrm>
          <a:prstGeom prst="rect">
            <a:avLst/>
          </a:prstGeom>
          <a:noFill/>
          <a:ln/>
        </p:spPr>
        <p:txBody>
          <a:bodyPr wrap="none" lIns="0" tIns="0" rIns="0" bIns="0" rtlCol="0" anchor="t">
            <a:spAutoFit/>
          </a:bodyPr>
          <a:lstStyle/>
          <a:p>
            <a:pPr marL="0" indent="0" algn="ctr">
              <a:lnSpc>
                <a:spcPts val="900"/>
              </a:lnSpc>
              <a:buNone/>
            </a:pPr>
            <a:r>
              <a:rPr lang="en-US" sz="800" b="1" dirty="0">
                <a:solidFill>
                  <a:srgbClr val="DC8060"/>
                </a:solidFill>
              </a:rPr>
              <a:t>El Hardware</a:t>
            </a:r>
            <a:endParaRPr lang="en-US" sz="800" dirty="0"/>
          </a:p>
        </p:txBody>
      </p:sp>
      <p:sp>
        <p:nvSpPr>
          <p:cNvPr id="18" name="Text 13"/>
          <p:cNvSpPr/>
          <p:nvPr/>
        </p:nvSpPr>
        <p:spPr>
          <a:xfrm>
            <a:off x="3671888" y="2856339"/>
            <a:ext cx="1800225" cy="511939"/>
          </a:xfrm>
          <a:prstGeom prst="rect">
            <a:avLst/>
          </a:prstGeom>
          <a:noFill/>
          <a:ln/>
        </p:spPr>
        <p:txBody>
          <a:bodyPr wrap="square" lIns="0" tIns="0" rIns="0" bIns="0" rtlCol="0" anchor="t">
            <a:spAutoFit/>
          </a:bodyPr>
          <a:lstStyle/>
          <a:p>
            <a:pPr marL="0" indent="0" algn="ctr">
              <a:lnSpc>
                <a:spcPts val="1300"/>
              </a:lnSpc>
              <a:buNone/>
            </a:pPr>
            <a:r>
              <a:rPr lang="en-US" sz="800" dirty="0">
                <a:solidFill>
                  <a:srgbClr val="1F3A3D"/>
                </a:solidFill>
              </a:rPr>
              <a:t>Cuidamos la máquina. Sin energía física y regulación nerviosa, el mejor software falla.</a:t>
            </a:r>
            <a:endParaRPr lang="en-US" sz="800" dirty="0"/>
          </a:p>
        </p:txBody>
      </p:sp>
      <p:sp>
        <p:nvSpPr>
          <p:cNvPr id="19" name="Shape 14"/>
          <p:cNvSpPr/>
          <p:nvPr/>
        </p:nvSpPr>
        <p:spPr>
          <a:xfrm>
            <a:off x="6143625" y="1543050"/>
            <a:ext cx="2143125" cy="2000250"/>
          </a:xfrm>
          <a:prstGeom prst="rect">
            <a:avLst/>
          </a:prstGeom>
          <a:solidFill>
            <a:srgbClr val="FFFFFF">
              <a:alpha val="80000"/>
            </a:srgbClr>
          </a:solidFill>
          <a:ln/>
        </p:spPr>
        <p:txBody>
          <a:bodyPr/>
          <a:lstStyle/>
          <a:p>
            <a:endParaRPr lang="es-ES"/>
          </a:p>
        </p:txBody>
      </p:sp>
      <p:sp>
        <p:nvSpPr>
          <p:cNvPr id="20" name="Shape 15"/>
          <p:cNvSpPr/>
          <p:nvPr/>
        </p:nvSpPr>
        <p:spPr>
          <a:xfrm>
            <a:off x="6965156" y="1757363"/>
            <a:ext cx="500063" cy="500063"/>
          </a:xfrm>
          <a:prstGeom prst="ellipse">
            <a:avLst/>
          </a:prstGeom>
          <a:solidFill>
            <a:srgbClr val="E5E7EB"/>
          </a:solidFill>
          <a:ln/>
        </p:spPr>
        <p:txBody>
          <a:bodyPr/>
          <a:lstStyle/>
          <a:p>
            <a:endParaRPr lang="es-ES"/>
          </a:p>
        </p:txBody>
      </p:sp>
      <p:pic>
        <p:nvPicPr>
          <p:cNvPr id="21" name="Image 3" descr="preencoded.png"/>
          <p:cNvPicPr>
            <a:picLocks noChangeAspect="1"/>
          </p:cNvPicPr>
          <p:nvPr/>
        </p:nvPicPr>
        <p:blipFill>
          <a:blip r:embed="rId5"/>
          <a:stretch>
            <a:fillRect/>
          </a:stretch>
        </p:blipFill>
        <p:spPr>
          <a:xfrm>
            <a:off x="7072313" y="1893094"/>
            <a:ext cx="285750" cy="228600"/>
          </a:xfrm>
          <a:prstGeom prst="rect">
            <a:avLst/>
          </a:prstGeom>
        </p:spPr>
      </p:pic>
      <p:sp>
        <p:nvSpPr>
          <p:cNvPr id="22" name="Text 16"/>
          <p:cNvSpPr/>
          <p:nvPr/>
        </p:nvSpPr>
        <p:spPr>
          <a:xfrm>
            <a:off x="6809612" y="2400300"/>
            <a:ext cx="811123" cy="200025"/>
          </a:xfrm>
          <a:prstGeom prst="rect">
            <a:avLst/>
          </a:prstGeom>
          <a:noFill/>
          <a:ln/>
        </p:spPr>
        <p:txBody>
          <a:bodyPr wrap="none" lIns="0" tIns="0" rIns="0" bIns="0" rtlCol="0" anchor="t">
            <a:spAutoFit/>
          </a:bodyPr>
          <a:lstStyle/>
          <a:p>
            <a:pPr marL="0" indent="0" algn="ctr">
              <a:lnSpc>
                <a:spcPts val="1600"/>
              </a:lnSpc>
              <a:buNone/>
            </a:pPr>
            <a:r>
              <a:rPr lang="en-US" sz="1200" b="1" dirty="0">
                <a:solidFill>
                  <a:srgbClr val="1F3A3D"/>
                </a:solidFill>
              </a:rPr>
              <a:t>Módulos 5+</a:t>
            </a:r>
            <a:endParaRPr lang="en-US" sz="1200" dirty="0"/>
          </a:p>
        </p:txBody>
      </p:sp>
      <p:sp>
        <p:nvSpPr>
          <p:cNvPr id="23" name="Text 17"/>
          <p:cNvSpPr/>
          <p:nvPr/>
        </p:nvSpPr>
        <p:spPr>
          <a:xfrm>
            <a:off x="7059783" y="2657475"/>
            <a:ext cx="310781" cy="114300"/>
          </a:xfrm>
          <a:prstGeom prst="rect">
            <a:avLst/>
          </a:prstGeom>
          <a:noFill/>
          <a:ln/>
        </p:spPr>
        <p:txBody>
          <a:bodyPr wrap="none" lIns="0" tIns="0" rIns="0" bIns="0" rtlCol="0" anchor="t">
            <a:spAutoFit/>
          </a:bodyPr>
          <a:lstStyle/>
          <a:p>
            <a:pPr marL="0" indent="0" algn="ctr">
              <a:lnSpc>
                <a:spcPts val="900"/>
              </a:lnSpc>
              <a:buNone/>
            </a:pPr>
            <a:r>
              <a:rPr lang="en-US" sz="800" b="1" dirty="0">
                <a:solidFill>
                  <a:srgbClr val="9CA3AF"/>
                </a:solidFill>
              </a:rPr>
              <a:t>La Red</a:t>
            </a:r>
            <a:endParaRPr lang="en-US" sz="800" dirty="0"/>
          </a:p>
        </p:txBody>
      </p:sp>
      <p:sp>
        <p:nvSpPr>
          <p:cNvPr id="24" name="Text 18"/>
          <p:cNvSpPr/>
          <p:nvPr/>
        </p:nvSpPr>
        <p:spPr>
          <a:xfrm>
            <a:off x="6357938" y="2886075"/>
            <a:ext cx="1714500" cy="325041"/>
          </a:xfrm>
          <a:prstGeom prst="rect">
            <a:avLst/>
          </a:prstGeom>
          <a:noFill/>
          <a:ln/>
        </p:spPr>
        <p:txBody>
          <a:bodyPr wrap="square" lIns="0" tIns="0" rIns="0" bIns="0" rtlCol="0" anchor="t">
            <a:spAutoFit/>
          </a:bodyPr>
          <a:lstStyle/>
          <a:p>
            <a:pPr marL="0" indent="0" algn="ctr">
              <a:lnSpc>
                <a:spcPts val="1300"/>
              </a:lnSpc>
              <a:buNone/>
            </a:pPr>
            <a:r>
              <a:rPr lang="en-US" sz="800" dirty="0">
                <a:solidFill>
                  <a:srgbClr val="1F3A3D"/>
                </a:solidFill>
              </a:rPr>
              <a:t>Liderazgo relacional. Solo puedes sostener a otros si tú estás sostenido.</a:t>
            </a:r>
            <a:endParaRPr lang="en-US" sz="800" dirty="0"/>
          </a:p>
        </p:txBody>
      </p:sp>
      <p:sp>
        <p:nvSpPr>
          <p:cNvPr id="25" name="Shape 19"/>
          <p:cNvSpPr/>
          <p:nvPr/>
        </p:nvSpPr>
        <p:spPr>
          <a:xfrm>
            <a:off x="571500" y="3943350"/>
            <a:ext cx="8001000" cy="771525"/>
          </a:xfrm>
          <a:prstGeom prst="rect">
            <a:avLst/>
          </a:prstGeom>
          <a:solidFill>
            <a:srgbClr val="E8F4F4"/>
          </a:solidFill>
          <a:ln/>
        </p:spPr>
        <p:txBody>
          <a:bodyPr/>
          <a:lstStyle/>
          <a:p>
            <a:endParaRPr lang="es-ES"/>
          </a:p>
        </p:txBody>
      </p:sp>
      <p:sp>
        <p:nvSpPr>
          <p:cNvPr id="26" name="Shape 20"/>
          <p:cNvSpPr/>
          <p:nvPr/>
        </p:nvSpPr>
        <p:spPr>
          <a:xfrm>
            <a:off x="571500" y="3943350"/>
            <a:ext cx="8001000" cy="28575"/>
          </a:xfrm>
          <a:prstGeom prst="rect">
            <a:avLst/>
          </a:prstGeom>
          <a:solidFill>
            <a:srgbClr val="1F3A3D"/>
          </a:solidFill>
          <a:ln/>
        </p:spPr>
        <p:txBody>
          <a:bodyPr/>
          <a:lstStyle/>
          <a:p>
            <a:endParaRPr lang="es-ES"/>
          </a:p>
        </p:txBody>
      </p:sp>
      <p:sp>
        <p:nvSpPr>
          <p:cNvPr id="27" name="Text 21"/>
          <p:cNvSpPr/>
          <p:nvPr/>
        </p:nvSpPr>
        <p:spPr>
          <a:xfrm>
            <a:off x="742950" y="4143375"/>
            <a:ext cx="7658100" cy="400050"/>
          </a:xfrm>
          <a:prstGeom prst="rect">
            <a:avLst/>
          </a:prstGeom>
          <a:noFill/>
          <a:ln/>
        </p:spPr>
        <p:txBody>
          <a:bodyPr wrap="square" lIns="0" tIns="0" rIns="0" bIns="0" rtlCol="0" anchor="t">
            <a:spAutoFit/>
          </a:bodyPr>
          <a:lstStyle/>
          <a:p>
            <a:pPr marL="0" indent="0" algn="ctr">
              <a:lnSpc>
                <a:spcPts val="1600"/>
              </a:lnSpc>
              <a:buNone/>
            </a:pPr>
            <a:r>
              <a:rPr lang="en-US" sz="1200" b="1" dirty="0">
                <a:solidFill>
                  <a:srgbClr val="1F3A3D"/>
                </a:solidFill>
              </a:rPr>
              <a:t>"El autocuidado no es un desvío del camino del liderazgo. 
 Es el combustible que permite recorrerlo."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7" name="Text 1"/>
          <p:cNvSpPr/>
          <p:nvPr/>
        </p:nvSpPr>
        <p:spPr>
          <a:xfrm>
            <a:off x="3920604" y="853176"/>
            <a:ext cx="1302793" cy="141064"/>
          </a:xfrm>
          <a:prstGeom prst="rect">
            <a:avLst/>
          </a:prstGeom>
          <a:noFill/>
          <a:ln/>
        </p:spPr>
        <p:txBody>
          <a:bodyPr wrap="none" lIns="0" tIns="0" rIns="0" bIns="0" rtlCol="0" anchor="t">
            <a:spAutoFit/>
          </a:bodyPr>
          <a:lstStyle/>
          <a:p>
            <a:pPr marL="0" indent="0" algn="ctr">
              <a:lnSpc>
                <a:spcPts val="1100"/>
              </a:lnSpc>
              <a:buNone/>
            </a:pPr>
            <a:r>
              <a:rPr lang="en-US" sz="1000" b="1" kern="0" spc="2" dirty="0">
                <a:solidFill>
                  <a:srgbClr val="DC8060"/>
                </a:solidFill>
              </a:rPr>
              <a:t>Transformación M0</a:t>
            </a:r>
            <a:endParaRPr lang="en-US" sz="1000" dirty="0"/>
          </a:p>
        </p:txBody>
      </p:sp>
      <p:sp>
        <p:nvSpPr>
          <p:cNvPr id="8" name="Shape 2"/>
          <p:cNvSpPr/>
          <p:nvPr/>
        </p:nvSpPr>
        <p:spPr>
          <a:xfrm>
            <a:off x="1357313" y="1294302"/>
            <a:ext cx="6429375" cy="2996022"/>
          </a:xfrm>
          <a:prstGeom prst="rect">
            <a:avLst/>
          </a:prstGeom>
          <a:solidFill>
            <a:srgbClr val="FFFFFF">
              <a:alpha val="5000"/>
            </a:srgbClr>
          </a:solidFill>
          <a:ln/>
        </p:spPr>
        <p:txBody>
          <a:bodyPr/>
          <a:lstStyle/>
          <a:p>
            <a:endParaRPr lang="es-ES"/>
          </a:p>
        </p:txBody>
      </p:sp>
      <p:sp>
        <p:nvSpPr>
          <p:cNvPr id="9" name="Shape 3"/>
          <p:cNvSpPr/>
          <p:nvPr/>
        </p:nvSpPr>
        <p:spPr>
          <a:xfrm>
            <a:off x="1357313" y="1294302"/>
            <a:ext cx="42863" cy="2996022"/>
          </a:xfrm>
          <a:prstGeom prst="rect">
            <a:avLst/>
          </a:prstGeom>
          <a:solidFill>
            <a:srgbClr val="DC8060"/>
          </a:solidFill>
          <a:ln/>
        </p:spPr>
        <p:txBody>
          <a:bodyPr/>
          <a:lstStyle/>
          <a:p>
            <a:endParaRPr lang="es-ES"/>
          </a:p>
        </p:txBody>
      </p:sp>
      <p:sp>
        <p:nvSpPr>
          <p:cNvPr id="10" name="Text 4"/>
          <p:cNvSpPr/>
          <p:nvPr/>
        </p:nvSpPr>
        <p:spPr>
          <a:xfrm>
            <a:off x="1785938" y="1651490"/>
            <a:ext cx="264881" cy="153888"/>
          </a:xfrm>
          <a:prstGeom prst="rect">
            <a:avLst/>
          </a:prstGeom>
          <a:noFill/>
          <a:ln/>
        </p:spPr>
        <p:txBody>
          <a:bodyPr wrap="none" lIns="0" tIns="0" rIns="0" bIns="0" rtlCol="0" anchor="t">
            <a:spAutoFit/>
          </a:bodyPr>
          <a:lstStyle/>
          <a:p>
            <a:pPr marL="0" indent="0" algn="l">
              <a:lnSpc>
                <a:spcPts val="1200"/>
              </a:lnSpc>
              <a:buNone/>
            </a:pPr>
            <a:r>
              <a:rPr lang="en-US" sz="1200" b="1" kern="0" spc="1" dirty="0">
                <a:solidFill>
                  <a:srgbClr val="8A9696"/>
                </a:solidFill>
              </a:rPr>
              <a:t>De:</a:t>
            </a:r>
            <a:endParaRPr lang="en-US" sz="1200" dirty="0"/>
          </a:p>
        </p:txBody>
      </p:sp>
      <p:sp>
        <p:nvSpPr>
          <p:cNvPr id="11" name="Text 5"/>
          <p:cNvSpPr/>
          <p:nvPr/>
        </p:nvSpPr>
        <p:spPr>
          <a:xfrm>
            <a:off x="1785938" y="1897949"/>
            <a:ext cx="5572125" cy="594327"/>
          </a:xfrm>
          <a:prstGeom prst="rect">
            <a:avLst/>
          </a:prstGeom>
          <a:noFill/>
          <a:ln/>
        </p:spPr>
        <p:txBody>
          <a:bodyPr wrap="square" lIns="0" tIns="0" rIns="0" bIns="0" rtlCol="0" anchor="t">
            <a:spAutoFit/>
          </a:bodyPr>
          <a:lstStyle/>
          <a:p>
            <a:pPr marL="0" indent="0" algn="l">
              <a:lnSpc>
                <a:spcPts val="2300"/>
              </a:lnSpc>
              <a:buNone/>
            </a:pPr>
            <a:r>
              <a:rPr lang="en-US" sz="1704" dirty="0">
                <a:solidFill>
                  <a:srgbClr val="E0EBEB">
                    <a:alpha val="70000"/>
                  </a:srgbClr>
                </a:solidFill>
              </a:rPr>
              <a:t>La sensación de impotencia ante la magnitud de la tormenta.</a:t>
            </a:r>
            <a:endParaRPr lang="en-US" sz="1704" dirty="0"/>
          </a:p>
        </p:txBody>
      </p:sp>
      <p:sp>
        <p:nvSpPr>
          <p:cNvPr id="13" name="Text 6"/>
          <p:cNvSpPr/>
          <p:nvPr/>
        </p:nvSpPr>
        <p:spPr>
          <a:xfrm>
            <a:off x="1785938" y="3092351"/>
            <a:ext cx="158954" cy="153888"/>
          </a:xfrm>
          <a:prstGeom prst="rect">
            <a:avLst/>
          </a:prstGeom>
          <a:noFill/>
          <a:ln/>
        </p:spPr>
        <p:txBody>
          <a:bodyPr wrap="none" lIns="0" tIns="0" rIns="0" bIns="0" rtlCol="0" anchor="t">
            <a:spAutoFit/>
          </a:bodyPr>
          <a:lstStyle/>
          <a:p>
            <a:pPr marL="0" indent="0" algn="l">
              <a:lnSpc>
                <a:spcPts val="1200"/>
              </a:lnSpc>
              <a:buNone/>
            </a:pPr>
            <a:r>
              <a:rPr lang="en-US" sz="1200" b="1" kern="0" spc="1" dirty="0">
                <a:solidFill>
                  <a:srgbClr val="DC8060"/>
                </a:solidFill>
              </a:rPr>
              <a:t>A:</a:t>
            </a:r>
            <a:endParaRPr lang="en-US" sz="1200" dirty="0"/>
          </a:p>
        </p:txBody>
      </p:sp>
      <p:sp>
        <p:nvSpPr>
          <p:cNvPr id="14" name="Text 7"/>
          <p:cNvSpPr/>
          <p:nvPr/>
        </p:nvSpPr>
        <p:spPr>
          <a:xfrm>
            <a:off x="1785938" y="3338810"/>
            <a:ext cx="5572125" cy="594327"/>
          </a:xfrm>
          <a:prstGeom prst="rect">
            <a:avLst/>
          </a:prstGeom>
          <a:noFill/>
          <a:ln/>
        </p:spPr>
        <p:txBody>
          <a:bodyPr wrap="square" lIns="0" tIns="0" rIns="0" bIns="0" rtlCol="0" anchor="t">
            <a:spAutoFit/>
          </a:bodyPr>
          <a:lstStyle/>
          <a:p>
            <a:pPr marL="0" indent="0" algn="l">
              <a:lnSpc>
                <a:spcPts val="2300"/>
              </a:lnSpc>
              <a:buNone/>
            </a:pPr>
            <a:r>
              <a:rPr lang="en-US" sz="1602" b="1" dirty="0">
                <a:solidFill>
                  <a:srgbClr val="FFFFFF"/>
                </a:solidFill>
              </a:rPr>
              <a:t>La certeza de que nuestra presencia es la primera herramienta de cambio.</a:t>
            </a:r>
            <a:endParaRPr lang="en-US" sz="1602"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6" name="Image 2" descr="preencoded.png"/>
          <p:cNvPicPr>
            <a:picLocks noChangeAspect="1"/>
          </p:cNvPicPr>
          <p:nvPr/>
        </p:nvPicPr>
        <p:blipFill>
          <a:blip r:embed="rId4">
            <a:alphaModFix amt="5000"/>
          </a:blip>
          <a:stretch>
            <a:fillRect/>
          </a:stretch>
        </p:blipFill>
        <p:spPr>
          <a:xfrm>
            <a:off x="2428875" y="428625"/>
            <a:ext cx="4286250" cy="4286250"/>
          </a:xfrm>
          <a:prstGeom prst="rect">
            <a:avLst/>
          </a:prstGeom>
        </p:spPr>
      </p:pic>
      <p:sp>
        <p:nvSpPr>
          <p:cNvPr id="7" name="Text 1"/>
          <p:cNvSpPr/>
          <p:nvPr/>
        </p:nvSpPr>
        <p:spPr>
          <a:xfrm>
            <a:off x="4223938" y="1594117"/>
            <a:ext cx="696097" cy="155377"/>
          </a:xfrm>
          <a:prstGeom prst="rect">
            <a:avLst/>
          </a:prstGeom>
          <a:noFill/>
          <a:ln/>
        </p:spPr>
        <p:txBody>
          <a:bodyPr wrap="none" lIns="0" tIns="0" rIns="0" bIns="0" rtlCol="0" anchor="t">
            <a:spAutoFit/>
          </a:bodyPr>
          <a:lstStyle/>
          <a:p>
            <a:pPr marL="0" indent="0" algn="ctr">
              <a:lnSpc>
                <a:spcPts val="1100"/>
              </a:lnSpc>
              <a:buNone/>
            </a:pPr>
            <a:r>
              <a:rPr lang="en-US" sz="784" b="1" kern="0" spc="2" dirty="0">
                <a:solidFill>
                  <a:srgbClr val="DC8060"/>
                </a:solidFill>
              </a:rPr>
              <a:t>Práctica</a:t>
            </a:r>
            <a:endParaRPr lang="en-US" sz="784" dirty="0"/>
          </a:p>
        </p:txBody>
      </p:sp>
      <p:sp>
        <p:nvSpPr>
          <p:cNvPr id="8" name="Text 2"/>
          <p:cNvSpPr/>
          <p:nvPr/>
        </p:nvSpPr>
        <p:spPr>
          <a:xfrm>
            <a:off x="2154092" y="1920943"/>
            <a:ext cx="4835816" cy="480054"/>
          </a:xfrm>
          <a:prstGeom prst="rect">
            <a:avLst/>
          </a:prstGeom>
          <a:noFill/>
          <a:ln/>
        </p:spPr>
        <p:txBody>
          <a:bodyPr wrap="none" lIns="0" tIns="0" rIns="0" bIns="0" rtlCol="0" anchor="t">
            <a:spAutoFit/>
          </a:bodyPr>
          <a:lstStyle/>
          <a:p>
            <a:pPr marL="0" indent="0" algn="ctr">
              <a:lnSpc>
                <a:spcPts val="3800"/>
              </a:lnSpc>
              <a:buNone/>
            </a:pPr>
            <a:r>
              <a:rPr lang="en-US" sz="2862" b="1" dirty="0">
                <a:solidFill>
                  <a:srgbClr val="2A5058"/>
                </a:solidFill>
              </a:rPr>
              <a:t>Meditación de intención</a:t>
            </a:r>
            <a:endParaRPr lang="en-US" sz="2862" dirty="0"/>
          </a:p>
        </p:txBody>
      </p:sp>
      <p:sp>
        <p:nvSpPr>
          <p:cNvPr id="9" name="Text 3"/>
          <p:cNvSpPr/>
          <p:nvPr/>
        </p:nvSpPr>
        <p:spPr>
          <a:xfrm>
            <a:off x="2698552" y="2572448"/>
            <a:ext cx="3746869" cy="273248"/>
          </a:xfrm>
          <a:prstGeom prst="rect">
            <a:avLst/>
          </a:prstGeom>
          <a:noFill/>
          <a:ln/>
        </p:spPr>
        <p:txBody>
          <a:bodyPr wrap="none" lIns="0" tIns="0" rIns="0" bIns="0" rtlCol="0" anchor="t">
            <a:spAutoFit/>
          </a:bodyPr>
          <a:lstStyle/>
          <a:p>
            <a:pPr marL="0" indent="0" algn="ctr">
              <a:lnSpc>
                <a:spcPts val="1900"/>
              </a:lnSpc>
              <a:buNone/>
            </a:pPr>
            <a:r>
              <a:rPr lang="en-US" sz="1486" dirty="0">
                <a:solidFill>
                  <a:srgbClr val="5A6A6A"/>
                </a:solidFill>
              </a:rPr>
              <a:t>Conectar con el propósito de estar aquí.</a:t>
            </a:r>
            <a:endParaRPr lang="en-US" sz="1486" dirty="0"/>
          </a:p>
        </p:txBody>
      </p:sp>
      <p:sp>
        <p:nvSpPr>
          <p:cNvPr id="10" name="Shape 4"/>
          <p:cNvSpPr/>
          <p:nvPr/>
        </p:nvSpPr>
        <p:spPr>
          <a:xfrm>
            <a:off x="3859160" y="3202884"/>
            <a:ext cx="1425653" cy="346472"/>
          </a:xfrm>
          <a:prstGeom prst="roundRect">
            <a:avLst/>
          </a:prstGeom>
          <a:solidFill>
            <a:srgbClr val="2A5058"/>
          </a:solidFill>
          <a:ln/>
        </p:spPr>
        <p:txBody>
          <a:bodyPr/>
          <a:lstStyle/>
          <a:p>
            <a:endParaRPr lang="es-ES"/>
          </a:p>
        </p:txBody>
      </p:sp>
      <p:pic>
        <p:nvPicPr>
          <p:cNvPr id="11" name="Image 3" descr="preencoded.png"/>
          <p:cNvPicPr>
            <a:picLocks noChangeAspect="1"/>
          </p:cNvPicPr>
          <p:nvPr/>
        </p:nvPicPr>
        <p:blipFill>
          <a:blip r:embed="rId5"/>
          <a:stretch>
            <a:fillRect/>
          </a:stretch>
        </p:blipFill>
        <p:spPr>
          <a:xfrm>
            <a:off x="4073472" y="3318970"/>
            <a:ext cx="120746" cy="114300"/>
          </a:xfrm>
          <a:prstGeom prst="rect">
            <a:avLst/>
          </a:prstGeom>
        </p:spPr>
      </p:pic>
      <p:sp>
        <p:nvSpPr>
          <p:cNvPr id="12" name="Text 5"/>
          <p:cNvSpPr/>
          <p:nvPr/>
        </p:nvSpPr>
        <p:spPr>
          <a:xfrm>
            <a:off x="4265656" y="3288609"/>
            <a:ext cx="804844" cy="175022"/>
          </a:xfrm>
          <a:prstGeom prst="rect">
            <a:avLst/>
          </a:prstGeom>
          <a:noFill/>
          <a:ln/>
        </p:spPr>
        <p:txBody>
          <a:bodyPr wrap="none" lIns="0" tIns="0" rIns="0" bIns="0" rtlCol="0" anchor="t">
            <a:spAutoFit/>
          </a:bodyPr>
          <a:lstStyle/>
          <a:p>
            <a:pPr marL="0" indent="0" algn="ctr">
              <a:lnSpc>
                <a:spcPts val="1200"/>
              </a:lnSpc>
              <a:buNone/>
            </a:pPr>
            <a:r>
              <a:rPr lang="en-US" sz="885" b="1" kern="0" spc="1" dirty="0">
                <a:solidFill>
                  <a:srgbClr val="FFFFFF"/>
                </a:solidFill>
              </a:rPr>
              <a:t>~ 5 minutos</a:t>
            </a:r>
            <a:endParaRPr lang="en-US" sz="885" dirty="0"/>
          </a:p>
        </p:txBody>
      </p:sp>
      <p:sp>
        <p:nvSpPr>
          <p:cNvPr id="13" name="Text 6"/>
          <p:cNvSpPr/>
          <p:nvPr/>
        </p:nvSpPr>
        <p:spPr>
          <a:xfrm>
            <a:off x="8538986" y="4793456"/>
            <a:ext cx="319264"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8A9696"/>
                </a:solidFill>
              </a:rPr>
              <a:t>28 / 29</a:t>
            </a:r>
            <a:endParaRPr lang="en-US" sz="683"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6" name="Image 2" descr="preencoded.png"/>
          <p:cNvPicPr>
            <a:picLocks noChangeAspect="1"/>
          </p:cNvPicPr>
          <p:nvPr/>
        </p:nvPicPr>
        <p:blipFill>
          <a:blip r:embed="rId4">
            <a:alphaModFix amt="10000"/>
          </a:blip>
          <a:stretch>
            <a:fillRect/>
          </a:stretch>
        </p:blipFill>
        <p:spPr>
          <a:xfrm>
            <a:off x="6286500" y="1428750"/>
            <a:ext cx="3571875" cy="3571875"/>
          </a:xfrm>
          <a:prstGeom prst="rect">
            <a:avLst/>
          </a:prstGeom>
        </p:spPr>
      </p:pic>
      <p:sp>
        <p:nvSpPr>
          <p:cNvPr id="7" name="Text 1"/>
          <p:cNvSpPr/>
          <p:nvPr/>
        </p:nvSpPr>
        <p:spPr>
          <a:xfrm>
            <a:off x="1000125" y="955867"/>
            <a:ext cx="7143750" cy="155377"/>
          </a:xfrm>
          <a:prstGeom prst="rect">
            <a:avLst/>
          </a:prstGeom>
          <a:noFill/>
          <a:ln/>
        </p:spPr>
        <p:txBody>
          <a:bodyPr wrap="none" lIns="0" tIns="0" rIns="0" bIns="0" rtlCol="0" anchor="t">
            <a:spAutoFit/>
          </a:bodyPr>
          <a:lstStyle/>
          <a:p>
            <a:pPr marL="0" indent="0" algn="ctr">
              <a:lnSpc>
                <a:spcPts val="1100"/>
              </a:lnSpc>
              <a:buNone/>
            </a:pPr>
            <a:r>
              <a:rPr lang="en-US" sz="784" b="1" kern="0" spc="2" dirty="0">
                <a:solidFill>
                  <a:srgbClr val="DC8060"/>
                </a:solidFill>
                <a:latin typeface="Montserrat"/>
              </a:rPr>
              <a:t>Reflexión</a:t>
            </a:r>
            <a:endParaRPr lang="en-US" sz="784" dirty="0">
              <a:latin typeface="Montserrat"/>
            </a:endParaRPr>
          </a:p>
        </p:txBody>
      </p:sp>
      <p:sp>
        <p:nvSpPr>
          <p:cNvPr id="8" name="Text 2"/>
          <p:cNvSpPr/>
          <p:nvPr/>
        </p:nvSpPr>
        <p:spPr>
          <a:xfrm>
            <a:off x="1000125" y="1325556"/>
            <a:ext cx="7143750" cy="1645853"/>
          </a:xfrm>
          <a:prstGeom prst="rect">
            <a:avLst/>
          </a:prstGeom>
          <a:noFill/>
          <a:ln/>
        </p:spPr>
        <p:txBody>
          <a:bodyPr wrap="square" lIns="0" tIns="0" rIns="0" bIns="0" rtlCol="0" anchor="t">
            <a:spAutoFit/>
          </a:bodyPr>
          <a:lstStyle/>
          <a:p>
            <a:pPr marL="0" indent="0" algn="ctr">
              <a:lnSpc>
                <a:spcPts val="4300"/>
              </a:lnSpc>
              <a:buNone/>
            </a:pPr>
            <a:r>
              <a:rPr lang="en-US" sz="3294" b="1" dirty="0">
                <a:solidFill>
                  <a:srgbClr val="FFFFFF"/>
                </a:solidFill>
                <a:latin typeface="Montserrat"/>
              </a:rPr>
              <a:t>¿Cuál de las tres respuestas reconoces más en ti últimamente?</a:t>
            </a:r>
            <a:endParaRPr lang="en-US" sz="3294" dirty="0">
              <a:latin typeface="Montserrat"/>
            </a:endParaRPr>
          </a:p>
        </p:txBody>
      </p:sp>
      <p:sp>
        <p:nvSpPr>
          <p:cNvPr id="9" name="Text 3"/>
          <p:cNvSpPr/>
          <p:nvPr/>
        </p:nvSpPr>
        <p:spPr>
          <a:xfrm>
            <a:off x="1000125" y="3185722"/>
            <a:ext cx="7143750" cy="312539"/>
          </a:xfrm>
          <a:prstGeom prst="rect">
            <a:avLst/>
          </a:prstGeom>
          <a:noFill/>
          <a:ln/>
        </p:spPr>
        <p:txBody>
          <a:bodyPr wrap="none" lIns="0" tIns="0" rIns="0" bIns="0" rtlCol="0" anchor="t">
            <a:spAutoFit/>
          </a:bodyPr>
          <a:lstStyle/>
          <a:p>
            <a:pPr marL="0" indent="0" algn="ctr">
              <a:lnSpc>
                <a:spcPts val="2200"/>
              </a:lnSpc>
              <a:buNone/>
            </a:pPr>
            <a:r>
              <a:rPr lang="en-US" sz="1704" i="1" dirty="0">
                <a:solidFill>
                  <a:srgbClr val="DC8060"/>
                </a:solidFill>
                <a:latin typeface="Montserrat"/>
              </a:rPr>
              <a:t>Una pausa para la honestidad.</a:t>
            </a:r>
            <a:endParaRPr lang="en-US" sz="1704" dirty="0">
              <a:latin typeface="Montserrat"/>
            </a:endParaRPr>
          </a:p>
        </p:txBody>
      </p:sp>
    </p:spTree>
    <p:extLst>
      <p:ext uri="{BB962C8B-B14F-4D97-AF65-F5344CB8AC3E}">
        <p14:creationId xmlns:p14="http://schemas.microsoft.com/office/powerpoint/2010/main" val="3305559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Cita">
    <p:bg>
      <p:bgPr>
        <a:solidFill>
          <a:srgbClr val="FDF8F4"/>
        </a:solidFill>
        <a:effectLst/>
      </p:bgPr>
    </p:bg>
    <p:spTree>
      <p:nvGrpSpPr>
        <p:cNvPr id="1" name=""/>
        <p:cNvGrpSpPr/>
        <p:nvPr/>
      </p:nvGrpSpPr>
      <p:grpSpPr>
        <a:xfrm>
          <a:off x="0" y="0"/>
          <a:ext cx="0" cy="0"/>
          <a:chOff x="0" y="0"/>
          <a:chExt cx="0" cy="0"/>
        </a:xfrm>
      </p:grpSpPr>
      <p:sp>
        <p:nvSpPr>
          <p:cNvPr id="2" name="QuoteMark"/>
          <p:cNvSpPr txBox="1"/>
          <p:nvPr/>
        </p:nvSpPr>
        <p:spPr>
          <a:xfrm>
            <a:off x="714375" y="1200000"/>
            <a:ext cx="914400" cy="685800"/>
          </a:xfrm>
          <a:prstGeom prst="rect">
            <a:avLst/>
          </a:prstGeom>
          <a:noFill/>
        </p:spPr>
        <p:txBody>
          <a:bodyPr wrap="square">
            <a:spAutoFit/>
          </a:bodyPr>
          <a:lstStyle/>
          <a:p>
            <a:pPr algn="l"/>
            <a:r>
              <a:rPr sz="5400" b="1" dirty="0">
                <a:solidFill>
                  <a:srgbClr val="DC8060">
                    <a:alpha val="30000"/>
                  </a:srgbClr>
                </a:solidFill>
                <a:latin typeface="Montserrat"/>
              </a:rPr>
              <a:t>““</a:t>
            </a:r>
          </a:p>
        </p:txBody>
      </p:sp>
      <p:sp>
        <p:nvSpPr>
          <p:cNvPr id="3" name="VerticalLine"/>
          <p:cNvSpPr/>
          <p:nvPr/>
        </p:nvSpPr>
        <p:spPr>
          <a:xfrm>
            <a:off x="714375" y="1200000"/>
            <a:ext cx="42863" cy="1600200"/>
          </a:xfrm>
          <a:prstGeom prst="rect">
            <a:avLst/>
          </a:prstGeom>
          <a:solidFill>
            <a:srgbClr val="DC8060"/>
          </a:solidFill>
          <a:ln>
            <a:noFill/>
          </a:ln>
        </p:spPr>
        <p:txBody>
          <a:bodyPr/>
          <a:lstStyle/>
          <a:p>
            <a:endParaRPr lang="es-ES"/>
          </a:p>
        </p:txBody>
      </p:sp>
      <p:sp>
        <p:nvSpPr>
          <p:cNvPr id="4" name="QuoteText"/>
          <p:cNvSpPr txBox="1"/>
          <p:nvPr/>
        </p:nvSpPr>
        <p:spPr>
          <a:xfrm>
            <a:off x="1143000" y="1371600"/>
            <a:ext cx="6858000" cy="914400"/>
          </a:xfrm>
          <a:prstGeom prst="rect">
            <a:avLst/>
          </a:prstGeom>
          <a:noFill/>
        </p:spPr>
        <p:txBody>
          <a:bodyPr wrap="square">
            <a:spAutoFit/>
          </a:bodyPr>
          <a:lstStyle/>
          <a:p>
            <a:pPr algn="l"/>
            <a:r>
              <a:rPr sz="2200" i="1" dirty="0">
                <a:solidFill>
                  <a:srgbClr val="374151"/>
                </a:solidFill>
                <a:latin typeface="Montserrat"/>
              </a:rPr>
              <a:t>[CITA]</a:t>
            </a:r>
          </a:p>
        </p:txBody>
      </p:sp>
      <p:sp>
        <p:nvSpPr>
          <p:cNvPr id="5" name="Author"/>
          <p:cNvSpPr txBox="1"/>
          <p:nvPr/>
        </p:nvSpPr>
        <p:spPr>
          <a:xfrm>
            <a:off x="1143000" y="2514600"/>
            <a:ext cx="6858000" cy="285750"/>
          </a:xfrm>
          <a:prstGeom prst="rect">
            <a:avLst/>
          </a:prstGeom>
          <a:noFill/>
        </p:spPr>
        <p:txBody>
          <a:bodyPr wrap="square">
            <a:spAutoFit/>
          </a:bodyPr>
          <a:lstStyle/>
          <a:p>
            <a:pPr algn="l"/>
            <a:r>
              <a:rPr sz="1200" b="1" dirty="0">
                <a:solidFill>
                  <a:srgbClr val="DC8060"/>
                </a:solidFill>
                <a:latin typeface="Montserrat"/>
              </a:rPr>
              <a:t>— [AUTOR]</a:t>
            </a:r>
          </a:p>
        </p:txBody>
      </p:sp>
      <p:sp>
        <p:nvSpPr>
          <p:cNvPr id="6" name="Source"/>
          <p:cNvSpPr txBox="1"/>
          <p:nvPr/>
        </p:nvSpPr>
        <p:spPr>
          <a:xfrm>
            <a:off x="1143000" y="2800350"/>
            <a:ext cx="6858000" cy="228600"/>
          </a:xfrm>
          <a:prstGeom prst="rect">
            <a:avLst/>
          </a:prstGeom>
          <a:noFill/>
        </p:spPr>
        <p:txBody>
          <a:bodyPr wrap="square">
            <a:spAutoFit/>
          </a:bodyPr>
          <a:lstStyle/>
          <a:p>
            <a:pPr algn="l"/>
            <a:r>
              <a:rPr sz="800" i="1" dirty="0">
                <a:solidFill>
                  <a:srgbClr val="9CA3AF"/>
                </a:solidFill>
                <a:latin typeface="Montserrat"/>
              </a:rPr>
              <a:t>[FUENTE]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Stat">
    <p:bg>
      <p:bgPr>
        <a:solidFill>
          <a:srgbClr val="FDF8F4"/>
        </a:solidFill>
        <a:effectLst/>
      </p:bgPr>
    </p:bg>
    <p:spTree>
      <p:nvGrpSpPr>
        <p:cNvPr id="1" name=""/>
        <p:cNvGrpSpPr/>
        <p:nvPr/>
      </p:nvGrpSpPr>
      <p:grpSpPr>
        <a:xfrm>
          <a:off x="0" y="0"/>
          <a:ext cx="0" cy="0"/>
          <a:chOff x="0" y="0"/>
          <a:chExt cx="0" cy="0"/>
        </a:xfrm>
      </p:grpSpPr>
      <p:sp>
        <p:nvSpPr>
          <p:cNvPr id="2" name="Label"/>
          <p:cNvSpPr txBox="1"/>
          <p:nvPr/>
        </p:nvSpPr>
        <p:spPr>
          <a:xfrm>
            <a:off x="714375" y="457200"/>
            <a:ext cx="7715250" cy="228600"/>
          </a:xfrm>
          <a:prstGeom prst="rect">
            <a:avLst/>
          </a:prstGeom>
          <a:noFill/>
        </p:spPr>
        <p:txBody>
          <a:bodyPr wrap="square">
            <a:spAutoFit/>
          </a:bodyPr>
          <a:lstStyle/>
          <a:p>
            <a:pPr algn="l"/>
            <a:r>
              <a:rPr sz="1000" b="1" dirty="0">
                <a:solidFill>
                  <a:srgbClr val="DC8060"/>
                </a:solidFill>
                <a:latin typeface="Montserrat"/>
              </a:rPr>
              <a:t>[ETIQUETA]</a:t>
            </a:r>
          </a:p>
        </p:txBody>
      </p:sp>
      <p:sp>
        <p:nvSpPr>
          <p:cNvPr id="3" name="StatNumber"/>
          <p:cNvSpPr txBox="1"/>
          <p:nvPr/>
        </p:nvSpPr>
        <p:spPr>
          <a:xfrm>
            <a:off x="714375" y="1371600"/>
            <a:ext cx="4572000" cy="1371600"/>
          </a:xfrm>
          <a:prstGeom prst="rect">
            <a:avLst/>
          </a:prstGeom>
          <a:noFill/>
        </p:spPr>
        <p:txBody>
          <a:bodyPr wrap="square">
            <a:spAutoFit/>
          </a:bodyPr>
          <a:lstStyle/>
          <a:p>
            <a:pPr algn="l"/>
            <a:r>
              <a:rPr sz="8000" b="1" dirty="0">
                <a:solidFill>
                  <a:srgbClr val="DC8060"/>
                </a:solidFill>
                <a:latin typeface="Montserrat"/>
              </a:rPr>
              <a:t>[STAT]</a:t>
            </a:r>
          </a:p>
        </p:txBody>
      </p:sp>
      <p:sp>
        <p:nvSpPr>
          <p:cNvPr id="4" name="StatDesc"/>
          <p:cNvSpPr txBox="1"/>
          <p:nvPr/>
        </p:nvSpPr>
        <p:spPr>
          <a:xfrm>
            <a:off x="714375" y="2857500"/>
            <a:ext cx="4572000" cy="457200"/>
          </a:xfrm>
          <a:prstGeom prst="rect">
            <a:avLst/>
          </a:prstGeom>
          <a:noFill/>
        </p:spPr>
        <p:txBody>
          <a:bodyPr wrap="square">
            <a:spAutoFit/>
          </a:bodyPr>
          <a:lstStyle/>
          <a:p>
            <a:pPr algn="l"/>
            <a:r>
              <a:rPr sz="1200" dirty="0">
                <a:solidFill>
                  <a:srgbClr val="374151"/>
                </a:solidFill>
                <a:latin typeface="Montserrat"/>
              </a:rPr>
              <a:t>[DESCRIPCIÓN]</a:t>
            </a:r>
          </a:p>
        </p:txBody>
      </p:sp>
      <p:sp>
        <p:nvSpPr>
          <p:cNvPr id="5" name="StatSource"/>
          <p:cNvSpPr txBox="1"/>
          <p:nvPr/>
        </p:nvSpPr>
        <p:spPr>
          <a:xfrm>
            <a:off x="714375" y="3429000"/>
            <a:ext cx="4572000" cy="228600"/>
          </a:xfrm>
          <a:prstGeom prst="rect">
            <a:avLst/>
          </a:prstGeom>
          <a:noFill/>
        </p:spPr>
        <p:txBody>
          <a:bodyPr wrap="square">
            <a:spAutoFit/>
          </a:bodyPr>
          <a:lstStyle/>
          <a:p>
            <a:pPr algn="l"/>
            <a:r>
              <a:rPr sz="800" i="1" dirty="0">
                <a:solidFill>
                  <a:srgbClr val="9CA3AF"/>
                </a:solidFill>
                <a:latin typeface="Montserrat"/>
              </a:rPr>
              <a:t>[FUENTE]</a:t>
            </a:r>
          </a:p>
        </p:txBody>
      </p:sp>
      <p:sp>
        <p:nvSpPr>
          <p:cNvPr id="6" name="ImagePlaceholder"/>
          <p:cNvSpPr txBox="1"/>
          <p:nvPr/>
        </p:nvSpPr>
        <p:spPr>
          <a:xfrm>
            <a:off x="5486400" y="1143000"/>
            <a:ext cx="3200400" cy="2743200"/>
          </a:xfrm>
          <a:prstGeom prst="rect">
            <a:avLst/>
          </a:prstGeom>
          <a:solidFill>
            <a:srgbClr val="E8F4F4">
              <a:alpha val="50000"/>
            </a:srgbClr>
          </a:solidFill>
          <a:ln>
            <a:noFill/>
          </a:ln>
        </p:spPr>
        <p:txBody>
          <a:bodyPr wrap="square" anchor="ctr"/>
          <a:lstStyle/>
          <a:p>
            <a:pPr algn="ctr"/>
            <a:r>
              <a:rPr sz="800" i="1" dirty="0">
                <a:solidFill>
                  <a:srgbClr val="9CA3AF"/>
                </a:solidFill>
                <a:latin typeface="Montserrat"/>
              </a:rPr>
              <a:t>[IMAGEN]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Reflexion">
    <p:spTree>
      <p:nvGrpSpPr>
        <p:cNvPr id="1" name=""/>
        <p:cNvGrpSpPr/>
        <p:nvPr/>
      </p:nvGrpSpPr>
      <p:grpSpPr>
        <a:xfrm>
          <a:off x="0" y="0"/>
          <a:ext cx="0" cy="0"/>
          <a:chOff x="0" y="0"/>
          <a:chExt cx="0" cy="0"/>
        </a:xfrm>
      </p:grpSpPr>
      <p:pic>
        <p:nvPicPr>
          <p:cNvPr id="2" name="Background" descr="preencoded.png"/>
          <p:cNvPicPr>
            <a:picLocks noChangeAspect="1"/>
          </p:cNvPicPr>
          <p:nvPr/>
        </p:nvPicPr>
        <p:blipFill>
          <a:blip r:embed="rId2"/>
          <a:stretch>
            <a:fillRect/>
          </a:stretch>
        </p:blipFill>
        <p:spPr>
          <a:xfrm>
            <a:off x="0" y="0"/>
            <a:ext cx="9144000" cy="5143500"/>
          </a:xfrm>
          <a:prstGeom prst="rect">
            <a:avLst/>
          </a:prstGeom>
        </p:spPr>
      </p:pic>
      <p:sp>
        <p:nvSpPr>
          <p:cNvPr id="3" name="Label"/>
          <p:cNvSpPr txBox="1"/>
          <p:nvPr/>
        </p:nvSpPr>
        <p:spPr>
          <a:xfrm>
            <a:off x="1143000" y="1371600"/>
            <a:ext cx="6858000" cy="228600"/>
          </a:xfrm>
          <a:prstGeom prst="rect">
            <a:avLst/>
          </a:prstGeom>
          <a:noFill/>
        </p:spPr>
        <p:txBody>
          <a:bodyPr wrap="square">
            <a:spAutoFit/>
          </a:bodyPr>
          <a:lstStyle/>
          <a:p>
            <a:pPr algn="ctr"/>
            <a:r>
              <a:rPr sz="1000" b="1" dirty="0">
                <a:solidFill>
                  <a:srgbClr val="DC8060"/>
                </a:solidFill>
                <a:latin typeface="Montserrat"/>
              </a:rPr>
              <a:t>[ETIQUETA]</a:t>
            </a:r>
          </a:p>
        </p:txBody>
      </p:sp>
      <p:sp>
        <p:nvSpPr>
          <p:cNvPr id="4" name="Question"/>
          <p:cNvSpPr txBox="1"/>
          <p:nvPr/>
        </p:nvSpPr>
        <p:spPr>
          <a:xfrm>
            <a:off x="1143000" y="1714500"/>
            <a:ext cx="6858000" cy="914400"/>
          </a:xfrm>
          <a:prstGeom prst="rect">
            <a:avLst/>
          </a:prstGeom>
          <a:noFill/>
        </p:spPr>
        <p:txBody>
          <a:bodyPr wrap="square">
            <a:spAutoFit/>
          </a:bodyPr>
          <a:lstStyle/>
          <a:p>
            <a:pPr algn="ctr"/>
            <a:r>
              <a:rPr sz="2200" b="1" dirty="0">
                <a:solidFill>
                  <a:srgbClr val="FFFFFF"/>
                </a:solidFill>
                <a:latin typeface="Montserrat"/>
              </a:rPr>
              <a:t>[PREGUNTA]</a:t>
            </a:r>
          </a:p>
        </p:txBody>
      </p:sp>
      <p:sp>
        <p:nvSpPr>
          <p:cNvPr id="5" name="SupportText"/>
          <p:cNvSpPr txBox="1"/>
          <p:nvPr/>
        </p:nvSpPr>
        <p:spPr>
          <a:xfrm>
            <a:off x="1714500" y="2857500"/>
            <a:ext cx="5715000" cy="457200"/>
          </a:xfrm>
          <a:prstGeom prst="rect">
            <a:avLst/>
          </a:prstGeom>
          <a:noFill/>
        </p:spPr>
        <p:txBody>
          <a:bodyPr wrap="square">
            <a:spAutoFit/>
          </a:bodyPr>
          <a:lstStyle/>
          <a:p>
            <a:pPr algn="ctr"/>
            <a:r>
              <a:rPr sz="1200" i="1" dirty="0">
                <a:solidFill>
                  <a:srgbClr val="D1D5DB"/>
                </a:solidFill>
                <a:latin typeface="Montserrat"/>
              </a:rPr>
              <a:t>[TEXTO APOYO]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Cierre">
    <p:spTree>
      <p:nvGrpSpPr>
        <p:cNvPr id="1" name=""/>
        <p:cNvGrpSpPr/>
        <p:nvPr/>
      </p:nvGrpSpPr>
      <p:grpSpPr>
        <a:xfrm>
          <a:off x="0" y="0"/>
          <a:ext cx="0" cy="0"/>
          <a:chOff x="0" y="0"/>
          <a:chExt cx="0" cy="0"/>
        </a:xfrm>
      </p:grpSpPr>
      <p:pic>
        <p:nvPicPr>
          <p:cNvPr id="2" name="Background" descr="image.jpg"/>
          <p:cNvPicPr>
            <a:picLocks noChangeAspect="1"/>
          </p:cNvPicPr>
          <p:nvPr/>
        </p:nvPicPr>
        <p:blipFill>
          <a:blip r:embed="rId2"/>
          <a:stretch>
            <a:fillRect/>
          </a:stretch>
        </p:blipFill>
        <p:spPr>
          <a:xfrm>
            <a:off x="0" y="0"/>
            <a:ext cx="9144000" cy="5143500"/>
          </a:xfrm>
          <a:prstGeom prst="rect">
            <a:avLst/>
          </a:prstGeom>
        </p:spPr>
      </p:pic>
      <p:sp>
        <p:nvSpPr>
          <p:cNvPr id="3" name="TitleGracias"/>
          <p:cNvSpPr txBox="1"/>
          <p:nvPr/>
        </p:nvSpPr>
        <p:spPr>
          <a:xfrm>
            <a:off x="1143000" y="1371600"/>
            <a:ext cx="6858000" cy="1143000"/>
          </a:xfrm>
          <a:prstGeom prst="rect">
            <a:avLst/>
          </a:prstGeom>
          <a:noFill/>
        </p:spPr>
        <p:txBody>
          <a:bodyPr wrap="square">
            <a:spAutoFit/>
          </a:bodyPr>
          <a:lstStyle/>
          <a:p>
            <a:pPr algn="ctr"/>
            <a:r>
              <a:rPr sz="4145" b="1" dirty="0">
                <a:solidFill>
                  <a:srgbClr val="FFFFFF"/>
                </a:solidFill>
                <a:latin typeface="Montserrat"/>
              </a:rPr>
              <a:t>Gracias</a:t>
            </a:r>
          </a:p>
        </p:txBody>
      </p:sp>
      <p:sp>
        <p:nvSpPr>
          <p:cNvPr id="4" name="ProgramName"/>
          <p:cNvSpPr txBox="1"/>
          <p:nvPr/>
        </p:nvSpPr>
        <p:spPr>
          <a:xfrm>
            <a:off x="1143000" y="2628900"/>
            <a:ext cx="6858000" cy="285750"/>
          </a:xfrm>
          <a:prstGeom prst="rect">
            <a:avLst/>
          </a:prstGeom>
          <a:noFill/>
        </p:spPr>
        <p:txBody>
          <a:bodyPr wrap="square">
            <a:spAutoFit/>
          </a:bodyPr>
          <a:lstStyle/>
          <a:p>
            <a:pPr algn="ctr"/>
            <a:r>
              <a:rPr sz="1200" b="1" dirty="0">
                <a:solidFill>
                  <a:srgbClr val="DC8060"/>
                </a:solidFill>
                <a:latin typeface="Montserrat"/>
              </a:rPr>
              <a:t>Liderar con Consciencia</a:t>
            </a:r>
          </a:p>
        </p:txBody>
      </p:sp>
      <p:sp>
        <p:nvSpPr>
          <p:cNvPr id="5" name="URL"/>
          <p:cNvSpPr txBox="1"/>
          <p:nvPr/>
        </p:nvSpPr>
        <p:spPr>
          <a:xfrm>
            <a:off x="1143000" y="2971800"/>
            <a:ext cx="6858000" cy="228600"/>
          </a:xfrm>
          <a:prstGeom prst="rect">
            <a:avLst/>
          </a:prstGeom>
          <a:noFill/>
        </p:spPr>
        <p:txBody>
          <a:bodyPr wrap="square">
            <a:spAutoFit/>
          </a:bodyPr>
          <a:lstStyle/>
          <a:p>
            <a:pPr algn="ctr"/>
            <a:r>
              <a:rPr sz="800" dirty="0">
                <a:solidFill>
                  <a:srgbClr val="D1D5DB"/>
                </a:solidFill>
                <a:latin typeface="Montserrat"/>
              </a:rPr>
              <a:t>www.liderarconconsciencia.com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1792</Words>
  <Application>Microsoft Office PowerPoint</Application>
  <PresentationFormat>Presentación en pantalla (16:9)</PresentationFormat>
  <Paragraphs>284</Paragraphs>
  <Slides>25</Slides>
  <Notes>21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25</vt:i4>
      </vt:variant>
    </vt:vector>
  </HeadingPairs>
  <TitlesOfParts>
    <vt:vector size="28" baseType="lpstr">
      <vt:lpstr>Arial</vt:lpstr>
      <vt:lpstr>Montserrat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Sergio LG</cp:lastModifiedBy>
  <cp:revision>14</cp:revision>
  <dcterms:created xsi:type="dcterms:W3CDTF">2026-02-14T09:46:26Z</dcterms:created>
  <dcterms:modified xsi:type="dcterms:W3CDTF">2026-02-15T03:20:57Z</dcterms:modified>
</cp:coreProperties>
</file>