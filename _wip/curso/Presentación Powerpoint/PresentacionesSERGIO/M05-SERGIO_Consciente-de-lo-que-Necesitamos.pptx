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75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3216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972793D-7DDA-9D3D-0594-7EF155ED061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jpe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jpe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image" Target="../media/image63.jpe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jpe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6.jpe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9" Type="http://schemas.openxmlformats.org/officeDocument/2006/relationships/image" Target="../media/image10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jpe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eg"/><Relationship Id="rId7" Type="http://schemas.openxmlformats.org/officeDocument/2006/relationships/image" Target="../media/image1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1006041"/>
            <a:ext cx="6786563" cy="233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93" b="1">
                <a:solidFill>
                  <a:srgbClr val="DC8060"/>
                </a:solidFill>
                <a:latin typeface="Montserrat"/>
              </a:rPr>
              <a:t>Módulo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4375" y="1454311"/>
            <a:ext cx="6786563" cy="1200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145" b="1">
                <a:solidFill>
                  <a:srgbClr val="FFFFFF"/>
                </a:solidFill>
                <a:latin typeface="Montserrat"/>
              </a:rPr>
              <a:t>Consciente de lo</a:t>
            </a:r>
          </a:p>
          <a:p>
            <a:pPr algn="l"/>
            <a:r>
              <a:rPr sz="4145" b="1">
                <a:solidFill>
                  <a:srgbClr val="FFFFFF"/>
                </a:solidFill>
                <a:latin typeface="Montserrat"/>
              </a:rPr>
              <a:t>que Necesitamos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5844" y="3497424"/>
            <a:ext cx="6465094" cy="6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4" b="0" dirty="0">
                <a:solidFill>
                  <a:srgbClr val="E0EBEB"/>
                </a:solidFill>
                <a:latin typeface="Montserrat"/>
              </a:rPr>
              <a:t>¿</a:t>
            </a:r>
            <a:r>
              <a:rPr lang="es-ES" sz="1704" b="0" dirty="0">
                <a:solidFill>
                  <a:srgbClr val="E0EBEB"/>
                </a:solidFill>
                <a:latin typeface="Montserrat"/>
              </a:rPr>
              <a:t>Cómo extiendo mi consciencia hacia los demás sin perderme?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705083"/>
            <a:ext cx="77152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EL SALTO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714375" y="965829"/>
            <a:ext cx="7715250" cy="817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649" b="1" dirty="0">
                <a:solidFill>
                  <a:srgbClr val="FFFFFF"/>
                </a:solidFill>
              </a:rPr>
              <a:t>Sabes cuidarte.
Pero el liderazgo no ocurre en el vacío.</a:t>
            </a:r>
            <a:endParaRPr lang="en-US" sz="2649" dirty="0"/>
          </a:p>
        </p:txBody>
      </p:sp>
      <p:sp>
        <p:nvSpPr>
          <p:cNvPr id="5" name="Shape 2"/>
          <p:cNvSpPr/>
          <p:nvPr/>
        </p:nvSpPr>
        <p:spPr>
          <a:xfrm>
            <a:off x="714375" y="1925938"/>
            <a:ext cx="5715000" cy="2357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714375" y="1925938"/>
            <a:ext cx="28575" cy="235744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14375" y="1925938"/>
            <a:ext cx="5715000" cy="235744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C0C0C0"/>
                </a:solidFill>
              </a:rPr>
              <a:t>Aún no has extendido esa consciencia hacia los demás.</a:t>
            </a:r>
            <a:endParaRPr lang="en-US" sz="1159" dirty="0"/>
          </a:p>
        </p:txBody>
      </p:sp>
      <p:sp>
        <p:nvSpPr>
          <p:cNvPr id="8" name="Shape 5"/>
          <p:cNvSpPr/>
          <p:nvPr/>
        </p:nvSpPr>
        <p:spPr>
          <a:xfrm>
            <a:off x="1828800" y="2534943"/>
            <a:ext cx="2143125" cy="1250156"/>
          </a:xfrm>
          <a:prstGeom prst="rect">
            <a:avLst/>
          </a:prstGeom>
          <a:solidFill>
            <a:srgbClr val="FFFFFF">
              <a:alpha val="6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2686050" y="2713537"/>
            <a:ext cx="428625" cy="428625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353" y="2842124"/>
            <a:ext cx="150019" cy="1714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28825" y="3242174"/>
            <a:ext cx="17430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FFFFFF"/>
                </a:solidFill>
              </a:rPr>
              <a:t>Consciencia Interior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2028825" y="3460059"/>
            <a:ext cx="17430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80" dirty="0">
                <a:solidFill>
                  <a:srgbClr val="AAAAAA"/>
                </a:solidFill>
              </a:rPr>
              <a:t>Módulos 1 – 4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4143375" y="3149305"/>
            <a:ext cx="857250" cy="21431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0"/>
          <p:cNvSpPr/>
          <p:nvPr/>
        </p:nvSpPr>
        <p:spPr>
          <a:xfrm>
            <a:off x="5172075" y="2447432"/>
            <a:ext cx="2143125" cy="1425178"/>
          </a:xfrm>
          <a:prstGeom prst="rect">
            <a:avLst/>
          </a:prstGeom>
          <a:solidFill>
            <a:srgbClr val="DC8060">
              <a:alpha val="12000"/>
            </a:srgbClr>
          </a:solidFill>
          <a:ln w="9144">
            <a:solidFill>
              <a:srgbClr val="DC8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6029325" y="2626026"/>
            <a:ext cx="428625" cy="428625"/>
          </a:xfrm>
          <a:prstGeom prst="ellipse">
            <a:avLst/>
          </a:prstGeom>
          <a:solidFill>
            <a:srgbClr val="DC8060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6481" y="2754613"/>
            <a:ext cx="214313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72100" y="3154663"/>
            <a:ext cx="1743075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DC8060"/>
                </a:solidFill>
              </a:rPr>
              <a:t>Consciencia Relacional</a:t>
            </a:r>
            <a:endParaRPr lang="en-US" sz="885" dirty="0"/>
          </a:p>
        </p:txBody>
      </p:sp>
      <p:sp>
        <p:nvSpPr>
          <p:cNvPr id="18" name="Text 13"/>
          <p:cNvSpPr/>
          <p:nvPr/>
        </p:nvSpPr>
        <p:spPr>
          <a:xfrm>
            <a:off x="5372100" y="3547570"/>
            <a:ext cx="17430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80" dirty="0">
                <a:solidFill>
                  <a:srgbClr val="AAAAAA"/>
                </a:solidFill>
              </a:rPr>
              <a:t>Módulo 05</a:t>
            </a:r>
            <a:endParaRPr lang="en-US" sz="780" dirty="0"/>
          </a:p>
        </p:txBody>
      </p:sp>
      <p:sp>
        <p:nvSpPr>
          <p:cNvPr id="19" name="Text 14"/>
          <p:cNvSpPr/>
          <p:nvPr/>
        </p:nvSpPr>
        <p:spPr>
          <a:xfrm>
            <a:off x="714375" y="4151216"/>
            <a:ext cx="7715250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DC8060"/>
                </a:solidFill>
              </a:rPr>
              <a:t>¿Cómo extiendo mi consciencia hacia los demás sin perderme?</a:t>
            </a:r>
            <a:endParaRPr lang="en-US" sz="1397" dirty="0"/>
          </a:p>
        </p:txBody>
      </p:sp>
      <p:sp>
        <p:nvSpPr>
          <p:cNvPr id="20" name="Shape 15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6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El liderazgo ocurre </a:t>
            </a:r>
            <a:r>
              <a:rPr lang="en-US" sz="888" i="1" dirty="0">
                <a:solidFill>
                  <a:srgbClr val="DC8060"/>
                </a:solidFill>
              </a:rPr>
              <a:t>en relación</a:t>
            </a:r>
            <a:r>
              <a:rPr lang="en-US" sz="888" dirty="0">
                <a:solidFill>
                  <a:srgbClr val="FFFFFF"/>
                </a:solidFill>
              </a:rPr>
              <a:t>. Nunca en aislamiento.</a:t>
            </a:r>
            <a:endParaRPr lang="en-US" sz="88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1617166"/>
            <a:ext cx="1471054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27" b="1">
                <a:solidFill>
                  <a:srgbClr val="DC8060"/>
                </a:solidFill>
                <a:latin typeface="Montserra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2679" y="1688604"/>
            <a:ext cx="4920816" cy="194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7" b="1">
                <a:solidFill>
                  <a:srgbClr val="E0EBEB"/>
                </a:solidFill>
                <a:latin typeface="Montserrat"/>
              </a:rPr>
              <a:t>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2679" y="2026146"/>
            <a:ext cx="4920816" cy="1005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94" b="1">
                <a:solidFill>
                  <a:srgbClr val="FFFFFF"/>
                </a:solidFill>
                <a:latin typeface="Montserrat"/>
              </a:rPr>
              <a:t>Diseñados para</a:t>
            </a:r>
          </a:p>
          <a:p>
            <a:pPr algn="l"/>
            <a:r>
              <a:rPr sz="3294" b="1">
                <a:solidFill>
                  <a:srgbClr val="FFFFFF"/>
                </a:solidFill>
                <a:latin typeface="Montserrat"/>
              </a:rPr>
              <a:t>la Conexión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2679" y="3246276"/>
            <a:ext cx="4920816" cy="28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86" b="0">
                <a:solidFill>
                  <a:srgbClr val="E0EBEB"/>
                </a:solidFill>
                <a:latin typeface="Montserrat"/>
              </a:rPr>
              <a:t>Por qué tu cerebro es una máquina social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EL CEREBRO SOCIAL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El Hardware de la Conexión</a:t>
            </a:r>
            <a:endParaRPr lang="en-US" sz="2226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980" y="1974884"/>
            <a:ext cx="1857375" cy="185737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969051" y="1555189"/>
            <a:ext cx="4603449" cy="8036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3"/>
          <p:cNvSpPr/>
          <p:nvPr/>
        </p:nvSpPr>
        <p:spPr>
          <a:xfrm>
            <a:off x="3969051" y="1555189"/>
            <a:ext cx="4603449" cy="28575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4"/>
          <p:cNvSpPr/>
          <p:nvPr/>
        </p:nvSpPr>
        <p:spPr>
          <a:xfrm>
            <a:off x="8565356" y="1555189"/>
            <a:ext cx="7144" cy="8036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5"/>
          <p:cNvSpPr/>
          <p:nvPr/>
        </p:nvSpPr>
        <p:spPr>
          <a:xfrm>
            <a:off x="3969051" y="2351717"/>
            <a:ext cx="4603449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6"/>
          <p:cNvSpPr/>
          <p:nvPr/>
        </p:nvSpPr>
        <p:spPr>
          <a:xfrm>
            <a:off x="3969051" y="1555189"/>
            <a:ext cx="7144" cy="8036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7"/>
          <p:cNvSpPr/>
          <p:nvPr/>
        </p:nvSpPr>
        <p:spPr>
          <a:xfrm>
            <a:off x="4140501" y="1687348"/>
            <a:ext cx="426054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C8060"/>
                </a:solidFill>
              </a:rPr>
              <a:t>Corteza Prefrontal Medial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4140501" y="1905233"/>
            <a:ext cx="426054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Procesa información sobre uno mismo y los demás. Permite "modelar" la mente del otro. Base de la teoría de la mente.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3969051" y="2483876"/>
            <a:ext cx="4603449" cy="8036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0"/>
          <p:cNvSpPr/>
          <p:nvPr/>
        </p:nvSpPr>
        <p:spPr>
          <a:xfrm>
            <a:off x="3969051" y="2483876"/>
            <a:ext cx="4603449" cy="28575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8565356" y="2483876"/>
            <a:ext cx="7144" cy="8036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3969051" y="3280404"/>
            <a:ext cx="4603449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3969051" y="2483876"/>
            <a:ext cx="7144" cy="8036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4"/>
          <p:cNvSpPr/>
          <p:nvPr/>
        </p:nvSpPr>
        <p:spPr>
          <a:xfrm>
            <a:off x="4140501" y="2616036"/>
            <a:ext cx="426054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C8060"/>
                </a:solidFill>
              </a:rPr>
              <a:t>Amígdala</a:t>
            </a:r>
            <a:endParaRPr lang="en-US" sz="885" dirty="0"/>
          </a:p>
        </p:txBody>
      </p:sp>
      <p:sp>
        <p:nvSpPr>
          <p:cNvPr id="19" name="Text 15"/>
          <p:cNvSpPr/>
          <p:nvPr/>
        </p:nvSpPr>
        <p:spPr>
          <a:xfrm>
            <a:off x="4140501" y="2833920"/>
            <a:ext cx="426054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Detecta señales emocionales en otros. Responde a expresiones faciales y tono de voz. Sintoniza con el estado del otro.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3969051" y="3412564"/>
            <a:ext cx="4603449" cy="8036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7"/>
          <p:cNvSpPr/>
          <p:nvPr/>
        </p:nvSpPr>
        <p:spPr>
          <a:xfrm>
            <a:off x="3969051" y="3412564"/>
            <a:ext cx="4603449" cy="28575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18"/>
          <p:cNvSpPr/>
          <p:nvPr/>
        </p:nvSpPr>
        <p:spPr>
          <a:xfrm>
            <a:off x="8565356" y="3412564"/>
            <a:ext cx="7144" cy="8036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19"/>
          <p:cNvSpPr/>
          <p:nvPr/>
        </p:nvSpPr>
        <p:spPr>
          <a:xfrm>
            <a:off x="3969051" y="4209092"/>
            <a:ext cx="4603449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0"/>
          <p:cNvSpPr/>
          <p:nvPr/>
        </p:nvSpPr>
        <p:spPr>
          <a:xfrm>
            <a:off x="3969051" y="3412564"/>
            <a:ext cx="7144" cy="8036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1"/>
          <p:cNvSpPr/>
          <p:nvPr/>
        </p:nvSpPr>
        <p:spPr>
          <a:xfrm>
            <a:off x="4140501" y="3544723"/>
            <a:ext cx="426054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C8060"/>
                </a:solidFill>
              </a:rPr>
              <a:t>Ínsula</a:t>
            </a:r>
            <a:endParaRPr lang="en-US" sz="885" dirty="0"/>
          </a:p>
        </p:txBody>
      </p:sp>
      <p:sp>
        <p:nvSpPr>
          <p:cNvPr id="26" name="Text 22"/>
          <p:cNvSpPr/>
          <p:nvPr/>
        </p:nvSpPr>
        <p:spPr>
          <a:xfrm>
            <a:off x="4140501" y="3762608"/>
            <a:ext cx="426054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Procesa no solo estados propios, sino la percepción del estado de otros. Base de la empatía corporal.</a:t>
            </a:r>
            <a:endParaRPr lang="en-US" sz="780" dirty="0"/>
          </a:p>
        </p:txBody>
      </p:sp>
      <p:sp>
        <p:nvSpPr>
          <p:cNvPr id="27" name="Shape 23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4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La necesidad de conexión no es debilidad: es </a:t>
            </a:r>
            <a:r>
              <a:rPr lang="en-US" sz="888" i="1" dirty="0">
                <a:solidFill>
                  <a:srgbClr val="DC8060"/>
                </a:solidFill>
              </a:rPr>
              <a:t>diseño evolutivo</a:t>
            </a:r>
            <a:r>
              <a:rPr lang="en-US" sz="888" dirty="0">
                <a:solidFill>
                  <a:srgbClr val="FFFFFF"/>
                </a:solidFill>
              </a:rPr>
              <a:t> codificado en tu cerebro.</a:t>
            </a:r>
            <a:endParaRPr lang="en-US" sz="8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NEURONAS ESPEJO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Tu Cuerpo Sabe Antes que Tú</a:t>
            </a:r>
            <a:endParaRPr lang="en-US" sz="2226" dirty="0"/>
          </a:p>
        </p:txBody>
      </p:sp>
      <p:sp>
        <p:nvSpPr>
          <p:cNvPr id="5" name="Shape 2"/>
          <p:cNvSpPr/>
          <p:nvPr/>
        </p:nvSpPr>
        <p:spPr>
          <a:xfrm>
            <a:off x="571500" y="2103472"/>
            <a:ext cx="4086225" cy="162877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011482" y="2367790"/>
            <a:ext cx="571500" cy="571500"/>
          </a:xfrm>
          <a:prstGeom prst="ellipse">
            <a:avLst/>
          </a:prstGeom>
          <a:solidFill>
            <a:srgbClr val="2D4A4E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220" y="2539240"/>
            <a:ext cx="200025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9253" y="3039303"/>
            <a:ext cx="3559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F3A3D"/>
                </a:solidFill>
              </a:rPr>
              <a:t>ACTOR</a:t>
            </a:r>
            <a:endParaRPr lang="en-US" sz="734" dirty="0"/>
          </a:p>
        </p:txBody>
      </p:sp>
      <p:sp>
        <p:nvSpPr>
          <p:cNvPr id="9" name="Text 5"/>
          <p:cNvSpPr/>
          <p:nvPr/>
        </p:nvSpPr>
        <p:spPr>
          <a:xfrm>
            <a:off x="828675" y="3214325"/>
            <a:ext cx="937143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Realiza una acción
o siente una emoción</a:t>
            </a:r>
            <a:endParaRPr lang="en-US" sz="674" dirty="0"/>
          </a:p>
        </p:txBody>
      </p:sp>
      <p:sp>
        <p:nvSpPr>
          <p:cNvPr id="10" name="Shape 6"/>
          <p:cNvSpPr/>
          <p:nvPr/>
        </p:nvSpPr>
        <p:spPr>
          <a:xfrm>
            <a:off x="1908693" y="2910715"/>
            <a:ext cx="1565151" cy="14288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7"/>
          <p:cNvSpPr/>
          <p:nvPr/>
        </p:nvSpPr>
        <p:spPr>
          <a:xfrm>
            <a:off x="3719299" y="2367790"/>
            <a:ext cx="571500" cy="571500"/>
          </a:xfrm>
          <a:prstGeom prst="ellipse">
            <a:avLst/>
          </a:prstGeom>
          <a:solidFill>
            <a:srgbClr val="DC8060">
              <a:alpha val="12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036" y="2539240"/>
            <a:ext cx="200025" cy="2286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133636" y="2324928"/>
            <a:ext cx="200025" cy="200025"/>
          </a:xfrm>
          <a:prstGeom prst="ellipse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1502" y="2382078"/>
            <a:ext cx="64294" cy="857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44205" y="3039303"/>
            <a:ext cx="72171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F3A3D"/>
                </a:solidFill>
              </a:rPr>
              <a:t>OBSERVADOR</a:t>
            </a:r>
            <a:endParaRPr lang="en-US" sz="734" dirty="0"/>
          </a:p>
        </p:txBody>
      </p:sp>
      <p:sp>
        <p:nvSpPr>
          <p:cNvPr id="16" name="Text 10"/>
          <p:cNvSpPr/>
          <p:nvPr/>
        </p:nvSpPr>
        <p:spPr>
          <a:xfrm>
            <a:off x="3616719" y="3214325"/>
            <a:ext cx="776687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Se activan las
mismas neuronas</a:t>
            </a:r>
            <a:endParaRPr lang="en-US" sz="674" dirty="0"/>
          </a:p>
        </p:txBody>
      </p:sp>
      <p:sp>
        <p:nvSpPr>
          <p:cNvPr id="17" name="Text 11"/>
          <p:cNvSpPr/>
          <p:nvPr/>
        </p:nvSpPr>
        <p:spPr>
          <a:xfrm>
            <a:off x="5007769" y="1801704"/>
            <a:ext cx="35647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Las neuronas espejo se activan tanto cuando realizas una acción como cuando observas a otra persona realizarla.</a:t>
            </a:r>
            <a:endParaRPr lang="en-US" sz="942" dirty="0"/>
          </a:p>
        </p:txBody>
      </p:sp>
      <p:sp>
        <p:nvSpPr>
          <p:cNvPr id="18" name="Text 12"/>
          <p:cNvSpPr/>
          <p:nvPr/>
        </p:nvSpPr>
        <p:spPr>
          <a:xfrm>
            <a:off x="5007769" y="2327439"/>
            <a:ext cx="356473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Este sistema permite "sentir" lo que otros sienten. Es el fundamento neurológico de la empatía, la imitación y la conexión emocional.</a:t>
            </a:r>
            <a:endParaRPr lang="en-US" sz="942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7769" y="3078538"/>
            <a:ext cx="107156" cy="1071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86363" y="3058892"/>
            <a:ext cx="236419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i="1" dirty="0">
                <a:solidFill>
                  <a:srgbClr val="666666"/>
                </a:solidFill>
              </a:rPr>
              <a:t>Como un diapasón que resuena con otro cercano.</a:t>
            </a:r>
            <a:endParaRPr lang="en-US" sz="780" dirty="0"/>
          </a:p>
        </p:txBody>
      </p:sp>
      <p:sp>
        <p:nvSpPr>
          <p:cNvPr id="21" name="Shape 14"/>
          <p:cNvSpPr/>
          <p:nvPr/>
        </p:nvSpPr>
        <p:spPr>
          <a:xfrm>
            <a:off x="5007769" y="3348214"/>
            <a:ext cx="3564731" cy="685800"/>
          </a:xfrm>
          <a:prstGeom prst="rect">
            <a:avLst/>
          </a:prstGeom>
          <a:solidFill>
            <a:srgbClr val="E8F0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15"/>
          <p:cNvSpPr/>
          <p:nvPr/>
        </p:nvSpPr>
        <p:spPr>
          <a:xfrm>
            <a:off x="5007769" y="3348214"/>
            <a:ext cx="28575" cy="685800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16"/>
          <p:cNvSpPr/>
          <p:nvPr/>
        </p:nvSpPr>
        <p:spPr>
          <a:xfrm>
            <a:off x="5150644" y="3462514"/>
            <a:ext cx="32789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i="1" dirty="0">
                <a:solidFill>
                  <a:srgbClr val="1F3A3D"/>
                </a:solidFill>
              </a:rPr>
              <a:t>"Cuando ves a alguien sufrir, parte de tu cerebro 'sufre' también."</a:t>
            </a:r>
            <a:endParaRPr lang="en-US" sz="987" dirty="0"/>
          </a:p>
        </p:txBody>
      </p:sp>
      <p:sp>
        <p:nvSpPr>
          <p:cNvPr id="24" name="Shape 17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18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Tu cerebro está diseñado para la </a:t>
            </a:r>
            <a:r>
              <a:rPr lang="en-US" sz="888" i="1" dirty="0">
                <a:solidFill>
                  <a:srgbClr val="DC8060"/>
                </a:solidFill>
              </a:rPr>
              <a:t>resonancia emocional</a:t>
            </a:r>
            <a:r>
              <a:rPr lang="en-US" sz="888" dirty="0">
                <a:solidFill>
                  <a:srgbClr val="FFFFFF"/>
                </a:solidFill>
              </a:rPr>
              <a:t>.</a:t>
            </a:r>
            <a:endParaRPr lang="en-US" sz="88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CONTAGIO EMOCIONAL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El Termostato Emocional del Grupo</a:t>
            </a:r>
            <a:endParaRPr lang="en-US" sz="2226" dirty="0"/>
          </a:p>
        </p:txBody>
      </p:sp>
      <p:sp>
        <p:nvSpPr>
          <p:cNvPr id="5" name="Text 2"/>
          <p:cNvSpPr/>
          <p:nvPr/>
        </p:nvSpPr>
        <p:spPr>
          <a:xfrm>
            <a:off x="571500" y="1163706"/>
            <a:ext cx="34744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F3A3D"/>
                </a:solidFill>
              </a:rPr>
              <a:t>El Mecanismo Automático</a:t>
            </a:r>
            <a:endParaRPr lang="en-US" sz="885" dirty="0"/>
          </a:p>
        </p:txBody>
      </p:sp>
      <p:sp>
        <p:nvSpPr>
          <p:cNvPr id="6" name="Shape 3"/>
          <p:cNvSpPr/>
          <p:nvPr/>
        </p:nvSpPr>
        <p:spPr>
          <a:xfrm>
            <a:off x="571500" y="1481603"/>
            <a:ext cx="214313" cy="214313"/>
          </a:xfrm>
          <a:prstGeom prst="ellipse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71500" y="1481603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885825" y="1481603"/>
            <a:ext cx="25229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Observas el estado emocional de otra persona.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571500" y="1838790"/>
            <a:ext cx="214313" cy="214313"/>
          </a:xfrm>
          <a:prstGeom prst="ellipse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571500" y="1838790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885825" y="1838790"/>
            <a:ext cx="2478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Tus neuronas espejo se activan en resonancia.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571500" y="2195978"/>
            <a:ext cx="214313" cy="214313"/>
          </a:xfrm>
          <a:prstGeom prst="ellipse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571500" y="2195978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885825" y="2195978"/>
            <a:ext cx="25847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Tu propio estado fisiológico se ajusta al del otro.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571500" y="2553165"/>
            <a:ext cx="214313" cy="214313"/>
          </a:xfrm>
          <a:prstGeom prst="ellipse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571500" y="2553165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885825" y="2553165"/>
            <a:ext cx="29709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Respondes (conscientemente o no) a ese nuevo estado.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6373313" y="1681628"/>
            <a:ext cx="22899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LÍDER</a:t>
            </a:r>
            <a:endParaRPr lang="en-US" sz="534" dirty="0"/>
          </a:p>
        </p:txBody>
      </p:sp>
      <p:sp>
        <p:nvSpPr>
          <p:cNvPr id="19" name="Shape 16"/>
          <p:cNvSpPr/>
          <p:nvPr/>
        </p:nvSpPr>
        <p:spPr>
          <a:xfrm>
            <a:off x="4403145" y="2478156"/>
            <a:ext cx="4169355" cy="132873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4403145" y="2478156"/>
            <a:ext cx="2084663" cy="346472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4403145" y="2478156"/>
            <a:ext cx="2084663" cy="346472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Líder Regulado</a:t>
            </a:r>
            <a:endParaRPr lang="en-US" sz="734" dirty="0"/>
          </a:p>
        </p:txBody>
      </p:sp>
      <p:sp>
        <p:nvSpPr>
          <p:cNvPr id="22" name="Shape 19"/>
          <p:cNvSpPr/>
          <p:nvPr/>
        </p:nvSpPr>
        <p:spPr>
          <a:xfrm>
            <a:off x="6487809" y="2478156"/>
            <a:ext cx="2084691" cy="346472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6487809" y="2478156"/>
            <a:ext cx="2084691" cy="346472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Líder Desregulado</a:t>
            </a:r>
            <a:endParaRPr lang="en-US" sz="734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445" y="2931784"/>
            <a:ext cx="107156" cy="1071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681751" y="2910353"/>
            <a:ext cx="85619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Transmite calma</a:t>
            </a:r>
            <a:endParaRPr lang="en-US" sz="78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109" y="2931784"/>
            <a:ext cx="107156" cy="10715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66415" y="2910353"/>
            <a:ext cx="93206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Transmite tensión</a:t>
            </a:r>
            <a:endParaRPr lang="en-US" sz="78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445" y="3256824"/>
            <a:ext cx="133945" cy="1071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708541" y="3235393"/>
            <a:ext cx="98382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El equipo se regula</a:t>
            </a:r>
            <a:endParaRPr lang="en-US" sz="78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2109" y="3256824"/>
            <a:ext cx="133945" cy="1071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793204" y="3235393"/>
            <a:ext cx="116147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El equipo se desregula</a:t>
            </a:r>
            <a:endParaRPr lang="en-US" sz="780" dirty="0"/>
          </a:p>
        </p:txBody>
      </p:sp>
      <p:sp>
        <p:nvSpPr>
          <p:cNvPr id="32" name="Text 25"/>
          <p:cNvSpPr/>
          <p:nvPr/>
        </p:nvSpPr>
        <p:spPr>
          <a:xfrm>
            <a:off x="4517445" y="3560434"/>
            <a:ext cx="9369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A4A4A"/>
                </a:solidFill>
              </a:rPr>
              <a:t>Contagio Positivo</a:t>
            </a:r>
            <a:endParaRPr lang="en-US" sz="734" dirty="0"/>
          </a:p>
        </p:txBody>
      </p:sp>
      <p:sp>
        <p:nvSpPr>
          <p:cNvPr id="33" name="Text 26"/>
          <p:cNvSpPr/>
          <p:nvPr/>
        </p:nvSpPr>
        <p:spPr>
          <a:xfrm>
            <a:off x="6602109" y="3560434"/>
            <a:ext cx="100043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A4A4A"/>
                </a:solidFill>
              </a:rPr>
              <a:t>Contagio Negativo</a:t>
            </a:r>
            <a:endParaRPr lang="en-US" sz="734" dirty="0"/>
          </a:p>
        </p:txBody>
      </p:sp>
      <p:sp>
        <p:nvSpPr>
          <p:cNvPr id="34" name="Shape 27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28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El contagio emocional es automático. La pregunta es: </a:t>
            </a:r>
            <a:r>
              <a:rPr lang="en-US" sz="888" i="1" dirty="0">
                <a:solidFill>
                  <a:srgbClr val="DC8060"/>
                </a:solidFill>
              </a:rPr>
              <a:t>¿lo usas conscientemente?</a:t>
            </a:r>
            <a:endParaRPr lang="en-US" sz="88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1617166"/>
            <a:ext cx="1471054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27" b="1">
                <a:solidFill>
                  <a:srgbClr val="DC8060"/>
                </a:solidFill>
                <a:latin typeface="Montserrat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2679" y="1688604"/>
            <a:ext cx="4920816" cy="194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7" b="1">
                <a:solidFill>
                  <a:srgbClr val="E0EBEB"/>
                </a:solidFill>
                <a:latin typeface="Montserrat"/>
              </a:rPr>
              <a:t>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2679" y="2026146"/>
            <a:ext cx="4920816" cy="1005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94" b="1">
                <a:solidFill>
                  <a:srgbClr val="FFFFFF"/>
                </a:solidFill>
                <a:latin typeface="Montserrat"/>
              </a:rPr>
              <a:t>Los Fantasmas</a:t>
            </a:r>
          </a:p>
          <a:p>
            <a:pPr algn="l"/>
            <a:r>
              <a:rPr sz="3294" b="1">
                <a:solidFill>
                  <a:srgbClr val="FFFFFF"/>
                </a:solidFill>
                <a:latin typeface="Montserrat"/>
              </a:rPr>
              <a:t>en la Máquina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2679" y="3246276"/>
            <a:ext cx="4920816" cy="28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86" b="0">
                <a:solidFill>
                  <a:srgbClr val="E0EBEB"/>
                </a:solidFill>
                <a:latin typeface="Montserrat"/>
              </a:rPr>
              <a:t>Sesgos que distorsionan cómo ves a los demás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CINCO SESGOS INTERPERSONALES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La Realidad es un Espejo Roto</a:t>
            </a:r>
            <a:endParaRPr lang="en-US" sz="2226" dirty="0"/>
          </a:p>
        </p:txBody>
      </p:sp>
      <p:sp>
        <p:nvSpPr>
          <p:cNvPr id="5" name="Shape 2"/>
          <p:cNvSpPr/>
          <p:nvPr/>
        </p:nvSpPr>
        <p:spPr>
          <a:xfrm>
            <a:off x="785813" y="1473929"/>
            <a:ext cx="2428875" cy="134123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785813" y="1473929"/>
            <a:ext cx="2428875" cy="28575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3207544" y="1473929"/>
            <a:ext cx="7144" cy="1341239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785813" y="2808024"/>
            <a:ext cx="242887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785813" y="1473929"/>
            <a:ext cx="7144" cy="1341239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900113" y="1592693"/>
            <a:ext cx="285750" cy="285750"/>
          </a:xfrm>
          <a:prstGeom prst="ellipse">
            <a:avLst/>
          </a:prstGeom>
          <a:solidFill>
            <a:srgbClr val="DC8060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94" y="1671275"/>
            <a:ext cx="128588" cy="128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71588" y="1638235"/>
            <a:ext cx="96298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3A3D"/>
                </a:solidFill>
              </a:rPr>
              <a:t>Confirmación</a:t>
            </a:r>
            <a:endParaRPr lang="en-US" sz="987" dirty="0"/>
          </a:p>
        </p:txBody>
      </p:sp>
      <p:sp>
        <p:nvSpPr>
          <p:cNvPr id="13" name="Text 9"/>
          <p:cNvSpPr/>
          <p:nvPr/>
        </p:nvSpPr>
        <p:spPr>
          <a:xfrm>
            <a:off x="900113" y="1935593"/>
            <a:ext cx="2200275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Buscas información que confirme lo que ya crees de alguien.</a:t>
            </a:r>
            <a:endParaRPr lang="en-US" sz="780" dirty="0"/>
          </a:p>
        </p:txBody>
      </p:sp>
      <p:sp>
        <p:nvSpPr>
          <p:cNvPr id="14" name="Shape 10"/>
          <p:cNvSpPr/>
          <p:nvPr/>
        </p:nvSpPr>
        <p:spPr>
          <a:xfrm>
            <a:off x="900113" y="2319570"/>
            <a:ext cx="2200275" cy="376833"/>
          </a:xfrm>
          <a:prstGeom prst="rect">
            <a:avLst/>
          </a:prstGeom>
          <a:solidFill>
            <a:srgbClr val="E8F0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900113" y="2319570"/>
            <a:ext cx="21431" cy="376833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/>
          <p:nvPr/>
        </p:nvSpPr>
        <p:spPr>
          <a:xfrm>
            <a:off x="900113" y="2319570"/>
            <a:ext cx="2200275" cy="37683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i="1" dirty="0">
                <a:solidFill>
                  <a:srgbClr val="1F3A3D"/>
                </a:solidFill>
              </a:rPr>
              <a:t>"Juan es incompetente" → notas sus errores, ignoras sus aciertos.</a:t>
            </a:r>
            <a:endParaRPr lang="en-US" sz="674" dirty="0"/>
          </a:p>
        </p:txBody>
      </p:sp>
      <p:sp>
        <p:nvSpPr>
          <p:cNvPr id="17" name="Shape 13"/>
          <p:cNvSpPr/>
          <p:nvPr/>
        </p:nvSpPr>
        <p:spPr>
          <a:xfrm>
            <a:off x="3357563" y="1478393"/>
            <a:ext cx="2428875" cy="13323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3357563" y="1478393"/>
            <a:ext cx="2428875" cy="28575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5"/>
          <p:cNvSpPr/>
          <p:nvPr/>
        </p:nvSpPr>
        <p:spPr>
          <a:xfrm>
            <a:off x="5779294" y="1478393"/>
            <a:ext cx="7144" cy="1332309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6"/>
          <p:cNvSpPr/>
          <p:nvPr/>
        </p:nvSpPr>
        <p:spPr>
          <a:xfrm>
            <a:off x="3357563" y="2803559"/>
            <a:ext cx="242887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7"/>
          <p:cNvSpPr/>
          <p:nvPr/>
        </p:nvSpPr>
        <p:spPr>
          <a:xfrm>
            <a:off x="3357563" y="1478393"/>
            <a:ext cx="7144" cy="1332309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18"/>
          <p:cNvSpPr/>
          <p:nvPr/>
        </p:nvSpPr>
        <p:spPr>
          <a:xfrm>
            <a:off x="3471863" y="1592693"/>
            <a:ext cx="285750" cy="285750"/>
          </a:xfrm>
          <a:prstGeom prst="ellipse">
            <a:avLst/>
          </a:prstGeom>
          <a:solidFill>
            <a:srgbClr val="DC8060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0444" y="1671275"/>
            <a:ext cx="128588" cy="1285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843338" y="1638235"/>
            <a:ext cx="8083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3A3D"/>
                </a:solidFill>
              </a:rPr>
              <a:t>Efecto Halo</a:t>
            </a:r>
            <a:endParaRPr lang="en-US" sz="987" dirty="0"/>
          </a:p>
        </p:txBody>
      </p:sp>
      <p:sp>
        <p:nvSpPr>
          <p:cNvPr id="25" name="Text 20"/>
          <p:cNvSpPr/>
          <p:nvPr/>
        </p:nvSpPr>
        <p:spPr>
          <a:xfrm>
            <a:off x="3471863" y="1935593"/>
            <a:ext cx="2200275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Una característica positiva (o negativa) se extiende a todas las demás.</a:t>
            </a:r>
            <a:endParaRPr lang="en-US" sz="780" dirty="0"/>
          </a:p>
        </p:txBody>
      </p:sp>
      <p:sp>
        <p:nvSpPr>
          <p:cNvPr id="26" name="Shape 21"/>
          <p:cNvSpPr/>
          <p:nvPr/>
        </p:nvSpPr>
        <p:spPr>
          <a:xfrm>
            <a:off x="3471863" y="2455301"/>
            <a:ext cx="2200275" cy="241102"/>
          </a:xfrm>
          <a:prstGeom prst="rect">
            <a:avLst/>
          </a:prstGeom>
          <a:solidFill>
            <a:srgbClr val="E8F0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2"/>
          <p:cNvSpPr/>
          <p:nvPr/>
        </p:nvSpPr>
        <p:spPr>
          <a:xfrm>
            <a:off x="3471863" y="2455301"/>
            <a:ext cx="21431" cy="241102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3"/>
          <p:cNvSpPr/>
          <p:nvPr/>
        </p:nvSpPr>
        <p:spPr>
          <a:xfrm>
            <a:off x="3471863" y="2455301"/>
            <a:ext cx="2200275" cy="241102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i="1" dirty="0">
                <a:solidFill>
                  <a:srgbClr val="1F3A3D"/>
                </a:solidFill>
              </a:rPr>
              <a:t>"Es simpático, seguro que es competente."</a:t>
            </a:r>
            <a:endParaRPr lang="en-US" sz="674" dirty="0"/>
          </a:p>
        </p:txBody>
      </p:sp>
      <p:sp>
        <p:nvSpPr>
          <p:cNvPr id="29" name="Shape 24"/>
          <p:cNvSpPr/>
          <p:nvPr/>
        </p:nvSpPr>
        <p:spPr>
          <a:xfrm>
            <a:off x="5929313" y="1478393"/>
            <a:ext cx="2428875" cy="13323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Shape 25"/>
          <p:cNvSpPr/>
          <p:nvPr/>
        </p:nvSpPr>
        <p:spPr>
          <a:xfrm>
            <a:off x="5929313" y="1478393"/>
            <a:ext cx="2428875" cy="28575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Shape 26"/>
          <p:cNvSpPr/>
          <p:nvPr/>
        </p:nvSpPr>
        <p:spPr>
          <a:xfrm>
            <a:off x="8351044" y="1478393"/>
            <a:ext cx="7144" cy="1332309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Shape 27"/>
          <p:cNvSpPr/>
          <p:nvPr/>
        </p:nvSpPr>
        <p:spPr>
          <a:xfrm>
            <a:off x="5929313" y="2803559"/>
            <a:ext cx="242887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Shape 28"/>
          <p:cNvSpPr/>
          <p:nvPr/>
        </p:nvSpPr>
        <p:spPr>
          <a:xfrm>
            <a:off x="5929313" y="1478393"/>
            <a:ext cx="7144" cy="1332309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Shape 29"/>
          <p:cNvSpPr/>
          <p:nvPr/>
        </p:nvSpPr>
        <p:spPr>
          <a:xfrm>
            <a:off x="6043613" y="1606088"/>
            <a:ext cx="285750" cy="285750"/>
          </a:xfrm>
          <a:prstGeom prst="ellipse">
            <a:avLst/>
          </a:prstGeom>
          <a:solidFill>
            <a:srgbClr val="DC8060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6120" y="1684669"/>
            <a:ext cx="160734" cy="12858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15088" y="1651629"/>
            <a:ext cx="60208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3A3D"/>
                </a:solidFill>
              </a:rPr>
              <a:t>Afinidad</a:t>
            </a:r>
            <a:endParaRPr lang="en-US" sz="987" dirty="0"/>
          </a:p>
        </p:txBody>
      </p:sp>
      <p:sp>
        <p:nvSpPr>
          <p:cNvPr id="37" name="Text 31"/>
          <p:cNvSpPr/>
          <p:nvPr/>
        </p:nvSpPr>
        <p:spPr>
          <a:xfrm>
            <a:off x="6043613" y="1948988"/>
            <a:ext cx="2200275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Favoreces inconscientemente a quienes se parecen a ti.</a:t>
            </a:r>
            <a:endParaRPr lang="en-US" sz="780" dirty="0"/>
          </a:p>
        </p:txBody>
      </p:sp>
      <p:sp>
        <p:nvSpPr>
          <p:cNvPr id="38" name="Shape 32"/>
          <p:cNvSpPr/>
          <p:nvPr/>
        </p:nvSpPr>
        <p:spPr>
          <a:xfrm>
            <a:off x="6043613" y="2315105"/>
            <a:ext cx="2200275" cy="367903"/>
          </a:xfrm>
          <a:prstGeom prst="rect">
            <a:avLst/>
          </a:prstGeom>
          <a:solidFill>
            <a:srgbClr val="E8F0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Shape 33"/>
          <p:cNvSpPr/>
          <p:nvPr/>
        </p:nvSpPr>
        <p:spPr>
          <a:xfrm>
            <a:off x="6043613" y="2315105"/>
            <a:ext cx="21431" cy="367903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4"/>
          <p:cNvSpPr/>
          <p:nvPr/>
        </p:nvSpPr>
        <p:spPr>
          <a:xfrm>
            <a:off x="6043613" y="2315105"/>
            <a:ext cx="2200275" cy="36790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i="1" dirty="0">
                <a:solidFill>
                  <a:srgbClr val="1F3A3D"/>
                </a:solidFill>
              </a:rPr>
              <a:t>Las personas diferentes "no encajan" o generan desconfianza.</a:t>
            </a:r>
            <a:endParaRPr lang="en-US" sz="674" dirty="0"/>
          </a:p>
        </p:txBody>
      </p:sp>
      <p:sp>
        <p:nvSpPr>
          <p:cNvPr id="41" name="Shape 35"/>
          <p:cNvSpPr/>
          <p:nvPr/>
        </p:nvSpPr>
        <p:spPr>
          <a:xfrm>
            <a:off x="2071688" y="2897321"/>
            <a:ext cx="2428875" cy="13323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Shape 36"/>
          <p:cNvSpPr/>
          <p:nvPr/>
        </p:nvSpPr>
        <p:spPr>
          <a:xfrm>
            <a:off x="2071688" y="2897321"/>
            <a:ext cx="2428875" cy="28575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Shape 37"/>
          <p:cNvSpPr/>
          <p:nvPr/>
        </p:nvSpPr>
        <p:spPr>
          <a:xfrm>
            <a:off x="4493419" y="2897321"/>
            <a:ext cx="7144" cy="1332309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Shape 38"/>
          <p:cNvSpPr/>
          <p:nvPr/>
        </p:nvSpPr>
        <p:spPr>
          <a:xfrm>
            <a:off x="2071688" y="4222486"/>
            <a:ext cx="242887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Shape 39"/>
          <p:cNvSpPr/>
          <p:nvPr/>
        </p:nvSpPr>
        <p:spPr>
          <a:xfrm>
            <a:off x="2071688" y="2897321"/>
            <a:ext cx="7144" cy="1332309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Shape 40"/>
          <p:cNvSpPr/>
          <p:nvPr/>
        </p:nvSpPr>
        <p:spPr>
          <a:xfrm>
            <a:off x="2185988" y="3029480"/>
            <a:ext cx="285750" cy="285750"/>
          </a:xfrm>
          <a:prstGeom prst="ellipse">
            <a:avLst/>
          </a:prstGeom>
          <a:solidFill>
            <a:srgbClr val="DC8060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4569" y="3108061"/>
            <a:ext cx="128588" cy="12858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2557463" y="3075022"/>
            <a:ext cx="75268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3A3D"/>
                </a:solidFill>
              </a:rPr>
              <a:t>Atribución</a:t>
            </a:r>
            <a:endParaRPr lang="en-US" sz="987" dirty="0"/>
          </a:p>
        </p:txBody>
      </p:sp>
      <p:sp>
        <p:nvSpPr>
          <p:cNvPr id="49" name="Text 42"/>
          <p:cNvSpPr/>
          <p:nvPr/>
        </p:nvSpPr>
        <p:spPr>
          <a:xfrm>
            <a:off x="2185988" y="3372380"/>
            <a:ext cx="22002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Atribuyes la conducta del otro a su carácter; la tuya a las circunstancias.</a:t>
            </a:r>
            <a:endParaRPr lang="en-US" sz="780" dirty="0"/>
          </a:p>
        </p:txBody>
      </p:sp>
      <p:sp>
        <p:nvSpPr>
          <p:cNvPr id="50" name="Shape 43"/>
          <p:cNvSpPr/>
          <p:nvPr/>
        </p:nvSpPr>
        <p:spPr>
          <a:xfrm>
            <a:off x="2185988" y="3729568"/>
            <a:ext cx="2200275" cy="367903"/>
          </a:xfrm>
          <a:prstGeom prst="rect">
            <a:avLst/>
          </a:prstGeom>
          <a:solidFill>
            <a:srgbClr val="E8F0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Shape 44"/>
          <p:cNvSpPr/>
          <p:nvPr/>
        </p:nvSpPr>
        <p:spPr>
          <a:xfrm>
            <a:off x="2185988" y="3729568"/>
            <a:ext cx="21431" cy="367903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ext 45"/>
          <p:cNvSpPr/>
          <p:nvPr/>
        </p:nvSpPr>
        <p:spPr>
          <a:xfrm>
            <a:off x="2185988" y="3729568"/>
            <a:ext cx="2200275" cy="36790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i="1" dirty="0">
                <a:solidFill>
                  <a:srgbClr val="1F3A3D"/>
                </a:solidFill>
              </a:rPr>
              <a:t>Él llega tarde: "Es irresponsable". Yo llego tarde: "El tráfico".</a:t>
            </a:r>
            <a:endParaRPr lang="en-US" sz="674" dirty="0"/>
          </a:p>
        </p:txBody>
      </p:sp>
      <p:sp>
        <p:nvSpPr>
          <p:cNvPr id="53" name="Shape 46"/>
          <p:cNvSpPr/>
          <p:nvPr/>
        </p:nvSpPr>
        <p:spPr>
          <a:xfrm>
            <a:off x="4643438" y="2915180"/>
            <a:ext cx="2428875" cy="129659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4" name="Shape 47"/>
          <p:cNvSpPr/>
          <p:nvPr/>
        </p:nvSpPr>
        <p:spPr>
          <a:xfrm>
            <a:off x="4643438" y="2915180"/>
            <a:ext cx="2428875" cy="28575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5" name="Shape 48"/>
          <p:cNvSpPr/>
          <p:nvPr/>
        </p:nvSpPr>
        <p:spPr>
          <a:xfrm>
            <a:off x="7065169" y="2915180"/>
            <a:ext cx="7144" cy="129659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6" name="Shape 49"/>
          <p:cNvSpPr/>
          <p:nvPr/>
        </p:nvSpPr>
        <p:spPr>
          <a:xfrm>
            <a:off x="4643438" y="4204627"/>
            <a:ext cx="242887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7" name="Shape 50"/>
          <p:cNvSpPr/>
          <p:nvPr/>
        </p:nvSpPr>
        <p:spPr>
          <a:xfrm>
            <a:off x="4643438" y="2915180"/>
            <a:ext cx="7144" cy="129659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8" name="Shape 51"/>
          <p:cNvSpPr/>
          <p:nvPr/>
        </p:nvSpPr>
        <p:spPr>
          <a:xfrm>
            <a:off x="4757738" y="3029480"/>
            <a:ext cx="285750" cy="285750"/>
          </a:xfrm>
          <a:prstGeom prst="ellipse">
            <a:avLst/>
          </a:prstGeom>
          <a:solidFill>
            <a:srgbClr val="DC8060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5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4355" y="3108061"/>
            <a:ext cx="112514" cy="128588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5129213" y="3075022"/>
            <a:ext cx="78154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3A3D"/>
                </a:solidFill>
              </a:rPr>
              <a:t>Etiquetado</a:t>
            </a:r>
            <a:endParaRPr lang="en-US" sz="987" dirty="0"/>
          </a:p>
        </p:txBody>
      </p:sp>
      <p:sp>
        <p:nvSpPr>
          <p:cNvPr id="61" name="Text 53"/>
          <p:cNvSpPr/>
          <p:nvPr/>
        </p:nvSpPr>
        <p:spPr>
          <a:xfrm>
            <a:off x="4757738" y="3372380"/>
            <a:ext cx="2200275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Reduces a la persona completa a una sola etiqueta simplificadora.</a:t>
            </a:r>
            <a:endParaRPr lang="en-US" sz="780" dirty="0"/>
          </a:p>
        </p:txBody>
      </p:sp>
      <p:sp>
        <p:nvSpPr>
          <p:cNvPr id="62" name="Shape 54"/>
          <p:cNvSpPr/>
          <p:nvPr/>
        </p:nvSpPr>
        <p:spPr>
          <a:xfrm>
            <a:off x="4757738" y="3856369"/>
            <a:ext cx="2200275" cy="241102"/>
          </a:xfrm>
          <a:prstGeom prst="rect">
            <a:avLst/>
          </a:prstGeom>
          <a:solidFill>
            <a:srgbClr val="E8F0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3" name="Shape 55"/>
          <p:cNvSpPr/>
          <p:nvPr/>
        </p:nvSpPr>
        <p:spPr>
          <a:xfrm>
            <a:off x="4757738" y="3856369"/>
            <a:ext cx="21431" cy="241102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4" name="Text 56"/>
          <p:cNvSpPr/>
          <p:nvPr/>
        </p:nvSpPr>
        <p:spPr>
          <a:xfrm>
            <a:off x="4757738" y="3856369"/>
            <a:ext cx="2200275" cy="241102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i="1" dirty="0">
                <a:solidFill>
                  <a:srgbClr val="1F3A3D"/>
                </a:solidFill>
              </a:rPr>
              <a:t>"El conflictivo", "La lenta", "El quejica".</a:t>
            </a:r>
            <a:endParaRPr lang="en-US" sz="674" dirty="0"/>
          </a:p>
        </p:txBody>
      </p:sp>
      <p:sp>
        <p:nvSpPr>
          <p:cNvPr id="65" name="Shape 57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6" name="Text 58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Crees que "ves" a la persona. En realidad, ves </a:t>
            </a:r>
            <a:r>
              <a:rPr lang="en-US" sz="888" i="1" dirty="0">
                <a:solidFill>
                  <a:srgbClr val="DC8060"/>
                </a:solidFill>
              </a:rPr>
              <a:t>tu construcción</a:t>
            </a:r>
            <a:r>
              <a:rPr lang="en-US" sz="888" dirty="0">
                <a:solidFill>
                  <a:srgbClr val="FFFFFF"/>
                </a:solidFill>
              </a:rPr>
              <a:t> de la persona.</a:t>
            </a:r>
            <a:endParaRPr lang="en-US" sz="88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EL MECANISMO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Anatomía de un Juicio Automático</a:t>
            </a:r>
            <a:endParaRPr lang="en-US" sz="2226" dirty="0"/>
          </a:p>
        </p:txBody>
      </p:sp>
      <p:sp>
        <p:nvSpPr>
          <p:cNvPr id="5" name="Shape 2"/>
          <p:cNvSpPr/>
          <p:nvPr/>
        </p:nvSpPr>
        <p:spPr>
          <a:xfrm>
            <a:off x="957263" y="1192281"/>
            <a:ext cx="514350" cy="514350"/>
          </a:xfrm>
          <a:prstGeom prst="ellipse">
            <a:avLst/>
          </a:prstGeom>
          <a:solidFill>
            <a:srgbClr val="DC8060">
              <a:alpha val="10000"/>
            </a:srgbClr>
          </a:solidFill>
          <a:ln w="18288">
            <a:solidFill>
              <a:srgbClr val="DC8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428" y="1349443"/>
            <a:ext cx="150019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5299" y="1792356"/>
            <a:ext cx="4982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F3A3D"/>
                </a:solidFill>
              </a:rPr>
              <a:t>Estímulo</a:t>
            </a:r>
            <a:endParaRPr lang="en-US" sz="784" dirty="0"/>
          </a:p>
        </p:txBody>
      </p:sp>
      <p:sp>
        <p:nvSpPr>
          <p:cNvPr id="8" name="Text 4"/>
          <p:cNvSpPr/>
          <p:nvPr/>
        </p:nvSpPr>
        <p:spPr>
          <a:xfrm>
            <a:off x="884458" y="1976307"/>
            <a:ext cx="659932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Evento externo</a:t>
            </a:r>
            <a:endParaRPr lang="en-US" sz="674" dirty="0"/>
          </a:p>
        </p:txBody>
      </p:sp>
      <p:sp>
        <p:nvSpPr>
          <p:cNvPr id="9" name="Shape 5"/>
          <p:cNvSpPr/>
          <p:nvPr/>
        </p:nvSpPr>
        <p:spPr>
          <a:xfrm>
            <a:off x="2636044" y="1192281"/>
            <a:ext cx="514350" cy="514350"/>
          </a:xfrm>
          <a:prstGeom prst="ellipse">
            <a:avLst/>
          </a:prstGeom>
          <a:solidFill>
            <a:srgbClr val="DC8060">
              <a:alpha val="10000"/>
            </a:srgbClr>
          </a:solidFill>
          <a:ln w="18288">
            <a:solidFill>
              <a:srgbClr val="DC8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5708" y="1349443"/>
            <a:ext cx="175022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595386" y="1792356"/>
            <a:ext cx="5956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F3A3D"/>
                </a:solidFill>
              </a:rPr>
              <a:t>Activación</a:t>
            </a:r>
            <a:endParaRPr lang="en-US" sz="784" dirty="0"/>
          </a:p>
        </p:txBody>
      </p:sp>
      <p:sp>
        <p:nvSpPr>
          <p:cNvPr id="12" name="Text 7"/>
          <p:cNvSpPr/>
          <p:nvPr/>
        </p:nvSpPr>
        <p:spPr>
          <a:xfrm>
            <a:off x="2464984" y="1976307"/>
            <a:ext cx="856441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Amígdala reacciona</a:t>
            </a:r>
            <a:endParaRPr lang="en-US" sz="674" dirty="0"/>
          </a:p>
        </p:txBody>
      </p:sp>
      <p:sp>
        <p:nvSpPr>
          <p:cNvPr id="13" name="Shape 8"/>
          <p:cNvSpPr/>
          <p:nvPr/>
        </p:nvSpPr>
        <p:spPr>
          <a:xfrm>
            <a:off x="4314825" y="1192281"/>
            <a:ext cx="514350" cy="514350"/>
          </a:xfrm>
          <a:prstGeom prst="ellipse">
            <a:avLst/>
          </a:prstGeom>
          <a:solidFill>
            <a:srgbClr val="DC8060">
              <a:alpha val="10000"/>
            </a:srgbClr>
          </a:solidFill>
          <a:ln w="18288">
            <a:solidFill>
              <a:srgbClr val="DC8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9486" y="1349443"/>
            <a:ext cx="225028" cy="2000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24356" y="1792356"/>
            <a:ext cx="6952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F3A3D"/>
                </a:solidFill>
              </a:rPr>
              <a:t>Sensaciones</a:t>
            </a:r>
            <a:endParaRPr lang="en-US" sz="784" dirty="0"/>
          </a:p>
        </p:txBody>
      </p:sp>
      <p:sp>
        <p:nvSpPr>
          <p:cNvPr id="16" name="Text 10"/>
          <p:cNvSpPr/>
          <p:nvPr/>
        </p:nvSpPr>
        <p:spPr>
          <a:xfrm>
            <a:off x="4151607" y="1976307"/>
            <a:ext cx="840758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Respuesta corporal</a:t>
            </a:r>
            <a:endParaRPr lang="en-US" sz="674" dirty="0"/>
          </a:p>
        </p:txBody>
      </p:sp>
      <p:sp>
        <p:nvSpPr>
          <p:cNvPr id="17" name="Shape 11"/>
          <p:cNvSpPr/>
          <p:nvPr/>
        </p:nvSpPr>
        <p:spPr>
          <a:xfrm>
            <a:off x="5993606" y="1192281"/>
            <a:ext cx="514350" cy="514350"/>
          </a:xfrm>
          <a:prstGeom prst="ellipse">
            <a:avLst/>
          </a:prstGeom>
          <a:solidFill>
            <a:srgbClr val="DC8060">
              <a:alpha val="10000"/>
            </a:srgbClr>
          </a:solidFill>
          <a:ln w="18288">
            <a:solidFill>
              <a:srgbClr val="DC8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3270" y="1349443"/>
            <a:ext cx="175022" cy="2000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979012" y="1792356"/>
            <a:ext cx="5435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F3A3D"/>
                </a:solidFill>
              </a:rPr>
              <a:t>Conducta</a:t>
            </a:r>
            <a:endParaRPr lang="en-US" sz="784" dirty="0"/>
          </a:p>
        </p:txBody>
      </p:sp>
      <p:sp>
        <p:nvSpPr>
          <p:cNvPr id="20" name="Text 13"/>
          <p:cNvSpPr/>
          <p:nvPr/>
        </p:nvSpPr>
        <p:spPr>
          <a:xfrm>
            <a:off x="5799386" y="1976307"/>
            <a:ext cx="902791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Patrón condicionado</a:t>
            </a:r>
            <a:endParaRPr lang="en-US" sz="674" dirty="0"/>
          </a:p>
        </p:txBody>
      </p:sp>
      <p:sp>
        <p:nvSpPr>
          <p:cNvPr id="21" name="Shape 14"/>
          <p:cNvSpPr/>
          <p:nvPr/>
        </p:nvSpPr>
        <p:spPr>
          <a:xfrm>
            <a:off x="7672388" y="1192281"/>
            <a:ext cx="514350" cy="514350"/>
          </a:xfrm>
          <a:prstGeom prst="ellipse">
            <a:avLst/>
          </a:prstGeom>
          <a:solidFill>
            <a:srgbClr val="DC8060">
              <a:alpha val="10000"/>
            </a:srgbClr>
          </a:solidFill>
          <a:ln w="18288">
            <a:solidFill>
              <a:srgbClr val="DC8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4547" y="1349443"/>
            <a:ext cx="250031" cy="20002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774800" y="1792356"/>
            <a:ext cx="3095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F3A3D"/>
                </a:solidFill>
              </a:rPr>
              <a:t>Señal</a:t>
            </a:r>
            <a:endParaRPr lang="en-US" sz="784" dirty="0"/>
          </a:p>
        </p:txBody>
      </p:sp>
      <p:sp>
        <p:nvSpPr>
          <p:cNvPr id="24" name="Text 16"/>
          <p:cNvSpPr/>
          <p:nvPr/>
        </p:nvSpPr>
        <p:spPr>
          <a:xfrm>
            <a:off x="7403436" y="1976307"/>
            <a:ext cx="1052224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Comunicación no verbal</a:t>
            </a:r>
            <a:endParaRPr lang="en-US" sz="674" dirty="0"/>
          </a:p>
        </p:txBody>
      </p:sp>
      <p:sp>
        <p:nvSpPr>
          <p:cNvPr id="25" name="Shape 17"/>
          <p:cNvSpPr/>
          <p:nvPr/>
        </p:nvSpPr>
        <p:spPr>
          <a:xfrm>
            <a:off x="571500" y="2297050"/>
            <a:ext cx="2552691" cy="10215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18"/>
          <p:cNvSpPr/>
          <p:nvPr/>
        </p:nvSpPr>
        <p:spPr>
          <a:xfrm>
            <a:off x="571500" y="2297050"/>
            <a:ext cx="2552691" cy="28575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19"/>
          <p:cNvSpPr/>
          <p:nvPr/>
        </p:nvSpPr>
        <p:spPr>
          <a:xfrm>
            <a:off x="3117047" y="2297050"/>
            <a:ext cx="7144" cy="102155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Shape 20"/>
          <p:cNvSpPr/>
          <p:nvPr/>
        </p:nvSpPr>
        <p:spPr>
          <a:xfrm>
            <a:off x="571500" y="3311463"/>
            <a:ext cx="2552691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Shape 21"/>
          <p:cNvSpPr/>
          <p:nvPr/>
        </p:nvSpPr>
        <p:spPr>
          <a:xfrm>
            <a:off x="571500" y="2297050"/>
            <a:ext cx="7144" cy="102155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088" y="2448855"/>
            <a:ext cx="144661" cy="12858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16186" y="2425638"/>
            <a:ext cx="44416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C8060"/>
                </a:solidFill>
              </a:rPr>
              <a:t>Rápido</a:t>
            </a:r>
            <a:endParaRPr lang="en-US" sz="885" dirty="0"/>
          </a:p>
        </p:txBody>
      </p:sp>
      <p:sp>
        <p:nvSpPr>
          <p:cNvPr id="32" name="Text 23"/>
          <p:cNvSpPr/>
          <p:nvPr/>
        </p:nvSpPr>
        <p:spPr>
          <a:xfrm>
            <a:off x="700088" y="2672097"/>
            <a:ext cx="2295516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Juzgas en milisegundos. El cerebro prioriza la velocidad de reacción sobre la precisión del análisis.</a:t>
            </a:r>
            <a:endParaRPr lang="en-US" sz="780" dirty="0"/>
          </a:p>
        </p:txBody>
      </p:sp>
      <p:sp>
        <p:nvSpPr>
          <p:cNvPr id="33" name="Shape 24"/>
          <p:cNvSpPr/>
          <p:nvPr/>
        </p:nvSpPr>
        <p:spPr>
          <a:xfrm>
            <a:off x="3295641" y="2297050"/>
            <a:ext cx="2552691" cy="9858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Shape 25"/>
          <p:cNvSpPr/>
          <p:nvPr/>
        </p:nvSpPr>
        <p:spPr>
          <a:xfrm>
            <a:off x="3295641" y="2297050"/>
            <a:ext cx="2552691" cy="28575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Shape 26"/>
          <p:cNvSpPr/>
          <p:nvPr/>
        </p:nvSpPr>
        <p:spPr>
          <a:xfrm>
            <a:off x="5841188" y="2297050"/>
            <a:ext cx="7144" cy="98583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Shape 27"/>
          <p:cNvSpPr/>
          <p:nvPr/>
        </p:nvSpPr>
        <p:spPr>
          <a:xfrm>
            <a:off x="3295641" y="3275744"/>
            <a:ext cx="2552691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Shape 28"/>
          <p:cNvSpPr/>
          <p:nvPr/>
        </p:nvSpPr>
        <p:spPr>
          <a:xfrm>
            <a:off x="3295641" y="2297050"/>
            <a:ext cx="7144" cy="98583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4228" y="2448855"/>
            <a:ext cx="160734" cy="12858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3656400" y="2425638"/>
            <a:ext cx="7532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C8060"/>
                </a:solidFill>
              </a:rPr>
              <a:t>Automático</a:t>
            </a:r>
            <a:endParaRPr lang="en-US" sz="885" dirty="0"/>
          </a:p>
        </p:txBody>
      </p:sp>
      <p:sp>
        <p:nvSpPr>
          <p:cNvPr id="40" name="Text 30"/>
          <p:cNvSpPr/>
          <p:nvPr/>
        </p:nvSpPr>
        <p:spPr>
          <a:xfrm>
            <a:off x="3424228" y="2672097"/>
            <a:ext cx="2295516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Ocurre sin esfuerzo consciente. Es el "piloto automático" tomando el control.</a:t>
            </a:r>
            <a:endParaRPr lang="en-US" sz="780" dirty="0"/>
          </a:p>
        </p:txBody>
      </p:sp>
      <p:sp>
        <p:nvSpPr>
          <p:cNvPr id="41" name="Shape 31"/>
          <p:cNvSpPr/>
          <p:nvPr/>
        </p:nvSpPr>
        <p:spPr>
          <a:xfrm>
            <a:off x="6019781" y="2297050"/>
            <a:ext cx="2552719" cy="9858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Shape 32"/>
          <p:cNvSpPr/>
          <p:nvPr/>
        </p:nvSpPr>
        <p:spPr>
          <a:xfrm>
            <a:off x="6019781" y="2297050"/>
            <a:ext cx="2552719" cy="28575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Shape 33"/>
          <p:cNvSpPr/>
          <p:nvPr/>
        </p:nvSpPr>
        <p:spPr>
          <a:xfrm>
            <a:off x="8565356" y="2297050"/>
            <a:ext cx="7144" cy="98583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Shape 34"/>
          <p:cNvSpPr/>
          <p:nvPr/>
        </p:nvSpPr>
        <p:spPr>
          <a:xfrm>
            <a:off x="6019781" y="3275744"/>
            <a:ext cx="2552719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Shape 35"/>
          <p:cNvSpPr/>
          <p:nvPr/>
        </p:nvSpPr>
        <p:spPr>
          <a:xfrm>
            <a:off x="6019781" y="2297050"/>
            <a:ext cx="7144" cy="98583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48369" y="2448855"/>
            <a:ext cx="96441" cy="12858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316247" y="2425638"/>
            <a:ext cx="546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C8060"/>
                </a:solidFill>
              </a:rPr>
              <a:t>Invisible</a:t>
            </a:r>
            <a:endParaRPr lang="en-US" sz="885" dirty="0"/>
          </a:p>
        </p:txBody>
      </p:sp>
      <p:sp>
        <p:nvSpPr>
          <p:cNvPr id="48" name="Text 37"/>
          <p:cNvSpPr/>
          <p:nvPr/>
        </p:nvSpPr>
        <p:spPr>
          <a:xfrm>
            <a:off x="6148369" y="2672097"/>
            <a:ext cx="2295544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No notas que estás sesgado. Percibes tu juicio como "la realidad objetiva".</a:t>
            </a:r>
            <a:endParaRPr lang="en-US" sz="780" dirty="0"/>
          </a:p>
        </p:txBody>
      </p:sp>
      <p:sp>
        <p:nvSpPr>
          <p:cNvPr id="49" name="Shape 38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0" name="Text 39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Diseñado para </a:t>
            </a:r>
            <a:r>
              <a:rPr lang="en-US" sz="888" i="1" dirty="0">
                <a:solidFill>
                  <a:srgbClr val="DC8060"/>
                </a:solidFill>
              </a:rPr>
              <a:t>velocidad</a:t>
            </a:r>
            <a:r>
              <a:rPr lang="en-US" sz="888" dirty="0">
                <a:solidFill>
                  <a:srgbClr val="FFFFFF"/>
                </a:solidFill>
              </a:rPr>
              <a:t>, no para verdad.</a:t>
            </a:r>
            <a:endParaRPr lang="en-US" sz="88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EL ANTÍDOTO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El Antídoto: Consciencia + Curiosidad</a:t>
            </a:r>
            <a:endParaRPr lang="en-US" sz="2226" dirty="0"/>
          </a:p>
        </p:txBody>
      </p:sp>
      <p:sp>
        <p:nvSpPr>
          <p:cNvPr id="5" name="Shape 2"/>
          <p:cNvSpPr/>
          <p:nvPr/>
        </p:nvSpPr>
        <p:spPr>
          <a:xfrm>
            <a:off x="571500" y="1106556"/>
            <a:ext cx="8001000" cy="471488"/>
          </a:xfrm>
          <a:prstGeom prst="rect">
            <a:avLst/>
          </a:prstGeom>
          <a:solidFill>
            <a:srgbClr val="E8F0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571500" y="1106556"/>
            <a:ext cx="28575" cy="471488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42950" y="1235143"/>
            <a:ext cx="76581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3A3D"/>
                </a:solidFill>
              </a:rPr>
              <a:t>Liderazgo Consciente = </a:t>
            </a:r>
            <a:r>
              <a:rPr lang="en-US" sz="1090" b="1" dirty="0">
                <a:solidFill>
                  <a:srgbClr val="DC8060"/>
                </a:solidFill>
              </a:rPr>
              <a:t>Notar el Sesgo</a:t>
            </a:r>
            <a:r>
              <a:rPr lang="en-US" sz="1090" b="1" dirty="0">
                <a:solidFill>
                  <a:srgbClr val="1F3A3D"/>
                </a:solidFill>
              </a:rPr>
              <a:t> (Consciencia) + </a:t>
            </a:r>
            <a:r>
              <a:rPr lang="en-US" sz="1090" b="1" dirty="0">
                <a:solidFill>
                  <a:srgbClr val="DC8060"/>
                </a:solidFill>
              </a:rPr>
              <a:t>Abrir la Percepción</a:t>
            </a:r>
            <a:r>
              <a:rPr lang="en-US" sz="1090" b="1" dirty="0">
                <a:solidFill>
                  <a:srgbClr val="1F3A3D"/>
                </a:solidFill>
              </a:rPr>
              <a:t> (Curiosidad)</a:t>
            </a:r>
            <a:endParaRPr lang="en-US" sz="1090" dirty="0"/>
          </a:p>
        </p:txBody>
      </p:sp>
      <p:sp>
        <p:nvSpPr>
          <p:cNvPr id="8" name="Shape 5"/>
          <p:cNvSpPr/>
          <p:nvPr/>
        </p:nvSpPr>
        <p:spPr>
          <a:xfrm>
            <a:off x="571500" y="1792356"/>
            <a:ext cx="257175" cy="257175"/>
          </a:xfrm>
          <a:prstGeom prst="ellipse">
            <a:avLst/>
          </a:prstGeom>
          <a:solidFill>
            <a:srgbClr val="DC8060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94" y="1863793"/>
            <a:ext cx="128588" cy="114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0113" y="1823610"/>
            <a:ext cx="8429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3A3D"/>
                </a:solidFill>
              </a:rPr>
              <a:t>Consciencia</a:t>
            </a:r>
            <a:endParaRPr lang="en-US" sz="987" dirty="0"/>
          </a:p>
        </p:txBody>
      </p:sp>
      <p:sp>
        <p:nvSpPr>
          <p:cNvPr id="11" name="Shape 7"/>
          <p:cNvSpPr/>
          <p:nvPr/>
        </p:nvSpPr>
        <p:spPr>
          <a:xfrm>
            <a:off x="571500" y="2149543"/>
            <a:ext cx="3821906" cy="289322"/>
          </a:xfrm>
          <a:prstGeom prst="rect">
            <a:avLst/>
          </a:prstGeom>
          <a:solidFill>
            <a:srgbClr val="2D4A4E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8"/>
          <p:cNvSpPr/>
          <p:nvPr/>
        </p:nvSpPr>
        <p:spPr>
          <a:xfrm>
            <a:off x="571500" y="2149543"/>
            <a:ext cx="21431" cy="289322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571500" y="2149543"/>
            <a:ext cx="3821906" cy="289322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"¿Estoy confirmando lo que ya creo?"</a:t>
            </a:r>
            <a:endParaRPr lang="en-US" sz="780" dirty="0"/>
          </a:p>
        </p:txBody>
      </p:sp>
      <p:sp>
        <p:nvSpPr>
          <p:cNvPr id="14" name="Shape 10"/>
          <p:cNvSpPr/>
          <p:nvPr/>
        </p:nvSpPr>
        <p:spPr>
          <a:xfrm>
            <a:off x="571500" y="2510303"/>
            <a:ext cx="3821906" cy="289322"/>
          </a:xfrm>
          <a:prstGeom prst="rect">
            <a:avLst/>
          </a:prstGeom>
          <a:solidFill>
            <a:srgbClr val="2D4A4E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571500" y="2510303"/>
            <a:ext cx="21431" cy="289322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/>
          <p:nvPr/>
        </p:nvSpPr>
        <p:spPr>
          <a:xfrm>
            <a:off x="571500" y="2510303"/>
            <a:ext cx="3821906" cy="289322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"¿Qué etiqueta estoy usando?"</a:t>
            </a:r>
            <a:endParaRPr lang="en-US" sz="780" dirty="0"/>
          </a:p>
        </p:txBody>
      </p:sp>
      <p:sp>
        <p:nvSpPr>
          <p:cNvPr id="17" name="Shape 13"/>
          <p:cNvSpPr/>
          <p:nvPr/>
        </p:nvSpPr>
        <p:spPr>
          <a:xfrm>
            <a:off x="571500" y="2871062"/>
            <a:ext cx="3821906" cy="289322"/>
          </a:xfrm>
          <a:prstGeom prst="rect">
            <a:avLst/>
          </a:prstGeom>
          <a:solidFill>
            <a:srgbClr val="2D4A4E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571500" y="2871062"/>
            <a:ext cx="21431" cy="289322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5"/>
          <p:cNvSpPr/>
          <p:nvPr/>
        </p:nvSpPr>
        <p:spPr>
          <a:xfrm>
            <a:off x="571500" y="2871062"/>
            <a:ext cx="3821906" cy="289322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"¿Cómo me sentiría si fuera al revés?"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4750594" y="1792356"/>
            <a:ext cx="257175" cy="257175"/>
          </a:xfrm>
          <a:prstGeom prst="ellipse">
            <a:avLst/>
          </a:prstGeom>
          <a:solidFill>
            <a:srgbClr val="DC8060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031" y="1863793"/>
            <a:ext cx="114300" cy="1143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79206" y="1823610"/>
            <a:ext cx="76354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3A3D"/>
                </a:solidFill>
              </a:rPr>
              <a:t>Curiosidad</a:t>
            </a:r>
            <a:endParaRPr lang="en-US" sz="987" dirty="0"/>
          </a:p>
        </p:txBody>
      </p:sp>
      <p:sp>
        <p:nvSpPr>
          <p:cNvPr id="23" name="Shape 18"/>
          <p:cNvSpPr/>
          <p:nvPr/>
        </p:nvSpPr>
        <p:spPr>
          <a:xfrm>
            <a:off x="4750594" y="2149543"/>
            <a:ext cx="3821906" cy="289322"/>
          </a:xfrm>
          <a:prstGeom prst="rect">
            <a:avLst/>
          </a:prstGeom>
          <a:solidFill>
            <a:srgbClr val="2D4A4E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19"/>
          <p:cNvSpPr/>
          <p:nvPr/>
        </p:nvSpPr>
        <p:spPr>
          <a:xfrm>
            <a:off x="4750594" y="2149543"/>
            <a:ext cx="21431" cy="289322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0"/>
          <p:cNvSpPr/>
          <p:nvPr/>
        </p:nvSpPr>
        <p:spPr>
          <a:xfrm>
            <a:off x="4750594" y="2149543"/>
            <a:ext cx="3821906" cy="289322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"¿Qué no estoy viendo?"</a:t>
            </a:r>
            <a:endParaRPr lang="en-US" sz="780" dirty="0"/>
          </a:p>
        </p:txBody>
      </p:sp>
      <p:sp>
        <p:nvSpPr>
          <p:cNvPr id="26" name="Shape 21"/>
          <p:cNvSpPr/>
          <p:nvPr/>
        </p:nvSpPr>
        <p:spPr>
          <a:xfrm>
            <a:off x="4750594" y="2510303"/>
            <a:ext cx="3821906" cy="289322"/>
          </a:xfrm>
          <a:prstGeom prst="rect">
            <a:avLst/>
          </a:prstGeom>
          <a:solidFill>
            <a:srgbClr val="2D4A4E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2"/>
          <p:cNvSpPr/>
          <p:nvPr/>
        </p:nvSpPr>
        <p:spPr>
          <a:xfrm>
            <a:off x="4750594" y="2510303"/>
            <a:ext cx="21431" cy="289322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3"/>
          <p:cNvSpPr/>
          <p:nvPr/>
        </p:nvSpPr>
        <p:spPr>
          <a:xfrm>
            <a:off x="4750594" y="2510303"/>
            <a:ext cx="3821906" cy="289322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"¿Qué me sorprendería de esta persona?"</a:t>
            </a:r>
            <a:endParaRPr lang="en-US" sz="780" dirty="0"/>
          </a:p>
        </p:txBody>
      </p:sp>
      <p:sp>
        <p:nvSpPr>
          <p:cNvPr id="29" name="Shape 24"/>
          <p:cNvSpPr/>
          <p:nvPr/>
        </p:nvSpPr>
        <p:spPr>
          <a:xfrm>
            <a:off x="4750594" y="2871062"/>
            <a:ext cx="3821906" cy="289322"/>
          </a:xfrm>
          <a:prstGeom prst="rect">
            <a:avLst/>
          </a:prstGeom>
          <a:solidFill>
            <a:srgbClr val="2D4A4E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Shape 25"/>
          <p:cNvSpPr/>
          <p:nvPr/>
        </p:nvSpPr>
        <p:spPr>
          <a:xfrm>
            <a:off x="4750594" y="2871062"/>
            <a:ext cx="21431" cy="289322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6"/>
          <p:cNvSpPr/>
          <p:nvPr/>
        </p:nvSpPr>
        <p:spPr>
          <a:xfrm>
            <a:off x="4750594" y="2871062"/>
            <a:ext cx="3821906" cy="289322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"¿Qué pasaría si mi primera impresión estuviera equivocada?"</a:t>
            </a:r>
            <a:endParaRPr lang="en-US" sz="780" dirty="0"/>
          </a:p>
        </p:txBody>
      </p:sp>
      <p:sp>
        <p:nvSpPr>
          <p:cNvPr id="32" name="Shape 27"/>
          <p:cNvSpPr/>
          <p:nvPr/>
        </p:nvSpPr>
        <p:spPr>
          <a:xfrm>
            <a:off x="571500" y="3374696"/>
            <a:ext cx="8001000" cy="712589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28"/>
          <p:cNvSpPr/>
          <p:nvPr/>
        </p:nvSpPr>
        <p:spPr>
          <a:xfrm>
            <a:off x="742950" y="3474709"/>
            <a:ext cx="1028728" cy="150019"/>
          </a:xfrm>
          <a:prstGeom prst="round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29"/>
          <p:cNvSpPr/>
          <p:nvPr/>
        </p:nvSpPr>
        <p:spPr>
          <a:xfrm>
            <a:off x="742950" y="3474709"/>
            <a:ext cx="1028728" cy="150019"/>
          </a:xfrm>
          <a:prstGeom prst="rect">
            <a:avLst/>
          </a:prstGeom>
          <a:noFill/>
          <a:ln/>
        </p:spPr>
        <p:txBody>
          <a:bodyPr wrap="square" lIns="85090" tIns="25527" rIns="85090" bIns="25527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66666"/>
                </a:solidFill>
              </a:rPr>
              <a:t>Camino Automático</a:t>
            </a:r>
            <a:endParaRPr lang="en-US" sz="534" dirty="0"/>
          </a:p>
        </p:txBody>
      </p:sp>
      <p:sp>
        <p:nvSpPr>
          <p:cNvPr id="35" name="Shape 30"/>
          <p:cNvSpPr/>
          <p:nvPr/>
        </p:nvSpPr>
        <p:spPr>
          <a:xfrm>
            <a:off x="865622" y="3674734"/>
            <a:ext cx="644947" cy="226814"/>
          </a:xfrm>
          <a:prstGeom prst="roundRect">
            <a:avLst/>
          </a:prstGeom>
          <a:solidFill>
            <a:srgbClr val="FDFCFB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1"/>
          <p:cNvSpPr/>
          <p:nvPr/>
        </p:nvSpPr>
        <p:spPr>
          <a:xfrm>
            <a:off x="865622" y="3674734"/>
            <a:ext cx="644947" cy="226814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F3A3D"/>
                </a:solidFill>
              </a:rPr>
              <a:t>Amígdala</a:t>
            </a:r>
            <a:endParaRPr lang="en-US" sz="634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5921" y="3745278"/>
            <a:ext cx="100013" cy="114300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2094151" y="3674734"/>
            <a:ext cx="594522" cy="226814"/>
          </a:xfrm>
          <a:prstGeom prst="roundRect">
            <a:avLst/>
          </a:prstGeom>
          <a:solidFill>
            <a:srgbClr val="FDFCFB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3"/>
          <p:cNvSpPr/>
          <p:nvPr/>
        </p:nvSpPr>
        <p:spPr>
          <a:xfrm>
            <a:off x="2094151" y="3674734"/>
            <a:ext cx="594522" cy="226814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F3A3D"/>
                </a:solidFill>
              </a:rPr>
              <a:t>Etiqueta</a:t>
            </a:r>
            <a:endParaRPr lang="en-US" sz="634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2677" y="3745278"/>
            <a:ext cx="100013" cy="114300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3283781" y="3674734"/>
            <a:ext cx="1091208" cy="226814"/>
          </a:xfrm>
          <a:prstGeom prst="roundRect">
            <a:avLst/>
          </a:prstGeom>
          <a:solidFill>
            <a:srgbClr val="FDFCFB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35"/>
          <p:cNvSpPr/>
          <p:nvPr/>
        </p:nvSpPr>
        <p:spPr>
          <a:xfrm>
            <a:off x="3283781" y="3674734"/>
            <a:ext cx="1091208" cy="226814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F3A3D"/>
                </a:solidFill>
              </a:rPr>
              <a:t>Reacción Defensiva</a:t>
            </a:r>
            <a:endParaRPr lang="en-US" sz="634" dirty="0"/>
          </a:p>
        </p:txBody>
      </p:sp>
      <p:sp>
        <p:nvSpPr>
          <p:cNvPr id="43" name="Shape 36"/>
          <p:cNvSpPr/>
          <p:nvPr/>
        </p:nvSpPr>
        <p:spPr>
          <a:xfrm>
            <a:off x="7406115" y="3474709"/>
            <a:ext cx="994935" cy="150019"/>
          </a:xfrm>
          <a:prstGeom prst="round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Text 37"/>
          <p:cNvSpPr/>
          <p:nvPr/>
        </p:nvSpPr>
        <p:spPr>
          <a:xfrm>
            <a:off x="7406115" y="3474709"/>
            <a:ext cx="994935" cy="150019"/>
          </a:xfrm>
          <a:prstGeom prst="rect">
            <a:avLst/>
          </a:prstGeom>
          <a:noFill/>
          <a:ln/>
        </p:spPr>
        <p:txBody>
          <a:bodyPr wrap="square" lIns="85090" tIns="25527" rIns="85090" bIns="25527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Camino Consciente</a:t>
            </a:r>
            <a:endParaRPr lang="en-US" sz="534" dirty="0"/>
          </a:p>
        </p:txBody>
      </p:sp>
      <p:sp>
        <p:nvSpPr>
          <p:cNvPr id="45" name="Shape 38"/>
          <p:cNvSpPr/>
          <p:nvPr/>
        </p:nvSpPr>
        <p:spPr>
          <a:xfrm>
            <a:off x="4769876" y="3674734"/>
            <a:ext cx="486166" cy="226814"/>
          </a:xfrm>
          <a:prstGeom prst="roundRect">
            <a:avLst/>
          </a:prstGeom>
          <a:solidFill>
            <a:srgbClr val="FFF5F2"/>
          </a:solidFill>
          <a:ln w="9144">
            <a:solidFill>
              <a:srgbClr val="DC8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39"/>
          <p:cNvSpPr/>
          <p:nvPr/>
        </p:nvSpPr>
        <p:spPr>
          <a:xfrm>
            <a:off x="4769876" y="3674734"/>
            <a:ext cx="486166" cy="226814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C8060"/>
                </a:solidFill>
              </a:rPr>
              <a:t>Pausa</a:t>
            </a:r>
            <a:endParaRPr lang="en-US" sz="634" dirty="0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8902" y="3745278"/>
            <a:ext cx="100013" cy="114300"/>
          </a:xfrm>
          <a:prstGeom prst="rect">
            <a:avLst/>
          </a:prstGeom>
        </p:spPr>
      </p:pic>
      <p:sp>
        <p:nvSpPr>
          <p:cNvPr id="48" name="Shape 40"/>
          <p:cNvSpPr/>
          <p:nvPr/>
        </p:nvSpPr>
        <p:spPr>
          <a:xfrm>
            <a:off x="5854638" y="3674734"/>
            <a:ext cx="700394" cy="226814"/>
          </a:xfrm>
          <a:prstGeom prst="roundRect">
            <a:avLst/>
          </a:prstGeom>
          <a:solidFill>
            <a:srgbClr val="FFF5F2"/>
          </a:solidFill>
          <a:ln w="9144">
            <a:solidFill>
              <a:srgbClr val="DC8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1"/>
          <p:cNvSpPr/>
          <p:nvPr/>
        </p:nvSpPr>
        <p:spPr>
          <a:xfrm>
            <a:off x="5854638" y="3674734"/>
            <a:ext cx="700394" cy="226814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C8060"/>
                </a:solidFill>
              </a:rPr>
              <a:t>Curiosidad</a:t>
            </a:r>
            <a:endParaRPr lang="en-US" sz="634" dirty="0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6515" y="3745278"/>
            <a:ext cx="100013" cy="114300"/>
          </a:xfrm>
          <a:prstGeom prst="rect">
            <a:avLst/>
          </a:prstGeom>
        </p:spPr>
      </p:pic>
      <p:sp>
        <p:nvSpPr>
          <p:cNvPr id="51" name="Shape 42"/>
          <p:cNvSpPr/>
          <p:nvPr/>
        </p:nvSpPr>
        <p:spPr>
          <a:xfrm>
            <a:off x="7165125" y="3674734"/>
            <a:ext cx="1106612" cy="226814"/>
          </a:xfrm>
          <a:prstGeom prst="roundRect">
            <a:avLst/>
          </a:prstGeom>
          <a:solidFill>
            <a:srgbClr val="FFF5F2"/>
          </a:solidFill>
          <a:ln w="9144">
            <a:solidFill>
              <a:srgbClr val="DC8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43"/>
          <p:cNvSpPr/>
          <p:nvPr/>
        </p:nvSpPr>
        <p:spPr>
          <a:xfrm>
            <a:off x="7165125" y="3674734"/>
            <a:ext cx="1106612" cy="226814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C8060"/>
                </a:solidFill>
              </a:rPr>
              <a:t>Respuesta Ajustada</a:t>
            </a:r>
            <a:endParaRPr lang="en-US" sz="634" dirty="0"/>
          </a:p>
        </p:txBody>
      </p:sp>
      <p:sp>
        <p:nvSpPr>
          <p:cNvPr id="53" name="Shape 44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4" name="Text 45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El sesgo no desaparece. Pero la </a:t>
            </a:r>
            <a:r>
              <a:rPr lang="en-US" sz="888" i="1" dirty="0">
                <a:solidFill>
                  <a:srgbClr val="DC8060"/>
                </a:solidFill>
              </a:rPr>
              <a:t>consciencia</a:t>
            </a:r>
            <a:r>
              <a:rPr lang="en-US" sz="888" dirty="0">
                <a:solidFill>
                  <a:srgbClr val="FFFFFF"/>
                </a:solidFill>
              </a:rPr>
              <a:t> te da opciones.</a:t>
            </a:r>
            <a:endParaRPr lang="en-US" sz="88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1617166"/>
            <a:ext cx="1471054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27" b="1">
                <a:solidFill>
                  <a:srgbClr val="DC8060"/>
                </a:solidFill>
                <a:latin typeface="Montserrat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2679" y="1688604"/>
            <a:ext cx="4920816" cy="194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7" b="1">
                <a:solidFill>
                  <a:srgbClr val="E0EBEB"/>
                </a:solidFill>
                <a:latin typeface="Montserrat"/>
              </a:rPr>
              <a:t>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2679" y="2026146"/>
            <a:ext cx="4920816" cy="1005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94" b="1">
                <a:solidFill>
                  <a:srgbClr val="FFFFFF"/>
                </a:solidFill>
                <a:latin typeface="Montserrat"/>
              </a:rPr>
              <a:t>La Batería</a:t>
            </a:r>
          </a:p>
          <a:p>
            <a:pPr algn="l"/>
            <a:r>
              <a:rPr sz="3294" b="1">
                <a:solidFill>
                  <a:srgbClr val="FFFFFF"/>
                </a:solidFill>
                <a:latin typeface="Montserrat"/>
              </a:rPr>
              <a:t>Interna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2679" y="3246276"/>
            <a:ext cx="4920816" cy="28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86" b="0">
                <a:solidFill>
                  <a:srgbClr val="E0EBEB"/>
                </a:solidFill>
                <a:latin typeface="Montserrat"/>
              </a:rPr>
              <a:t>Autocompasión como base para conectar con otros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EL PROBLEMA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La Trampa de la Autoestima de Montaña Rusa</a:t>
            </a:r>
            <a:endParaRPr lang="en-US" sz="2226" dirty="0"/>
          </a:p>
        </p:txBody>
      </p:sp>
      <p:sp>
        <p:nvSpPr>
          <p:cNvPr id="5" name="Text 2"/>
          <p:cNvSpPr/>
          <p:nvPr/>
        </p:nvSpPr>
        <p:spPr>
          <a:xfrm>
            <a:off x="571500" y="1704901"/>
            <a:ext cx="2800350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4A4A4A"/>
                </a:solidFill>
              </a:rPr>
              <a:t>El problema no es tener autoestima alta, sino tenerla </a:t>
            </a:r>
            <a:r>
              <a:rPr lang="en-US" sz="834" b="1" dirty="0">
                <a:solidFill>
                  <a:srgbClr val="4A4A4A"/>
                </a:solidFill>
              </a:rPr>
              <a:t>contingente</a:t>
            </a:r>
            <a:r>
              <a:rPr lang="en-US" sz="888" dirty="0">
                <a:solidFill>
                  <a:srgbClr val="4A4A4A"/>
                </a:solidFill>
              </a:rPr>
              <a:t>.</a:t>
            </a:r>
            <a:endParaRPr lang="en-US" sz="888" dirty="0"/>
          </a:p>
        </p:txBody>
      </p:sp>
      <p:sp>
        <p:nvSpPr>
          <p:cNvPr id="6" name="Text 3"/>
          <p:cNvSpPr/>
          <p:nvPr/>
        </p:nvSpPr>
        <p:spPr>
          <a:xfrm>
            <a:off x="571500" y="2222097"/>
            <a:ext cx="2800350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4A4A4A"/>
                </a:solidFill>
              </a:rPr>
              <a:t>Esta forma de autoestima vinculada a la aprobación genera una sensibilidad extrema. Un proyecto exitoso la eleva, una crítica la desploma.</a:t>
            </a:r>
            <a:endParaRPr lang="en-US" sz="888" dirty="0"/>
          </a:p>
        </p:txBody>
      </p:sp>
      <p:sp>
        <p:nvSpPr>
          <p:cNvPr id="7" name="Shape 4"/>
          <p:cNvSpPr/>
          <p:nvPr/>
        </p:nvSpPr>
        <p:spPr>
          <a:xfrm>
            <a:off x="571500" y="3199340"/>
            <a:ext cx="2800350" cy="845753"/>
          </a:xfrm>
          <a:prstGeom prst="rect">
            <a:avLst/>
          </a:prstGeom>
          <a:solidFill>
            <a:srgbClr val="E8F0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571500" y="3199340"/>
            <a:ext cx="28575" cy="845753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714375" y="3313640"/>
            <a:ext cx="25146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i="1" dirty="0">
                <a:solidFill>
                  <a:srgbClr val="1F3A3D"/>
                </a:solidFill>
              </a:rPr>
              <a:t>El líder vive en una montaña rusa emocional donde cada evaluación externa amenaza su valía.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3729038" y="1517684"/>
            <a:ext cx="4843463" cy="271462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1913" y="1660559"/>
            <a:ext cx="4543425" cy="24145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0" y="4797028"/>
            <a:ext cx="9144000" cy="346472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0" y="4797028"/>
            <a:ext cx="9144000" cy="346472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80" i="1" dirty="0">
                <a:solidFill>
                  <a:srgbClr val="DC8060"/>
                </a:solidFill>
              </a:rPr>
              <a:t>Evidencia:</a:t>
            </a:r>
            <a:r>
              <a:rPr lang="en-US" sz="780" dirty="0">
                <a:solidFill>
                  <a:srgbClr val="FFFFFF"/>
                </a:solidFill>
              </a:rPr>
              <a:t> Luna y Rodríguez-Carvajal (2023) — El MBSR reduce la autoestima contingente. La estabilidad importa más que el nivel.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AUTOCOMPASIÓN (KRISTIN NEFF)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Los 3 Ingredientes de la Fortaleza Interior</a:t>
            </a:r>
            <a:endParaRPr lang="en-US" sz="2226" dirty="0"/>
          </a:p>
        </p:txBody>
      </p:sp>
      <p:sp>
        <p:nvSpPr>
          <p:cNvPr id="5" name="Shape 2"/>
          <p:cNvSpPr/>
          <p:nvPr/>
        </p:nvSpPr>
        <p:spPr>
          <a:xfrm>
            <a:off x="571500" y="1163706"/>
            <a:ext cx="2514600" cy="262962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571500" y="1163706"/>
            <a:ext cx="2514600" cy="28575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3078956" y="1163706"/>
            <a:ext cx="7144" cy="262962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571500" y="3786188"/>
            <a:ext cx="251460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571500" y="1163706"/>
            <a:ext cx="7144" cy="262962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578769" y="1335156"/>
            <a:ext cx="500063" cy="500063"/>
          </a:xfrm>
          <a:prstGeom prst="ellipse">
            <a:avLst/>
          </a:prstGeom>
          <a:solidFill>
            <a:srgbClr val="2D4A4E">
              <a:alpha val="6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788" y="1485174"/>
            <a:ext cx="200025" cy="2000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4658" y="1949518"/>
            <a:ext cx="206828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3A3D"/>
                </a:solidFill>
              </a:rPr>
              <a:t>Amabilidad hacia uno mismo</a:t>
            </a:r>
            <a:endParaRPr lang="en-US" sz="987" dirty="0"/>
          </a:p>
        </p:txBody>
      </p:sp>
      <p:sp>
        <p:nvSpPr>
          <p:cNvPr id="13" name="Text 9"/>
          <p:cNvSpPr/>
          <p:nvPr/>
        </p:nvSpPr>
        <p:spPr>
          <a:xfrm>
            <a:off x="714375" y="2206693"/>
            <a:ext cx="22288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Hablarte con gentileza, no con crítica. Reconocer el sufrimiento sin añadir juicio.</a:t>
            </a:r>
            <a:endParaRPr lang="en-US" sz="780" dirty="0"/>
          </a:p>
        </p:txBody>
      </p:sp>
      <p:sp>
        <p:nvSpPr>
          <p:cNvPr id="14" name="Shape 10"/>
          <p:cNvSpPr/>
          <p:nvPr/>
        </p:nvSpPr>
        <p:spPr>
          <a:xfrm>
            <a:off x="714375" y="3380780"/>
            <a:ext cx="2228850" cy="241102"/>
          </a:xfrm>
          <a:prstGeom prst="rect">
            <a:avLst/>
          </a:prstGeom>
          <a:solidFill>
            <a:srgbClr val="E8F0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714375" y="3380780"/>
            <a:ext cx="21431" cy="241102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/>
          <p:nvPr/>
        </p:nvSpPr>
        <p:spPr>
          <a:xfrm>
            <a:off x="714375" y="3380780"/>
            <a:ext cx="2228850" cy="241102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i="1" dirty="0">
                <a:solidFill>
                  <a:srgbClr val="1F3A3D"/>
                </a:solidFill>
              </a:rPr>
              <a:t>"Esto es difícil" en lugar de "Soy un desastre".</a:t>
            </a:r>
            <a:endParaRPr lang="en-US" sz="674" dirty="0"/>
          </a:p>
        </p:txBody>
      </p:sp>
      <p:sp>
        <p:nvSpPr>
          <p:cNvPr id="17" name="Shape 13"/>
          <p:cNvSpPr/>
          <p:nvPr/>
        </p:nvSpPr>
        <p:spPr>
          <a:xfrm>
            <a:off x="3314700" y="1163706"/>
            <a:ext cx="2514600" cy="262962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3314700" y="1163706"/>
            <a:ext cx="2514600" cy="28575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5"/>
          <p:cNvSpPr/>
          <p:nvPr/>
        </p:nvSpPr>
        <p:spPr>
          <a:xfrm>
            <a:off x="5822156" y="1163706"/>
            <a:ext cx="7144" cy="262962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6"/>
          <p:cNvSpPr/>
          <p:nvPr/>
        </p:nvSpPr>
        <p:spPr>
          <a:xfrm>
            <a:off x="3314700" y="3786188"/>
            <a:ext cx="251460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7"/>
          <p:cNvSpPr/>
          <p:nvPr/>
        </p:nvSpPr>
        <p:spPr>
          <a:xfrm>
            <a:off x="3314700" y="1163706"/>
            <a:ext cx="7144" cy="262962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18"/>
          <p:cNvSpPr/>
          <p:nvPr/>
        </p:nvSpPr>
        <p:spPr>
          <a:xfrm>
            <a:off x="4321969" y="1335156"/>
            <a:ext cx="500063" cy="500063"/>
          </a:xfrm>
          <a:prstGeom prst="ellipse">
            <a:avLst/>
          </a:prstGeom>
          <a:solidFill>
            <a:srgbClr val="2D4A4E">
              <a:alpha val="6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6984" y="1485174"/>
            <a:ext cx="250031" cy="20002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723177" y="1949518"/>
            <a:ext cx="169764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3A3D"/>
                </a:solidFill>
              </a:rPr>
              <a:t>Humanidad compartida</a:t>
            </a:r>
            <a:endParaRPr lang="en-US" sz="987" dirty="0"/>
          </a:p>
        </p:txBody>
      </p:sp>
      <p:sp>
        <p:nvSpPr>
          <p:cNvPr id="25" name="Text 20"/>
          <p:cNvSpPr/>
          <p:nvPr/>
        </p:nvSpPr>
        <p:spPr>
          <a:xfrm>
            <a:off x="3457575" y="2206693"/>
            <a:ext cx="22288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Reconocer que el sufrimiento es parte de la experiencia humana. No estás solo en esto.</a:t>
            </a:r>
            <a:endParaRPr lang="en-US" sz="780" dirty="0"/>
          </a:p>
        </p:txBody>
      </p:sp>
      <p:sp>
        <p:nvSpPr>
          <p:cNvPr id="26" name="Shape 21"/>
          <p:cNvSpPr/>
          <p:nvPr/>
        </p:nvSpPr>
        <p:spPr>
          <a:xfrm>
            <a:off x="3457575" y="3253978"/>
            <a:ext cx="2228850" cy="367903"/>
          </a:xfrm>
          <a:prstGeom prst="rect">
            <a:avLst/>
          </a:prstGeom>
          <a:solidFill>
            <a:srgbClr val="E8F0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2"/>
          <p:cNvSpPr/>
          <p:nvPr/>
        </p:nvSpPr>
        <p:spPr>
          <a:xfrm>
            <a:off x="3457575" y="3253978"/>
            <a:ext cx="21431" cy="367903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3"/>
          <p:cNvSpPr/>
          <p:nvPr/>
        </p:nvSpPr>
        <p:spPr>
          <a:xfrm>
            <a:off x="3457575" y="3253978"/>
            <a:ext cx="2228850" cy="36790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i="1" dirty="0">
                <a:solidFill>
                  <a:srgbClr val="1F3A3D"/>
                </a:solidFill>
              </a:rPr>
              <a:t>"Todos fallamos a veces" en lugar de "Solo yo fallo".</a:t>
            </a:r>
            <a:endParaRPr lang="en-US" sz="674" dirty="0"/>
          </a:p>
        </p:txBody>
      </p:sp>
      <p:sp>
        <p:nvSpPr>
          <p:cNvPr id="29" name="Shape 24"/>
          <p:cNvSpPr/>
          <p:nvPr/>
        </p:nvSpPr>
        <p:spPr>
          <a:xfrm>
            <a:off x="6057900" y="1163706"/>
            <a:ext cx="2514600" cy="262962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Shape 25"/>
          <p:cNvSpPr/>
          <p:nvPr/>
        </p:nvSpPr>
        <p:spPr>
          <a:xfrm>
            <a:off x="6057900" y="1163706"/>
            <a:ext cx="2514600" cy="28575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Shape 26"/>
          <p:cNvSpPr/>
          <p:nvPr/>
        </p:nvSpPr>
        <p:spPr>
          <a:xfrm>
            <a:off x="8565356" y="1163706"/>
            <a:ext cx="7144" cy="262962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Shape 27"/>
          <p:cNvSpPr/>
          <p:nvPr/>
        </p:nvSpPr>
        <p:spPr>
          <a:xfrm>
            <a:off x="6057900" y="3786188"/>
            <a:ext cx="251460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Shape 28"/>
          <p:cNvSpPr/>
          <p:nvPr/>
        </p:nvSpPr>
        <p:spPr>
          <a:xfrm>
            <a:off x="6057900" y="1163706"/>
            <a:ext cx="7144" cy="262962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Shape 29"/>
          <p:cNvSpPr/>
          <p:nvPr/>
        </p:nvSpPr>
        <p:spPr>
          <a:xfrm>
            <a:off x="7065169" y="1335156"/>
            <a:ext cx="500063" cy="500063"/>
          </a:xfrm>
          <a:prstGeom prst="ellipse">
            <a:avLst/>
          </a:prstGeom>
          <a:solidFill>
            <a:srgbClr val="2D4A4E">
              <a:alpha val="6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2686" y="1485174"/>
            <a:ext cx="225028" cy="200025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877338" y="1949518"/>
            <a:ext cx="87569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3A3D"/>
                </a:solidFill>
              </a:rPr>
              <a:t>Mindfulness</a:t>
            </a:r>
            <a:endParaRPr lang="en-US" sz="987" dirty="0"/>
          </a:p>
        </p:txBody>
      </p:sp>
      <p:sp>
        <p:nvSpPr>
          <p:cNvPr id="37" name="Text 31"/>
          <p:cNvSpPr/>
          <p:nvPr/>
        </p:nvSpPr>
        <p:spPr>
          <a:xfrm>
            <a:off x="6200775" y="2206693"/>
            <a:ext cx="2228850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Consciencia equilibrada: ni reprimir ni exagerar. Notar el dolor sin identificarse totalmente.</a:t>
            </a:r>
            <a:endParaRPr lang="en-US" sz="780" dirty="0"/>
          </a:p>
        </p:txBody>
      </p:sp>
      <p:sp>
        <p:nvSpPr>
          <p:cNvPr id="38" name="Shape 32"/>
          <p:cNvSpPr/>
          <p:nvPr/>
        </p:nvSpPr>
        <p:spPr>
          <a:xfrm>
            <a:off x="6200775" y="3380780"/>
            <a:ext cx="2228850" cy="241102"/>
          </a:xfrm>
          <a:prstGeom prst="rect">
            <a:avLst/>
          </a:prstGeom>
          <a:solidFill>
            <a:srgbClr val="E8F0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Shape 33"/>
          <p:cNvSpPr/>
          <p:nvPr/>
        </p:nvSpPr>
        <p:spPr>
          <a:xfrm>
            <a:off x="6200775" y="3380780"/>
            <a:ext cx="21431" cy="241102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4"/>
          <p:cNvSpPr/>
          <p:nvPr/>
        </p:nvSpPr>
        <p:spPr>
          <a:xfrm>
            <a:off x="6200775" y="3380780"/>
            <a:ext cx="2228850" cy="241102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i="1" dirty="0">
                <a:solidFill>
                  <a:srgbClr val="1F3A3D"/>
                </a:solidFill>
              </a:rPr>
              <a:t>Observar la emoción sin ser arrastrado por ella.</a:t>
            </a:r>
            <a:endParaRPr lang="en-US" sz="674" dirty="0"/>
          </a:p>
        </p:txBody>
      </p:sp>
      <p:sp>
        <p:nvSpPr>
          <p:cNvPr id="41" name="Shape 35"/>
          <p:cNvSpPr/>
          <p:nvPr/>
        </p:nvSpPr>
        <p:spPr>
          <a:xfrm>
            <a:off x="571500" y="3993356"/>
            <a:ext cx="8001000" cy="650081"/>
          </a:xfrm>
          <a:prstGeom prst="rect">
            <a:avLst/>
          </a:prstGeom>
          <a:solidFill>
            <a:srgbClr val="E8F0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Shape 36"/>
          <p:cNvSpPr/>
          <p:nvPr/>
        </p:nvSpPr>
        <p:spPr>
          <a:xfrm>
            <a:off x="571500" y="3993356"/>
            <a:ext cx="28575" cy="650081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Text 37"/>
          <p:cNvSpPr/>
          <p:nvPr/>
        </p:nvSpPr>
        <p:spPr>
          <a:xfrm>
            <a:off x="800100" y="4121944"/>
            <a:ext cx="7543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i="1" dirty="0">
                <a:solidFill>
                  <a:srgbClr val="1F3A3D"/>
                </a:solidFill>
              </a:rPr>
              <a:t>"Autocompasión es tratarte a ti mismo como tratarías a un buen amigo que está sufriendo."</a:t>
            </a:r>
            <a:endParaRPr lang="en-US" sz="987" dirty="0"/>
          </a:p>
        </p:txBody>
      </p:sp>
      <p:sp>
        <p:nvSpPr>
          <p:cNvPr id="44" name="Text 38"/>
          <p:cNvSpPr/>
          <p:nvPr/>
        </p:nvSpPr>
        <p:spPr>
          <a:xfrm>
            <a:off x="800100" y="4379119"/>
            <a:ext cx="75438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C8060"/>
                </a:solidFill>
              </a:rPr>
              <a:t>— Kristin Neff</a:t>
            </a:r>
            <a:endParaRPr lang="en-US" sz="683" dirty="0"/>
          </a:p>
        </p:txBody>
      </p:sp>
      <p:sp>
        <p:nvSpPr>
          <p:cNvPr id="45" name="Shape 39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Text 40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La autocompasión no es </a:t>
            </a:r>
            <a:r>
              <a:rPr lang="en-US" sz="888" i="1" dirty="0">
                <a:solidFill>
                  <a:srgbClr val="DC8060"/>
                </a:solidFill>
              </a:rPr>
              <a:t>autoindulgencia</a:t>
            </a:r>
            <a:r>
              <a:rPr lang="en-US" sz="888" dirty="0">
                <a:solidFill>
                  <a:srgbClr val="FFFFFF"/>
                </a:solidFill>
              </a:rPr>
              <a:t>: es la base más sólida para liderar.</a:t>
            </a:r>
            <a:endParaRPr lang="en-US" sz="88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MITO VS REALIDAD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No es Debilidad, es Exigencia Amable</a:t>
            </a:r>
            <a:endParaRPr lang="en-US" sz="2226" dirty="0"/>
          </a:p>
        </p:txBody>
      </p:sp>
      <p:sp>
        <p:nvSpPr>
          <p:cNvPr id="5" name="Shape 2"/>
          <p:cNvSpPr/>
          <p:nvPr/>
        </p:nvSpPr>
        <p:spPr>
          <a:xfrm>
            <a:off x="571500" y="1163706"/>
            <a:ext cx="3871913" cy="3479732"/>
          </a:xfrm>
          <a:prstGeom prst="rect">
            <a:avLst/>
          </a:prstGeom>
          <a:solidFill>
            <a:srgbClr val="FFF5F2"/>
          </a:solidFill>
          <a:ln w="9144">
            <a:solidFill>
              <a:srgbClr val="DC806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771525" y="1363731"/>
            <a:ext cx="371475" cy="371475"/>
          </a:xfrm>
          <a:prstGeom prst="ellipse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36" y="1470887"/>
            <a:ext cx="196453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43013" y="1442312"/>
            <a:ext cx="12983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3A3D"/>
                </a:solidFill>
              </a:rPr>
              <a:t>Autoindulgencia</a:t>
            </a:r>
            <a:endParaRPr lang="en-US" sz="109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013812"/>
            <a:ext cx="67866" cy="1071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5116" y="1985237"/>
            <a:ext cx="297819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4A4A4A"/>
                </a:solidFill>
              </a:rPr>
              <a:t>Evita el dolor:</a:t>
            </a:r>
            <a:r>
              <a:rPr lang="en-US" sz="888" dirty="0">
                <a:solidFill>
                  <a:srgbClr val="4A4A4A"/>
                </a:solidFill>
              </a:rPr>
              <a:t> "Pobrecito de mí, hoy no hago nada."</a:t>
            </a:r>
            <a:endParaRPr lang="en-US" sz="834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312398"/>
            <a:ext cx="67866" cy="1071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25116" y="2283823"/>
            <a:ext cx="3247923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4A4A4A"/>
                </a:solidFill>
              </a:rPr>
              <a:t>Baja el estándar:</a:t>
            </a:r>
            <a:r>
              <a:rPr lang="en-US" sz="888" dirty="0">
                <a:solidFill>
                  <a:srgbClr val="4A4A4A"/>
                </a:solidFill>
              </a:rPr>
              <a:t> Se conforma con menos para no sufrir.</a:t>
            </a:r>
            <a:endParaRPr lang="en-US" sz="834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610985"/>
            <a:ext cx="67866" cy="1071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25116" y="2582410"/>
            <a:ext cx="2969456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4A4A4A"/>
                </a:solidFill>
              </a:rPr>
              <a:t>Resultado:</a:t>
            </a:r>
            <a:r>
              <a:rPr lang="en-US" sz="888" dirty="0">
                <a:solidFill>
                  <a:srgbClr val="4A4A4A"/>
                </a:solidFill>
              </a:rPr>
              <a:t> Estancamiento y debilidad a largo plazo.</a:t>
            </a:r>
            <a:endParaRPr lang="en-US" sz="834" dirty="0"/>
          </a:p>
        </p:txBody>
      </p:sp>
      <p:sp>
        <p:nvSpPr>
          <p:cNvPr id="15" name="Shape 8"/>
          <p:cNvSpPr/>
          <p:nvPr/>
        </p:nvSpPr>
        <p:spPr>
          <a:xfrm>
            <a:off x="4693444" y="1163706"/>
            <a:ext cx="3879056" cy="3479732"/>
          </a:xfrm>
          <a:prstGeom prst="rect">
            <a:avLst/>
          </a:prstGeom>
          <a:solidFill>
            <a:srgbClr val="E8F0EF"/>
          </a:solidFill>
          <a:ln w="9144">
            <a:solidFill>
              <a:srgbClr val="2D4A4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9"/>
          <p:cNvSpPr/>
          <p:nvPr/>
        </p:nvSpPr>
        <p:spPr>
          <a:xfrm>
            <a:off x="4900613" y="1363731"/>
            <a:ext cx="371475" cy="371475"/>
          </a:xfrm>
          <a:prstGeom prst="ellipse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7769" y="1470887"/>
            <a:ext cx="157163" cy="15716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372100" y="1442312"/>
            <a:ext cx="123059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3A3D"/>
                </a:solidFill>
              </a:rPr>
              <a:t>Autocompasión</a:t>
            </a:r>
            <a:endParaRPr lang="en-US" sz="109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0613" y="2013812"/>
            <a:ext cx="107156" cy="107156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093494" y="1985237"/>
            <a:ext cx="3278981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4A4A4A"/>
                </a:solidFill>
              </a:rPr>
              <a:t>Enfrenta el dolor:</a:t>
            </a:r>
            <a:r>
              <a:rPr lang="en-US" sz="888" dirty="0">
                <a:solidFill>
                  <a:srgbClr val="4A4A4A"/>
                </a:solidFill>
              </a:rPr>
              <a:t> "Esto duele, ¿qué necesito para seguir?"</a:t>
            </a:r>
            <a:endParaRPr lang="en-US" sz="834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0613" y="2482397"/>
            <a:ext cx="107156" cy="107156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093494" y="2453822"/>
            <a:ext cx="3278981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4A4A4A"/>
                </a:solidFill>
              </a:rPr>
              <a:t>Mantiene el estándar:</a:t>
            </a:r>
            <a:r>
              <a:rPr lang="en-US" sz="888" dirty="0">
                <a:solidFill>
                  <a:srgbClr val="4A4A4A"/>
                </a:solidFill>
              </a:rPr>
              <a:t> Busca la excelencia cuidando la herramienta (tú).</a:t>
            </a:r>
            <a:endParaRPr lang="en-US" sz="834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0613" y="2950983"/>
            <a:ext cx="107156" cy="107156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093494" y="2922408"/>
            <a:ext cx="271309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4A4A4A"/>
                </a:solidFill>
              </a:rPr>
              <a:t>Resultado:</a:t>
            </a:r>
            <a:r>
              <a:rPr lang="en-US" sz="888" dirty="0">
                <a:solidFill>
                  <a:srgbClr val="4A4A4A"/>
                </a:solidFill>
              </a:rPr>
              <a:t> Resiliencia y crecimiento sostenible.</a:t>
            </a:r>
            <a:endParaRPr lang="en-US" sz="834" dirty="0"/>
          </a:p>
        </p:txBody>
      </p:sp>
      <p:sp>
        <p:nvSpPr>
          <p:cNvPr id="25" name="Shape 14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15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La autocompasión no es soltar el volante, es </a:t>
            </a:r>
            <a:r>
              <a:rPr lang="en-US" sz="888" i="1" dirty="0">
                <a:solidFill>
                  <a:srgbClr val="DC8060"/>
                </a:solidFill>
              </a:rPr>
              <a:t>ajustar el asiento</a:t>
            </a:r>
            <a:r>
              <a:rPr lang="en-US" sz="888" dirty="0">
                <a:solidFill>
                  <a:srgbClr val="FFFFFF"/>
                </a:solidFill>
              </a:rPr>
              <a:t> para conducir mejor.</a:t>
            </a:r>
            <a:endParaRPr lang="en-US" sz="888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INFRAESTRUCTURA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No Puedes Dar desde una Vasija Rota</a:t>
            </a:r>
            <a:endParaRPr lang="en-US" sz="2226" dirty="0"/>
          </a:p>
        </p:txBody>
      </p:sp>
      <p:sp>
        <p:nvSpPr>
          <p:cNvPr id="5" name="Shape 2"/>
          <p:cNvSpPr/>
          <p:nvPr/>
        </p:nvSpPr>
        <p:spPr>
          <a:xfrm>
            <a:off x="571500" y="1838092"/>
            <a:ext cx="3786188" cy="829735"/>
          </a:xfrm>
          <a:prstGeom prst="rect">
            <a:avLst/>
          </a:prstGeom>
          <a:solidFill>
            <a:srgbClr val="DC8060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571500" y="1838092"/>
            <a:ext cx="28575" cy="829735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14375" y="1980967"/>
            <a:ext cx="35004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kern="0" spc="1" dirty="0">
                <a:solidFill>
                  <a:srgbClr val="DC8060"/>
                </a:solidFill>
              </a:rPr>
              <a:t>La Vieja Creencia</a:t>
            </a:r>
            <a:endParaRPr lang="en-US" sz="634" dirty="0"/>
          </a:p>
        </p:txBody>
      </p:sp>
      <p:sp>
        <p:nvSpPr>
          <p:cNvPr id="8" name="Text 5"/>
          <p:cNvSpPr/>
          <p:nvPr/>
        </p:nvSpPr>
        <p:spPr>
          <a:xfrm>
            <a:off x="714375" y="2164919"/>
            <a:ext cx="35004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F3A3D"/>
                </a:solidFill>
              </a:rPr>
              <a:t>"Cuidarme es egoísta. Un buen líder se sacrifica por su equipo hasta el final."</a:t>
            </a:r>
            <a:endParaRPr lang="en-US" sz="885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5658" y="2839278"/>
            <a:ext cx="117872" cy="15716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71500" y="3167890"/>
            <a:ext cx="3786188" cy="829735"/>
          </a:xfrm>
          <a:prstGeom prst="rect">
            <a:avLst/>
          </a:prstGeom>
          <a:solidFill>
            <a:srgbClr val="E8F0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7"/>
          <p:cNvSpPr/>
          <p:nvPr/>
        </p:nvSpPr>
        <p:spPr>
          <a:xfrm>
            <a:off x="571500" y="3167890"/>
            <a:ext cx="28575" cy="829735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8"/>
          <p:cNvSpPr/>
          <p:nvPr/>
        </p:nvSpPr>
        <p:spPr>
          <a:xfrm>
            <a:off x="714375" y="3310765"/>
            <a:ext cx="35004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kern="0" spc="1" dirty="0">
                <a:solidFill>
                  <a:srgbClr val="2D4A4E"/>
                </a:solidFill>
              </a:rPr>
              <a:t>La Realidad Consciente</a:t>
            </a:r>
            <a:endParaRPr lang="en-US" sz="634" dirty="0"/>
          </a:p>
        </p:txBody>
      </p:sp>
      <p:sp>
        <p:nvSpPr>
          <p:cNvPr id="13" name="Text 9"/>
          <p:cNvSpPr/>
          <p:nvPr/>
        </p:nvSpPr>
        <p:spPr>
          <a:xfrm>
            <a:off x="714375" y="3494717"/>
            <a:ext cx="35004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F3A3D"/>
                </a:solidFill>
              </a:rPr>
              <a:t>"Cuidarme es estratégico. Necesito estar lleno para poder sostener a otros."</a:t>
            </a:r>
            <a:endParaRPr lang="en-US" sz="885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203" y="2035606"/>
            <a:ext cx="964406" cy="8572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86313" y="3307193"/>
            <a:ext cx="3786188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159" dirty="0">
                <a:solidFill>
                  <a:srgbClr val="4A4A4A"/>
                </a:solidFill>
              </a:rPr>
              <a:t>La autocompasión no es un lujo, es el </a:t>
            </a:r>
            <a:r>
              <a:rPr lang="en-US" sz="1090" b="1" dirty="0">
                <a:solidFill>
                  <a:srgbClr val="DC8060"/>
                </a:solidFill>
              </a:rPr>
              <a:t>mantenimiento preventivo</a:t>
            </a:r>
            <a:r>
              <a:rPr lang="en-US" sz="1159" dirty="0">
                <a:solidFill>
                  <a:srgbClr val="4A4A4A"/>
                </a:solidFill>
              </a:rPr>
              <a:t> de tu capacidad de liderar.</a:t>
            </a:r>
            <a:endParaRPr lang="en-US" sz="1159" dirty="0"/>
          </a:p>
        </p:txBody>
      </p:sp>
      <p:sp>
        <p:nvSpPr>
          <p:cNvPr id="16" name="Shape 11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2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El líder que se quema no </a:t>
            </a:r>
            <a:r>
              <a:rPr lang="en-US" sz="888" i="1" dirty="0">
                <a:solidFill>
                  <a:srgbClr val="DC8060"/>
                </a:solidFill>
              </a:rPr>
              <a:t>ilumina</a:t>
            </a:r>
            <a:r>
              <a:rPr lang="en-US" sz="888" dirty="0">
                <a:solidFill>
                  <a:srgbClr val="FFFFFF"/>
                </a:solidFill>
              </a:rPr>
              <a:t> a nadie.</a:t>
            </a:r>
            <a:endParaRPr lang="en-US" sz="888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1617166"/>
            <a:ext cx="1471054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27" b="1">
                <a:solidFill>
                  <a:srgbClr val="DC8060"/>
                </a:solidFill>
                <a:latin typeface="Montserrat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2679" y="1688604"/>
            <a:ext cx="4920816" cy="194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7" b="1">
                <a:solidFill>
                  <a:srgbClr val="E0EBEB"/>
                </a:solidFill>
                <a:latin typeface="Montserrat"/>
              </a:rPr>
              <a:t>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2679" y="2026146"/>
            <a:ext cx="4920816" cy="1005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94" b="1">
                <a:solidFill>
                  <a:srgbClr val="FFFFFF"/>
                </a:solidFill>
                <a:latin typeface="Montserrat"/>
              </a:rPr>
              <a:t>Dos Formas</a:t>
            </a:r>
          </a:p>
          <a:p>
            <a:pPr algn="l"/>
            <a:r>
              <a:rPr sz="3294" b="1">
                <a:solidFill>
                  <a:srgbClr val="FFFFFF"/>
                </a:solidFill>
                <a:latin typeface="Montserrat"/>
              </a:rPr>
              <a:t>de Mirar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2679" y="3246276"/>
            <a:ext cx="4920816" cy="28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86" b="0">
                <a:solidFill>
                  <a:srgbClr val="E0EBEB"/>
                </a:solidFill>
                <a:latin typeface="Montserrat"/>
              </a:rPr>
              <a:t>Yo-Tú vs Yo-Ello: cómo te relacionas con las personas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MARTIN BUBER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Las Dos Miradas</a:t>
            </a:r>
            <a:endParaRPr lang="en-US" sz="2226" dirty="0"/>
          </a:p>
        </p:txBody>
      </p:sp>
      <p:sp>
        <p:nvSpPr>
          <p:cNvPr id="5" name="Shape 2"/>
          <p:cNvSpPr/>
          <p:nvPr/>
        </p:nvSpPr>
        <p:spPr>
          <a:xfrm>
            <a:off x="0" y="1077981"/>
            <a:ext cx="4575572" cy="3708332"/>
          </a:xfrm>
          <a:prstGeom prst="rect">
            <a:avLst/>
          </a:prstGeom>
          <a:solidFill>
            <a:srgbClr val="F4F6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4568428" y="1077981"/>
            <a:ext cx="7144" cy="3708332"/>
          </a:xfrm>
          <a:prstGeom prst="rect">
            <a:avLst/>
          </a:prstGeom>
          <a:solidFill>
            <a:srgbClr val="EAED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648560" y="1192281"/>
            <a:ext cx="127488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kern="0" spc="-1" dirty="0">
                <a:solidFill>
                  <a:srgbClr val="546E7A"/>
                </a:solidFill>
              </a:rPr>
              <a:t>YO-ELLO</a:t>
            </a:r>
            <a:endParaRPr lang="en-US" sz="2226" dirty="0"/>
          </a:p>
        </p:txBody>
      </p:sp>
      <p:sp>
        <p:nvSpPr>
          <p:cNvPr id="8" name="Text 5"/>
          <p:cNvSpPr/>
          <p:nvPr/>
        </p:nvSpPr>
        <p:spPr>
          <a:xfrm>
            <a:off x="1319222" y="1678056"/>
            <a:ext cx="193352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1F3A3D"/>
                </a:solidFill>
              </a:rPr>
              <a:t>El otro como OBJETO</a:t>
            </a:r>
            <a:endParaRPr lang="en-US" sz="1090" dirty="0"/>
          </a:p>
        </p:txBody>
      </p:sp>
      <p:sp>
        <p:nvSpPr>
          <p:cNvPr id="9" name="Shape 6"/>
          <p:cNvSpPr/>
          <p:nvPr/>
        </p:nvSpPr>
        <p:spPr>
          <a:xfrm>
            <a:off x="285750" y="2006668"/>
            <a:ext cx="4000500" cy="317897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285750" y="2006668"/>
            <a:ext cx="28575" cy="317897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285750" y="2006668"/>
            <a:ext cx="4000500" cy="31789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Relación Instrumental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285750" y="2410290"/>
            <a:ext cx="4000500" cy="317897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285750" y="2410290"/>
            <a:ext cx="28575" cy="317897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85750" y="2410290"/>
            <a:ext cx="4000500" cy="31789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Busca Utilidad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285750" y="2813912"/>
            <a:ext cx="4000500" cy="317897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285750" y="2813912"/>
            <a:ext cx="28575" cy="317897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285750" y="2813912"/>
            <a:ext cx="4000500" cy="31789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Distancia y Control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285750" y="3217534"/>
            <a:ext cx="4000500" cy="317897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285750" y="3217534"/>
            <a:ext cx="28575" cy="317897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285750" y="3217534"/>
            <a:ext cx="4000500" cy="31789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"¿Para qué me sirves?"</a:t>
            </a:r>
            <a:endParaRPr lang="en-US" sz="942" dirty="0"/>
          </a:p>
        </p:txBody>
      </p:sp>
      <p:sp>
        <p:nvSpPr>
          <p:cNvPr id="21" name="Shape 18"/>
          <p:cNvSpPr/>
          <p:nvPr/>
        </p:nvSpPr>
        <p:spPr>
          <a:xfrm>
            <a:off x="4572000" y="1077981"/>
            <a:ext cx="4572000" cy="3708332"/>
          </a:xfrm>
          <a:prstGeom prst="rect">
            <a:avLst/>
          </a:prstGeom>
          <a:solidFill>
            <a:srgbClr val="FFF5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6398233" y="1192281"/>
            <a:ext cx="91953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kern="0" spc="-1" dirty="0">
                <a:solidFill>
                  <a:srgbClr val="DC8060"/>
                </a:solidFill>
              </a:rPr>
              <a:t>YO-TÚ</a:t>
            </a:r>
            <a:endParaRPr lang="en-US" sz="2226" dirty="0"/>
          </a:p>
        </p:txBody>
      </p:sp>
      <p:sp>
        <p:nvSpPr>
          <p:cNvPr id="23" name="Text 20"/>
          <p:cNvSpPr/>
          <p:nvPr/>
        </p:nvSpPr>
        <p:spPr>
          <a:xfrm>
            <a:off x="5903556" y="1678056"/>
            <a:ext cx="190886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1F3A3D"/>
                </a:solidFill>
              </a:rPr>
              <a:t>El otro como SUJETO</a:t>
            </a:r>
            <a:endParaRPr lang="en-US" sz="1090" dirty="0"/>
          </a:p>
        </p:txBody>
      </p:sp>
      <p:sp>
        <p:nvSpPr>
          <p:cNvPr id="24" name="Shape 21"/>
          <p:cNvSpPr/>
          <p:nvPr/>
        </p:nvSpPr>
        <p:spPr>
          <a:xfrm>
            <a:off x="4857750" y="2006668"/>
            <a:ext cx="4000500" cy="317897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4857750" y="2006668"/>
            <a:ext cx="28575" cy="317897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4857750" y="2006668"/>
            <a:ext cx="4000500" cy="31789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Relación Genuina</a:t>
            </a:r>
            <a:endParaRPr lang="en-US" sz="942" dirty="0"/>
          </a:p>
        </p:txBody>
      </p:sp>
      <p:sp>
        <p:nvSpPr>
          <p:cNvPr id="27" name="Shape 24"/>
          <p:cNvSpPr/>
          <p:nvPr/>
        </p:nvSpPr>
        <p:spPr>
          <a:xfrm>
            <a:off x="4857750" y="2410290"/>
            <a:ext cx="4000500" cy="317897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4857750" y="2410290"/>
            <a:ext cx="28575" cy="317897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4857750" y="2410290"/>
            <a:ext cx="4000500" cy="31789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Busca Encuentro</a:t>
            </a:r>
            <a:endParaRPr lang="en-US" sz="942" dirty="0"/>
          </a:p>
        </p:txBody>
      </p:sp>
      <p:sp>
        <p:nvSpPr>
          <p:cNvPr id="30" name="Shape 27"/>
          <p:cNvSpPr/>
          <p:nvPr/>
        </p:nvSpPr>
        <p:spPr>
          <a:xfrm>
            <a:off x="4857750" y="2813912"/>
            <a:ext cx="4000500" cy="317897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Shape 28"/>
          <p:cNvSpPr/>
          <p:nvPr/>
        </p:nvSpPr>
        <p:spPr>
          <a:xfrm>
            <a:off x="4857750" y="2813912"/>
            <a:ext cx="28575" cy="317897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29"/>
          <p:cNvSpPr/>
          <p:nvPr/>
        </p:nvSpPr>
        <p:spPr>
          <a:xfrm>
            <a:off x="4857750" y="2813912"/>
            <a:ext cx="4000500" cy="31789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Presencia y Vulnerabilidad</a:t>
            </a:r>
            <a:endParaRPr lang="en-US" sz="942" dirty="0"/>
          </a:p>
        </p:txBody>
      </p:sp>
      <p:sp>
        <p:nvSpPr>
          <p:cNvPr id="33" name="Shape 30"/>
          <p:cNvSpPr/>
          <p:nvPr/>
        </p:nvSpPr>
        <p:spPr>
          <a:xfrm>
            <a:off x="4857750" y="3217534"/>
            <a:ext cx="4000500" cy="317897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Shape 31"/>
          <p:cNvSpPr/>
          <p:nvPr/>
        </p:nvSpPr>
        <p:spPr>
          <a:xfrm>
            <a:off x="4857750" y="3217534"/>
            <a:ext cx="28575" cy="317897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2"/>
          <p:cNvSpPr/>
          <p:nvPr/>
        </p:nvSpPr>
        <p:spPr>
          <a:xfrm>
            <a:off x="4857750" y="3217534"/>
            <a:ext cx="4000500" cy="31789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"Te veo a ti"</a:t>
            </a:r>
            <a:endParaRPr lang="en-US" sz="942" dirty="0"/>
          </a:p>
        </p:txBody>
      </p:sp>
      <p:sp>
        <p:nvSpPr>
          <p:cNvPr id="36" name="Shape 33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"Toda vida verdadera es </a:t>
            </a:r>
            <a:r>
              <a:rPr lang="en-US" sz="888" i="1" dirty="0">
                <a:solidFill>
                  <a:srgbClr val="DC8060"/>
                </a:solidFill>
              </a:rPr>
              <a:t>encuentro</a:t>
            </a:r>
            <a:r>
              <a:rPr lang="en-US" sz="888" dirty="0">
                <a:solidFill>
                  <a:srgbClr val="FFFFFF"/>
                </a:solidFill>
              </a:rPr>
              <a:t>." — Martin Buber</a:t>
            </a:r>
            <a:endParaRPr lang="en-US" sz="888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ECONOMÍA COGNITIVA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Por qué tu Cerebro Prefiere el Modo "Ello"</a:t>
            </a:r>
            <a:endParaRPr lang="en-US" sz="2226" dirty="0"/>
          </a:p>
        </p:txBody>
      </p:sp>
      <p:sp>
        <p:nvSpPr>
          <p:cNvPr id="5" name="Shape 2"/>
          <p:cNvSpPr/>
          <p:nvPr/>
        </p:nvSpPr>
        <p:spPr>
          <a:xfrm>
            <a:off x="571500" y="1163706"/>
            <a:ext cx="3857625" cy="34797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571500" y="1163706"/>
            <a:ext cx="3857625" cy="35719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4421981" y="1163706"/>
            <a:ext cx="7144" cy="347973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571500" y="4636294"/>
            <a:ext cx="3857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571500" y="1163706"/>
            <a:ext cx="7144" cy="347973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2246709" y="1363731"/>
            <a:ext cx="500063" cy="500063"/>
          </a:xfrm>
          <a:prstGeom prst="ellipse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006" y="1485174"/>
            <a:ext cx="321469" cy="2571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58364" y="1978093"/>
            <a:ext cx="1076725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F3A3D"/>
                </a:solidFill>
              </a:rPr>
              <a:t>Modo "Ello"</a:t>
            </a:r>
            <a:endParaRPr lang="en-US" sz="1295" dirty="0"/>
          </a:p>
        </p:txBody>
      </p:sp>
      <p:sp>
        <p:nvSpPr>
          <p:cNvPr id="13" name="Text 9"/>
          <p:cNvSpPr/>
          <p:nvPr/>
        </p:nvSpPr>
        <p:spPr>
          <a:xfrm>
            <a:off x="1872779" y="2272773"/>
            <a:ext cx="124789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34" b="1" kern="0" spc="1" dirty="0">
                <a:solidFill>
                  <a:srgbClr val="999999"/>
                </a:solidFill>
              </a:rPr>
              <a:t>Piloto Automático</a:t>
            </a:r>
            <a:endParaRPr lang="en-US" sz="734" dirty="0"/>
          </a:p>
        </p:txBody>
      </p:sp>
      <p:sp>
        <p:nvSpPr>
          <p:cNvPr id="14" name="Text 10"/>
          <p:cNvSpPr/>
          <p:nvPr/>
        </p:nvSpPr>
        <p:spPr>
          <a:xfrm>
            <a:off x="771525" y="2562095"/>
            <a:ext cx="345043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66666"/>
                </a:solidFill>
              </a:rPr>
              <a:t>COSTO ENERGÉTICO: BAJO</a:t>
            </a:r>
            <a:endParaRPr lang="en-US" sz="534" dirty="0"/>
          </a:p>
        </p:txBody>
      </p:sp>
      <p:sp>
        <p:nvSpPr>
          <p:cNvPr id="15" name="Shape 11"/>
          <p:cNvSpPr/>
          <p:nvPr/>
        </p:nvSpPr>
        <p:spPr>
          <a:xfrm>
            <a:off x="771525" y="2712114"/>
            <a:ext cx="3450431" cy="71438"/>
          </a:xfrm>
          <a:prstGeom prst="round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983576"/>
            <a:ext cx="92869" cy="928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5831" y="2955001"/>
            <a:ext cx="146100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Usa </a:t>
            </a:r>
            <a:r>
              <a:rPr lang="en-US" sz="734" b="1" dirty="0">
                <a:solidFill>
                  <a:srgbClr val="4A4A4A"/>
                </a:solidFill>
              </a:rPr>
              <a:t>etiquetas</a:t>
            </a:r>
            <a:r>
              <a:rPr lang="en-US" sz="780" dirty="0">
                <a:solidFill>
                  <a:srgbClr val="4A4A4A"/>
                </a:solidFill>
              </a:rPr>
              <a:t> preexistentes.</a:t>
            </a:r>
            <a:endParaRPr lang="en-US" sz="78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3201460"/>
            <a:ext cx="92869" cy="928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5831" y="3172885"/>
            <a:ext cx="176294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Procesamiento predictivo (adivina).</a:t>
            </a:r>
            <a:endParaRPr lang="en-US" sz="78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419345"/>
            <a:ext cx="92869" cy="9286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35831" y="3390770"/>
            <a:ext cx="91995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Rápido y eficiente.</a:t>
            </a:r>
            <a:endParaRPr lang="en-US" sz="780" dirty="0"/>
          </a:p>
        </p:txBody>
      </p:sp>
      <p:sp>
        <p:nvSpPr>
          <p:cNvPr id="22" name="Shape 15"/>
          <p:cNvSpPr/>
          <p:nvPr/>
        </p:nvSpPr>
        <p:spPr>
          <a:xfrm>
            <a:off x="4707731" y="1163706"/>
            <a:ext cx="3864769" cy="34797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16"/>
          <p:cNvSpPr/>
          <p:nvPr/>
        </p:nvSpPr>
        <p:spPr>
          <a:xfrm>
            <a:off x="4707731" y="1163706"/>
            <a:ext cx="3864769" cy="35719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17"/>
          <p:cNvSpPr/>
          <p:nvPr/>
        </p:nvSpPr>
        <p:spPr>
          <a:xfrm>
            <a:off x="8565356" y="1163706"/>
            <a:ext cx="7144" cy="347973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18"/>
          <p:cNvSpPr/>
          <p:nvPr/>
        </p:nvSpPr>
        <p:spPr>
          <a:xfrm>
            <a:off x="4707731" y="4636294"/>
            <a:ext cx="3864769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19"/>
          <p:cNvSpPr/>
          <p:nvPr/>
        </p:nvSpPr>
        <p:spPr>
          <a:xfrm>
            <a:off x="4707731" y="1163706"/>
            <a:ext cx="7144" cy="347973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0"/>
          <p:cNvSpPr/>
          <p:nvPr/>
        </p:nvSpPr>
        <p:spPr>
          <a:xfrm>
            <a:off x="6393656" y="1363731"/>
            <a:ext cx="500063" cy="500063"/>
          </a:xfrm>
          <a:prstGeom prst="ellipse">
            <a:avLst/>
          </a:prstGeom>
          <a:solidFill>
            <a:srgbClr val="DC8060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1485174"/>
            <a:ext cx="257175" cy="25717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158526" y="1978093"/>
            <a:ext cx="970294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F3A3D"/>
                </a:solidFill>
              </a:rPr>
              <a:t>Modo "Tú"</a:t>
            </a:r>
            <a:endParaRPr lang="en-US" sz="1295" dirty="0"/>
          </a:p>
        </p:txBody>
      </p:sp>
      <p:sp>
        <p:nvSpPr>
          <p:cNvPr id="30" name="Text 22"/>
          <p:cNvSpPr/>
          <p:nvPr/>
        </p:nvSpPr>
        <p:spPr>
          <a:xfrm>
            <a:off x="6167010" y="2272773"/>
            <a:ext cx="95335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34" b="1" kern="0" spc="1" dirty="0">
                <a:solidFill>
                  <a:srgbClr val="DC8060"/>
                </a:solidFill>
              </a:rPr>
              <a:t>Conexión Real</a:t>
            </a:r>
            <a:endParaRPr lang="en-US" sz="734" dirty="0"/>
          </a:p>
        </p:txBody>
      </p:sp>
      <p:sp>
        <p:nvSpPr>
          <p:cNvPr id="31" name="Text 23"/>
          <p:cNvSpPr/>
          <p:nvPr/>
        </p:nvSpPr>
        <p:spPr>
          <a:xfrm>
            <a:off x="4914900" y="2562095"/>
            <a:ext cx="34575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66666"/>
                </a:solidFill>
              </a:rPr>
              <a:t>COSTO ENERGÉTICO: ALTO</a:t>
            </a:r>
            <a:endParaRPr lang="en-US" sz="534" dirty="0"/>
          </a:p>
        </p:txBody>
      </p:sp>
      <p:sp>
        <p:nvSpPr>
          <p:cNvPr id="32" name="Shape 24"/>
          <p:cNvSpPr/>
          <p:nvPr/>
        </p:nvSpPr>
        <p:spPr>
          <a:xfrm>
            <a:off x="4914900" y="2712114"/>
            <a:ext cx="3457575" cy="71438"/>
          </a:xfrm>
          <a:prstGeom prst="round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4900" y="2983576"/>
            <a:ext cx="92869" cy="92869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079206" y="2955001"/>
            <a:ext cx="180368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Requiere </a:t>
            </a:r>
            <a:r>
              <a:rPr lang="en-US" sz="734" b="1" dirty="0">
                <a:solidFill>
                  <a:srgbClr val="4A4A4A"/>
                </a:solidFill>
              </a:rPr>
              <a:t>simular</a:t>
            </a:r>
            <a:r>
              <a:rPr lang="en-US" sz="780" dirty="0">
                <a:solidFill>
                  <a:srgbClr val="4A4A4A"/>
                </a:solidFill>
              </a:rPr>
              <a:t> la mente del otro.</a:t>
            </a:r>
            <a:endParaRPr lang="en-US" sz="78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4900" y="3201460"/>
            <a:ext cx="92869" cy="92869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079206" y="3172885"/>
            <a:ext cx="154006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Procesamiento en tiempo real.</a:t>
            </a:r>
            <a:endParaRPr lang="en-US" sz="78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4900" y="3419345"/>
            <a:ext cx="92869" cy="92869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079206" y="3390770"/>
            <a:ext cx="178083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Lento y costoso (consume glucosa).</a:t>
            </a:r>
            <a:endParaRPr lang="en-US" sz="780" dirty="0"/>
          </a:p>
        </p:txBody>
      </p:sp>
      <p:sp>
        <p:nvSpPr>
          <p:cNvPr id="39" name="Shape 28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29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Cosificar no es maldad, es </a:t>
            </a:r>
            <a:r>
              <a:rPr lang="en-US" sz="888" i="1" dirty="0">
                <a:solidFill>
                  <a:srgbClr val="DC8060"/>
                </a:solidFill>
              </a:rPr>
              <a:t>eficiencia biológica</a:t>
            </a:r>
            <a:r>
              <a:rPr lang="en-US" sz="888" dirty="0">
                <a:solidFill>
                  <a:srgbClr val="FFFFFF"/>
                </a:solidFill>
              </a:rPr>
              <a:t>. Tu cerebro es un tacaño cognitivo.</a:t>
            </a:r>
            <a:endParaRPr lang="en-US" sz="888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EL EQUILIBRIO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El Equilibrio Consciente</a:t>
            </a:r>
            <a:endParaRPr lang="en-US" sz="2226" dirty="0"/>
          </a:p>
        </p:txBody>
      </p:sp>
      <p:sp>
        <p:nvSpPr>
          <p:cNvPr id="5" name="Text 2"/>
          <p:cNvSpPr/>
          <p:nvPr/>
        </p:nvSpPr>
        <p:spPr>
          <a:xfrm>
            <a:off x="571500" y="1077981"/>
            <a:ext cx="64293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A"/>
                </a:solidFill>
              </a:rPr>
              <a:t>El objetivo no es vivir permanentemente en "Yo-Tú", sino desarrollar la </a:t>
            </a:r>
            <a:r>
              <a:rPr lang="en-US" sz="987" b="1" dirty="0">
                <a:solidFill>
                  <a:srgbClr val="4A4A4A"/>
                </a:solidFill>
              </a:rPr>
              <a:t>flexibilidad</a:t>
            </a:r>
            <a:r>
              <a:rPr lang="en-US" sz="1050" dirty="0">
                <a:solidFill>
                  <a:srgbClr val="4A4A4A"/>
                </a:solidFill>
              </a:rPr>
              <a:t> para elegir el modo adecuado según el contexto.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71500" y="1706631"/>
            <a:ext cx="3871913" cy="29368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571500" y="1706631"/>
            <a:ext cx="3871913" cy="35719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4436269" y="1706631"/>
            <a:ext cx="7144" cy="2936807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571500" y="4636294"/>
            <a:ext cx="3871913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571500" y="1706631"/>
            <a:ext cx="7144" cy="2936807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742950" y="1878081"/>
            <a:ext cx="328613" cy="328613"/>
          </a:xfrm>
          <a:prstGeom prst="ellipse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89" y="1978093"/>
            <a:ext cx="160734" cy="128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71575" y="1945053"/>
            <a:ext cx="185768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3A3D"/>
                </a:solidFill>
              </a:rPr>
              <a:t>Modo "Yo-Ello" (Eficiencia)</a:t>
            </a:r>
            <a:endParaRPr lang="en-US" sz="987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2499587"/>
            <a:ext cx="71438" cy="714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5825" y="2456724"/>
            <a:ext cx="160391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88" dirty="0">
                <a:solidFill>
                  <a:srgbClr val="4A4A4A"/>
                </a:solidFill>
              </a:rPr>
              <a:t>Organizar logística y turnos.</a:t>
            </a:r>
            <a:endParaRPr lang="en-US" sz="888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765692"/>
            <a:ext cx="71438" cy="714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85825" y="2722829"/>
            <a:ext cx="150166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88" dirty="0">
                <a:solidFill>
                  <a:srgbClr val="4A4A4A"/>
                </a:solidFill>
              </a:rPr>
              <a:t>Analizar datos financieros.</a:t>
            </a:r>
            <a:endParaRPr lang="en-US" sz="888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3031796"/>
            <a:ext cx="71438" cy="7143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85825" y="2988934"/>
            <a:ext cx="167412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88" dirty="0">
                <a:solidFill>
                  <a:srgbClr val="4A4A4A"/>
                </a:solidFill>
              </a:rPr>
              <a:t>Ejecutar procesos repetitivos.</a:t>
            </a:r>
            <a:endParaRPr lang="en-US" sz="888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3297901"/>
            <a:ext cx="71438" cy="7143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85825" y="3255039"/>
            <a:ext cx="199921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88" dirty="0">
                <a:solidFill>
                  <a:srgbClr val="4A4A4A"/>
                </a:solidFill>
              </a:rPr>
              <a:t>Situaciones de emergencia técnica.</a:t>
            </a:r>
            <a:endParaRPr lang="en-US" sz="888" dirty="0"/>
          </a:p>
        </p:txBody>
      </p:sp>
      <p:sp>
        <p:nvSpPr>
          <p:cNvPr id="22" name="Shape 14"/>
          <p:cNvSpPr/>
          <p:nvPr/>
        </p:nvSpPr>
        <p:spPr>
          <a:xfrm>
            <a:off x="4693444" y="1706631"/>
            <a:ext cx="3879056" cy="29368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15"/>
          <p:cNvSpPr/>
          <p:nvPr/>
        </p:nvSpPr>
        <p:spPr>
          <a:xfrm>
            <a:off x="4693444" y="1706631"/>
            <a:ext cx="3879056" cy="35719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16"/>
          <p:cNvSpPr/>
          <p:nvPr/>
        </p:nvSpPr>
        <p:spPr>
          <a:xfrm>
            <a:off x="8565356" y="1706631"/>
            <a:ext cx="7144" cy="2936807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17"/>
          <p:cNvSpPr/>
          <p:nvPr/>
        </p:nvSpPr>
        <p:spPr>
          <a:xfrm>
            <a:off x="4693444" y="4636294"/>
            <a:ext cx="3879056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18"/>
          <p:cNvSpPr/>
          <p:nvPr/>
        </p:nvSpPr>
        <p:spPr>
          <a:xfrm>
            <a:off x="4693444" y="1706631"/>
            <a:ext cx="7144" cy="2936807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19"/>
          <p:cNvSpPr/>
          <p:nvPr/>
        </p:nvSpPr>
        <p:spPr>
          <a:xfrm>
            <a:off x="4872038" y="1878081"/>
            <a:ext cx="328613" cy="328613"/>
          </a:xfrm>
          <a:prstGeom prst="ellipse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2050" y="1978093"/>
            <a:ext cx="128588" cy="12858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300663" y="1945053"/>
            <a:ext cx="192409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3A3D"/>
                </a:solidFill>
              </a:rPr>
              <a:t>Modo "Yo-Tú" (Humanidad)</a:t>
            </a:r>
            <a:endParaRPr lang="en-US" sz="987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2038" y="2499587"/>
            <a:ext cx="71438" cy="7143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014913" y="2456724"/>
            <a:ext cx="157380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88" dirty="0">
                <a:solidFill>
                  <a:srgbClr val="4A4A4A"/>
                </a:solidFill>
              </a:rPr>
              <a:t>Dar feedback de desarrollo.</a:t>
            </a:r>
            <a:endParaRPr lang="en-US" sz="888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2038" y="2765692"/>
            <a:ext cx="71438" cy="7143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014913" y="2722829"/>
            <a:ext cx="202316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88" dirty="0">
                <a:solidFill>
                  <a:srgbClr val="4A4A4A"/>
                </a:solidFill>
              </a:rPr>
              <a:t>Resolver conflictos interpersonales.</a:t>
            </a:r>
            <a:endParaRPr lang="en-US" sz="888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2038" y="3031796"/>
            <a:ext cx="71438" cy="71438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5014913" y="2988934"/>
            <a:ext cx="199838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88" dirty="0">
                <a:solidFill>
                  <a:srgbClr val="4A4A4A"/>
                </a:solidFill>
              </a:rPr>
              <a:t>Acompañar el sufrimiento o estrés.</a:t>
            </a:r>
            <a:endParaRPr lang="en-US" sz="888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72038" y="3297901"/>
            <a:ext cx="71438" cy="7143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5014913" y="3255039"/>
            <a:ext cx="151017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88" dirty="0">
                <a:solidFill>
                  <a:srgbClr val="4A4A4A"/>
                </a:solidFill>
              </a:rPr>
              <a:t>Celebrar logros y conectar.</a:t>
            </a:r>
            <a:endParaRPr lang="en-US" sz="888" dirty="0"/>
          </a:p>
        </p:txBody>
      </p:sp>
      <p:sp>
        <p:nvSpPr>
          <p:cNvPr id="38" name="Shape 25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Text 26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Eficiencia con las cosas — </a:t>
            </a:r>
            <a:r>
              <a:rPr lang="en-US" sz="888" i="1" dirty="0">
                <a:solidFill>
                  <a:srgbClr val="DC8060"/>
                </a:solidFill>
              </a:rPr>
              <a:t>Humanidad</a:t>
            </a:r>
            <a:r>
              <a:rPr lang="en-US" sz="888" dirty="0">
                <a:solidFill>
                  <a:srgbClr val="FFFFFF"/>
                </a:solidFill>
              </a:rPr>
              <a:t> con las personas.</a:t>
            </a:r>
            <a:endParaRPr lang="en-US" sz="888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1617166"/>
            <a:ext cx="1471054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27" b="1">
                <a:solidFill>
                  <a:srgbClr val="DC8060"/>
                </a:solidFill>
                <a:latin typeface="Montserrat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2679" y="1688604"/>
            <a:ext cx="4920816" cy="194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7" b="1">
                <a:solidFill>
                  <a:srgbClr val="E0EBEB"/>
                </a:solidFill>
                <a:latin typeface="Montserrat"/>
              </a:rPr>
              <a:t>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2679" y="2026146"/>
            <a:ext cx="4920816" cy="1005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94" b="1">
                <a:solidFill>
                  <a:srgbClr val="FFFFFF"/>
                </a:solidFill>
                <a:latin typeface="Montserrat"/>
              </a:rPr>
              <a:t>Más Allá de</a:t>
            </a:r>
          </a:p>
          <a:p>
            <a:pPr algn="l"/>
            <a:r>
              <a:rPr sz="3294" b="1">
                <a:solidFill>
                  <a:srgbClr val="FFFFFF"/>
                </a:solidFill>
                <a:latin typeface="Montserrat"/>
              </a:rPr>
              <a:t>la Empatía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2679" y="3246276"/>
            <a:ext cx="4920816" cy="28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86" b="0">
                <a:solidFill>
                  <a:srgbClr val="E0EBEB"/>
                </a:solidFill>
                <a:latin typeface="Montserrat"/>
              </a:rPr>
              <a:t>Compasión sabia: sentir con el otro y actuar por él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EL LADO OSCURO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Empatía no es Suficiente</a:t>
            </a:r>
            <a:endParaRPr lang="en-US" sz="2226" dirty="0"/>
          </a:p>
        </p:txBody>
      </p:sp>
      <p:sp>
        <p:nvSpPr>
          <p:cNvPr id="5" name="Shape 2"/>
          <p:cNvSpPr/>
          <p:nvPr/>
        </p:nvSpPr>
        <p:spPr>
          <a:xfrm>
            <a:off x="571500" y="1192281"/>
            <a:ext cx="2514600" cy="345115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571500" y="1192281"/>
            <a:ext cx="2514600" cy="35719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3078956" y="1192281"/>
            <a:ext cx="7144" cy="3451157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571500" y="4636294"/>
            <a:ext cx="251460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571500" y="1192281"/>
            <a:ext cx="7144" cy="3451157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573997" y="1363731"/>
            <a:ext cx="500063" cy="500063"/>
          </a:xfrm>
          <a:prstGeom prst="ellipse">
            <a:avLst/>
          </a:prstGeom>
          <a:solidFill>
            <a:srgbClr val="DC8060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1514" y="1513749"/>
            <a:ext cx="225028" cy="2000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07920" y="2006668"/>
            <a:ext cx="10322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3A3D"/>
                </a:solidFill>
              </a:rPr>
              <a:t>Agotamiento</a:t>
            </a:r>
            <a:endParaRPr lang="en-US" sz="1090" dirty="0"/>
          </a:p>
        </p:txBody>
      </p:sp>
      <p:sp>
        <p:nvSpPr>
          <p:cNvPr id="13" name="Text 9"/>
          <p:cNvSpPr/>
          <p:nvPr/>
        </p:nvSpPr>
        <p:spPr>
          <a:xfrm>
            <a:off x="742950" y="2306706"/>
            <a:ext cx="2162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"Sentir demasiado" sin límites drena tu energía vital. Es la causa principal de la fatiga por compasión en líderes y cuidadores.</a:t>
            </a:r>
            <a:endParaRPr lang="en-US" sz="780" dirty="0"/>
          </a:p>
        </p:txBody>
      </p:sp>
      <p:sp>
        <p:nvSpPr>
          <p:cNvPr id="14" name="Shape 10"/>
          <p:cNvSpPr/>
          <p:nvPr/>
        </p:nvSpPr>
        <p:spPr>
          <a:xfrm>
            <a:off x="3305184" y="1192281"/>
            <a:ext cx="2519372" cy="345115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3305184" y="1192281"/>
            <a:ext cx="2519372" cy="35719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5817412" y="1192281"/>
            <a:ext cx="7144" cy="3451157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3305184" y="4636294"/>
            <a:ext cx="2519372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3305184" y="1192281"/>
            <a:ext cx="7144" cy="3451157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5"/>
          <p:cNvSpPr/>
          <p:nvPr/>
        </p:nvSpPr>
        <p:spPr>
          <a:xfrm>
            <a:off x="4314797" y="1363731"/>
            <a:ext cx="500063" cy="500063"/>
          </a:xfrm>
          <a:prstGeom prst="ellipse">
            <a:avLst/>
          </a:prstGeom>
          <a:solidFill>
            <a:srgbClr val="DC8060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2314" y="1513749"/>
            <a:ext cx="225028" cy="2000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236439" y="2006668"/>
            <a:ext cx="6568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3A3D"/>
                </a:solidFill>
              </a:rPr>
              <a:t>Parálisis</a:t>
            </a:r>
            <a:endParaRPr lang="en-US" sz="1090" dirty="0"/>
          </a:p>
        </p:txBody>
      </p:sp>
      <p:sp>
        <p:nvSpPr>
          <p:cNvPr id="22" name="Text 17"/>
          <p:cNvSpPr/>
          <p:nvPr/>
        </p:nvSpPr>
        <p:spPr>
          <a:xfrm>
            <a:off x="3481378" y="2306706"/>
            <a:ext cx="21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El dolor del otro te abruma tanto que te bloqueas (distress empático). En lugar de ayudar, te conviertes en otra víctima de la situación.</a:t>
            </a:r>
            <a:endParaRPr lang="en-US" sz="780" dirty="0"/>
          </a:p>
        </p:txBody>
      </p:sp>
      <p:sp>
        <p:nvSpPr>
          <p:cNvPr id="23" name="Shape 18"/>
          <p:cNvSpPr/>
          <p:nvPr/>
        </p:nvSpPr>
        <p:spPr>
          <a:xfrm>
            <a:off x="6048356" y="1192281"/>
            <a:ext cx="2524116" cy="345115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19"/>
          <p:cNvSpPr/>
          <p:nvPr/>
        </p:nvSpPr>
        <p:spPr>
          <a:xfrm>
            <a:off x="6048356" y="1192281"/>
            <a:ext cx="2524116" cy="35719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0"/>
          <p:cNvSpPr/>
          <p:nvPr/>
        </p:nvSpPr>
        <p:spPr>
          <a:xfrm>
            <a:off x="8565328" y="1192281"/>
            <a:ext cx="7144" cy="3451157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1"/>
          <p:cNvSpPr/>
          <p:nvPr/>
        </p:nvSpPr>
        <p:spPr>
          <a:xfrm>
            <a:off x="6048356" y="4636294"/>
            <a:ext cx="2524116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2"/>
          <p:cNvSpPr/>
          <p:nvPr/>
        </p:nvSpPr>
        <p:spPr>
          <a:xfrm>
            <a:off x="6048356" y="1192281"/>
            <a:ext cx="7144" cy="3451157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Shape 23"/>
          <p:cNvSpPr/>
          <p:nvPr/>
        </p:nvSpPr>
        <p:spPr>
          <a:xfrm>
            <a:off x="7065169" y="1363731"/>
            <a:ext cx="500063" cy="500063"/>
          </a:xfrm>
          <a:prstGeom prst="ellipse">
            <a:avLst/>
          </a:prstGeom>
          <a:solidFill>
            <a:srgbClr val="DC8060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0184" y="1513749"/>
            <a:ext cx="250031" cy="20002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57132" y="2006668"/>
            <a:ext cx="51613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3A3D"/>
                </a:solidFill>
              </a:rPr>
              <a:t>Fusión</a:t>
            </a:r>
            <a:endParaRPr lang="en-US" sz="1090" dirty="0"/>
          </a:p>
        </p:txBody>
      </p:sp>
      <p:sp>
        <p:nvSpPr>
          <p:cNvPr id="31" name="Text 25"/>
          <p:cNvSpPr/>
          <p:nvPr/>
        </p:nvSpPr>
        <p:spPr>
          <a:xfrm>
            <a:off x="6229350" y="2306706"/>
            <a:ext cx="21717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Pierdes la distinción entre tú y el otro. Te "contagias" de su estado emocional y pierdes la perspectiva necesaria para guiar.</a:t>
            </a:r>
            <a:endParaRPr lang="en-US" sz="780" dirty="0"/>
          </a:p>
        </p:txBody>
      </p:sp>
      <p:sp>
        <p:nvSpPr>
          <p:cNvPr id="32" name="Shape 26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27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Si saltas al pozo con quien se está ahogando, ahora hay </a:t>
            </a:r>
            <a:r>
              <a:rPr lang="en-US" sz="888" i="1" dirty="0">
                <a:solidFill>
                  <a:srgbClr val="DC8060"/>
                </a:solidFill>
              </a:rPr>
              <a:t>dos personas</a:t>
            </a:r>
            <a:r>
              <a:rPr lang="en-US" sz="888" dirty="0">
                <a:solidFill>
                  <a:srgbClr val="FFFFFF"/>
                </a:solidFill>
              </a:rPr>
              <a:t> que rescatar.</a:t>
            </a:r>
            <a:endParaRPr lang="en-US" sz="888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DISTINCIÓN CLAVE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Sentir CON vs. Actuar PARA</a:t>
            </a:r>
            <a:endParaRPr lang="en-US" sz="2226" dirty="0"/>
          </a:p>
        </p:txBody>
      </p:sp>
      <p:sp>
        <p:nvSpPr>
          <p:cNvPr id="5" name="Shape 2"/>
          <p:cNvSpPr/>
          <p:nvPr/>
        </p:nvSpPr>
        <p:spPr>
          <a:xfrm>
            <a:off x="0" y="1135131"/>
            <a:ext cx="4575572" cy="3651182"/>
          </a:xfrm>
          <a:prstGeom prst="rect">
            <a:avLst/>
          </a:prstGeom>
          <a:solidFill>
            <a:srgbClr val="F0F4F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4568428" y="1135131"/>
            <a:ext cx="7144" cy="3651182"/>
          </a:xfrm>
          <a:prstGeom prst="rect">
            <a:avLst/>
          </a:prstGeom>
          <a:solidFill>
            <a:srgbClr val="EAED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1392306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41205" y="1992381"/>
            <a:ext cx="1089561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kern="0" spc="-1" dirty="0">
                <a:solidFill>
                  <a:srgbClr val="2D4A4E"/>
                </a:solidFill>
              </a:rPr>
              <a:t>EMPATÍA</a:t>
            </a:r>
            <a:endParaRPr lang="en-US" sz="1808" dirty="0"/>
          </a:p>
        </p:txBody>
      </p:sp>
      <p:sp>
        <p:nvSpPr>
          <p:cNvPr id="9" name="Shape 5"/>
          <p:cNvSpPr/>
          <p:nvPr/>
        </p:nvSpPr>
        <p:spPr>
          <a:xfrm>
            <a:off x="1689832" y="2399574"/>
            <a:ext cx="1192309" cy="280392"/>
          </a:xfrm>
          <a:prstGeom prst="rect">
            <a:avLst/>
          </a:prstGeom>
          <a:solidFill>
            <a:srgbClr val="2D4A4E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6"/>
          <p:cNvSpPr/>
          <p:nvPr/>
        </p:nvSpPr>
        <p:spPr>
          <a:xfrm>
            <a:off x="1689832" y="2399574"/>
            <a:ext cx="1192309" cy="280392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kern="0" spc="2" dirty="0">
                <a:solidFill>
                  <a:srgbClr val="2D4A4E"/>
                </a:solidFill>
              </a:rPr>
              <a:t>SENTIR CON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1140154" y="2879992"/>
            <a:ext cx="229169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Resonancia emocional automática.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1140154" y="3144310"/>
            <a:ext cx="229169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Compartes el estado afectivo del otro.</a:t>
            </a:r>
            <a:endParaRPr lang="en-US" sz="942" dirty="0"/>
          </a:p>
        </p:txBody>
      </p:sp>
      <p:sp>
        <p:nvSpPr>
          <p:cNvPr id="13" name="Text 9"/>
          <p:cNvSpPr/>
          <p:nvPr/>
        </p:nvSpPr>
        <p:spPr>
          <a:xfrm>
            <a:off x="1547096" y="4314825"/>
            <a:ext cx="147780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i="1" dirty="0">
                <a:solidFill>
                  <a:srgbClr val="2D4A4E"/>
                </a:solidFill>
              </a:rPr>
              <a:t>"Me duele tu dolor."</a:t>
            </a:r>
            <a:endParaRPr lang="en-US" sz="1090" dirty="0"/>
          </a:p>
        </p:txBody>
      </p:sp>
      <p:sp>
        <p:nvSpPr>
          <p:cNvPr id="14" name="Shape 10"/>
          <p:cNvSpPr/>
          <p:nvPr/>
        </p:nvSpPr>
        <p:spPr>
          <a:xfrm>
            <a:off x="4572000" y="1135131"/>
            <a:ext cx="4572000" cy="3651182"/>
          </a:xfrm>
          <a:prstGeom prst="rect">
            <a:avLst/>
          </a:prstGeom>
          <a:solidFill>
            <a:srgbClr val="FFF5F2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1392306"/>
            <a:ext cx="51435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85805" y="1992381"/>
            <a:ext cx="1544362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kern="0" spc="-1" dirty="0">
                <a:solidFill>
                  <a:srgbClr val="DC8060"/>
                </a:solidFill>
              </a:rPr>
              <a:t>COMPASIÓN</a:t>
            </a:r>
            <a:endParaRPr lang="en-US" sz="1808" dirty="0"/>
          </a:p>
        </p:txBody>
      </p:sp>
      <p:sp>
        <p:nvSpPr>
          <p:cNvPr id="17" name="Shape 12"/>
          <p:cNvSpPr/>
          <p:nvPr/>
        </p:nvSpPr>
        <p:spPr>
          <a:xfrm>
            <a:off x="6198822" y="2399574"/>
            <a:ext cx="1318329" cy="280392"/>
          </a:xfrm>
          <a:prstGeom prst="rect">
            <a:avLst/>
          </a:prstGeom>
          <a:solidFill>
            <a:srgbClr val="DC8060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3"/>
          <p:cNvSpPr/>
          <p:nvPr/>
        </p:nvSpPr>
        <p:spPr>
          <a:xfrm>
            <a:off x="6198822" y="2399574"/>
            <a:ext cx="1318329" cy="280392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kern="0" spc="2" dirty="0">
                <a:solidFill>
                  <a:srgbClr val="DC8060"/>
                </a:solidFill>
              </a:rPr>
              <a:t>ACTUAR PARA</a:t>
            </a:r>
            <a:endParaRPr lang="en-US" sz="987" dirty="0"/>
          </a:p>
        </p:txBody>
      </p:sp>
      <p:sp>
        <p:nvSpPr>
          <p:cNvPr id="19" name="Text 14"/>
          <p:cNvSpPr/>
          <p:nvPr/>
        </p:nvSpPr>
        <p:spPr>
          <a:xfrm>
            <a:off x="5733613" y="2879992"/>
            <a:ext cx="224874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Respuesta intencional y cognitiva.</a:t>
            </a:r>
            <a:endParaRPr lang="en-US" sz="942" dirty="0"/>
          </a:p>
        </p:txBody>
      </p:sp>
      <p:sp>
        <p:nvSpPr>
          <p:cNvPr id="20" name="Text 15"/>
          <p:cNvSpPr/>
          <p:nvPr/>
        </p:nvSpPr>
        <p:spPr>
          <a:xfrm>
            <a:off x="5733613" y="3144310"/>
            <a:ext cx="224874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4A4A4A"/>
                </a:solidFill>
              </a:rPr>
              <a:t>Te mueves para aliviar el sufrimiento.</a:t>
            </a:r>
            <a:endParaRPr lang="en-US" sz="942" dirty="0"/>
          </a:p>
        </p:txBody>
      </p:sp>
      <p:sp>
        <p:nvSpPr>
          <p:cNvPr id="21" name="Text 16"/>
          <p:cNvSpPr/>
          <p:nvPr/>
        </p:nvSpPr>
        <p:spPr>
          <a:xfrm>
            <a:off x="5950911" y="4314825"/>
            <a:ext cx="18141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i="1" dirty="0">
                <a:solidFill>
                  <a:srgbClr val="DC8060"/>
                </a:solidFill>
              </a:rPr>
              <a:t>"Quiero aliviar tu dolor."</a:t>
            </a:r>
            <a:endParaRPr lang="en-US" sz="1090" dirty="0"/>
          </a:p>
        </p:txBody>
      </p:sp>
      <p:sp>
        <p:nvSpPr>
          <p:cNvPr id="22" name="Shape 17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18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Compasión = Empatía + </a:t>
            </a:r>
            <a:r>
              <a:rPr lang="en-US" sz="888" i="1" dirty="0">
                <a:solidFill>
                  <a:srgbClr val="DC8060"/>
                </a:solidFill>
              </a:rPr>
              <a:t>Intención de Ayuda</a:t>
            </a:r>
            <a:endParaRPr lang="en-US" sz="888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MATRIZ DE HOUGAARD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La Matriz del Liderazgo que Funciona</a:t>
            </a:r>
            <a:endParaRPr lang="en-US" sz="2226" dirty="0"/>
          </a:p>
        </p:txBody>
      </p:sp>
      <p:sp>
        <p:nvSpPr>
          <p:cNvPr id="5" name="Text 2"/>
          <p:cNvSpPr/>
          <p:nvPr/>
        </p:nvSpPr>
        <p:spPr>
          <a:xfrm rot="-5400000">
            <a:off x="-226228" y="2714262"/>
            <a:ext cx="19526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666666"/>
                </a:solidFill>
              </a:rPr>
              <a:t>SABIDURÍA / CORAJE (Gestión)</a:t>
            </a:r>
            <a:endParaRPr lang="en-US" sz="683" dirty="0"/>
          </a:p>
        </p:txBody>
      </p:sp>
      <p:sp>
        <p:nvSpPr>
          <p:cNvPr id="6" name="Shape 3"/>
          <p:cNvSpPr/>
          <p:nvPr/>
        </p:nvSpPr>
        <p:spPr>
          <a:xfrm>
            <a:off x="985838" y="1192281"/>
            <a:ext cx="3736181" cy="1532697"/>
          </a:xfrm>
          <a:prstGeom prst="rect">
            <a:avLst/>
          </a:prstGeom>
          <a:solidFill>
            <a:srgbClr val="FFF5F2"/>
          </a:solidFill>
          <a:ln w="9144">
            <a:solidFill>
              <a:srgbClr val="DC806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713" y="1583568"/>
            <a:ext cx="176808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6958" y="1576425"/>
            <a:ext cx="15576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C8060"/>
                </a:solidFill>
              </a:rPr>
              <a:t>Ejecución Descuidada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1128713" y="1819312"/>
            <a:ext cx="345043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1F3A3D"/>
                </a:solidFill>
              </a:rPr>
              <a:t>Alta exigencia, baja conexión. Resultados a corto plazo, burnout a largo plazo.</a:t>
            </a:r>
            <a:endParaRPr lang="en-US" sz="780" dirty="0"/>
          </a:p>
        </p:txBody>
      </p:sp>
      <p:sp>
        <p:nvSpPr>
          <p:cNvPr id="10" name="Shape 6"/>
          <p:cNvSpPr/>
          <p:nvPr/>
        </p:nvSpPr>
        <p:spPr>
          <a:xfrm>
            <a:off x="1128713" y="2190787"/>
            <a:ext cx="531735" cy="150019"/>
          </a:xfrm>
          <a:prstGeom prst="rect">
            <a:avLst/>
          </a:prstGeom>
          <a:solidFill>
            <a:srgbClr val="DC8060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7"/>
          <p:cNvSpPr/>
          <p:nvPr/>
        </p:nvSpPr>
        <p:spPr>
          <a:xfrm>
            <a:off x="1128713" y="2190787"/>
            <a:ext cx="531735" cy="150019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DC8060"/>
                </a:solidFill>
              </a:rPr>
              <a:t>El Tirano</a:t>
            </a:r>
            <a:endParaRPr lang="en-US" sz="534" dirty="0"/>
          </a:p>
        </p:txBody>
      </p:sp>
      <p:sp>
        <p:nvSpPr>
          <p:cNvPr id="12" name="Shape 8"/>
          <p:cNvSpPr/>
          <p:nvPr/>
        </p:nvSpPr>
        <p:spPr>
          <a:xfrm>
            <a:off x="4836319" y="1192281"/>
            <a:ext cx="3736181" cy="153269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9194" y="1583568"/>
            <a:ext cx="176808" cy="1571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27439" y="1576425"/>
            <a:ext cx="12318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Compasión Sabia</a:t>
            </a:r>
            <a:endParaRPr lang="en-US" sz="987" dirty="0"/>
          </a:p>
        </p:txBody>
      </p:sp>
      <p:sp>
        <p:nvSpPr>
          <p:cNvPr id="15" name="Text 10"/>
          <p:cNvSpPr/>
          <p:nvPr/>
        </p:nvSpPr>
        <p:spPr>
          <a:xfrm>
            <a:off x="4979194" y="1819312"/>
            <a:ext cx="345043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D0E8E5"/>
                </a:solidFill>
              </a:rPr>
              <a:t>Hacer lo difícil de forma humana. Feedback honesto, decisiones duras con cuidado.</a:t>
            </a:r>
            <a:endParaRPr lang="en-US" sz="780" dirty="0"/>
          </a:p>
        </p:txBody>
      </p:sp>
      <p:sp>
        <p:nvSpPr>
          <p:cNvPr id="16" name="Shape 11"/>
          <p:cNvSpPr/>
          <p:nvPr/>
        </p:nvSpPr>
        <p:spPr>
          <a:xfrm>
            <a:off x="4979194" y="2190787"/>
            <a:ext cx="968815" cy="150019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2"/>
          <p:cNvSpPr/>
          <p:nvPr/>
        </p:nvSpPr>
        <p:spPr>
          <a:xfrm>
            <a:off x="4979194" y="2190787"/>
            <a:ext cx="968815" cy="150019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El Líder Consciente</a:t>
            </a:r>
            <a:endParaRPr lang="en-US" sz="534" dirty="0"/>
          </a:p>
        </p:txBody>
      </p:sp>
      <p:sp>
        <p:nvSpPr>
          <p:cNvPr id="18" name="Shape 13"/>
          <p:cNvSpPr/>
          <p:nvPr/>
        </p:nvSpPr>
        <p:spPr>
          <a:xfrm>
            <a:off x="985838" y="2839278"/>
            <a:ext cx="3736181" cy="1532697"/>
          </a:xfrm>
          <a:prstGeom prst="rect">
            <a:avLst/>
          </a:prstGeom>
          <a:solidFill>
            <a:srgbClr val="F0F0F0"/>
          </a:solidFill>
          <a:ln w="9144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8713" y="3305575"/>
            <a:ext cx="117872" cy="15716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18022" y="3298431"/>
            <a:ext cx="14970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66666"/>
                </a:solidFill>
              </a:rPr>
              <a:t>Indiferencia Ineficaz</a:t>
            </a:r>
            <a:endParaRPr lang="en-US" sz="987" dirty="0"/>
          </a:p>
        </p:txBody>
      </p:sp>
      <p:sp>
        <p:nvSpPr>
          <p:cNvPr id="21" name="Text 15"/>
          <p:cNvSpPr/>
          <p:nvPr/>
        </p:nvSpPr>
        <p:spPr>
          <a:xfrm>
            <a:off x="1128713" y="3541319"/>
            <a:ext cx="34504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1F3A3D"/>
                </a:solidFill>
              </a:rPr>
              <a:t>Ni cuida ni exige. Ausencia de liderazgo y desconexión total.</a:t>
            </a:r>
            <a:endParaRPr lang="en-US" sz="780" dirty="0"/>
          </a:p>
        </p:txBody>
      </p:sp>
      <p:sp>
        <p:nvSpPr>
          <p:cNvPr id="22" name="Shape 16"/>
          <p:cNvSpPr/>
          <p:nvPr/>
        </p:nvSpPr>
        <p:spPr>
          <a:xfrm>
            <a:off x="1128713" y="3762775"/>
            <a:ext cx="577472" cy="150019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17"/>
          <p:cNvSpPr/>
          <p:nvPr/>
        </p:nvSpPr>
        <p:spPr>
          <a:xfrm>
            <a:off x="1128713" y="3762775"/>
            <a:ext cx="577472" cy="150019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66666"/>
                </a:solidFill>
              </a:rPr>
              <a:t>El Ausente</a:t>
            </a:r>
            <a:endParaRPr lang="en-US" sz="534" dirty="0"/>
          </a:p>
        </p:txBody>
      </p:sp>
      <p:sp>
        <p:nvSpPr>
          <p:cNvPr id="24" name="Shape 18"/>
          <p:cNvSpPr/>
          <p:nvPr/>
        </p:nvSpPr>
        <p:spPr>
          <a:xfrm>
            <a:off x="4836319" y="2839278"/>
            <a:ext cx="3736181" cy="1532697"/>
          </a:xfrm>
          <a:prstGeom prst="rect">
            <a:avLst/>
          </a:prstGeom>
          <a:solidFill>
            <a:srgbClr val="E8F0EF"/>
          </a:solidFill>
          <a:ln w="9144">
            <a:solidFill>
              <a:srgbClr val="4DB6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9194" y="3230566"/>
            <a:ext cx="137517" cy="15716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88148" y="3223422"/>
            <a:ext cx="133532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96B"/>
                </a:solidFill>
              </a:rPr>
              <a:t>Evitación Cariñosa</a:t>
            </a:r>
            <a:endParaRPr lang="en-US" sz="987" dirty="0"/>
          </a:p>
        </p:txBody>
      </p:sp>
      <p:sp>
        <p:nvSpPr>
          <p:cNvPr id="27" name="Text 20"/>
          <p:cNvSpPr/>
          <p:nvPr/>
        </p:nvSpPr>
        <p:spPr>
          <a:xfrm>
            <a:off x="4979194" y="3466309"/>
            <a:ext cx="345043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1F3A3D"/>
                </a:solidFill>
              </a:rPr>
              <a:t>Mucha empatía, poco coraje. Evita el conflicto para "no herir", frenando el crecimiento.</a:t>
            </a:r>
            <a:endParaRPr lang="en-US" sz="780" dirty="0"/>
          </a:p>
        </p:txBody>
      </p:sp>
      <p:sp>
        <p:nvSpPr>
          <p:cNvPr id="28" name="Shape 21"/>
          <p:cNvSpPr/>
          <p:nvPr/>
        </p:nvSpPr>
        <p:spPr>
          <a:xfrm>
            <a:off x="4979194" y="3837784"/>
            <a:ext cx="832693" cy="150019"/>
          </a:xfrm>
          <a:prstGeom prst="rect">
            <a:avLst/>
          </a:pr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2"/>
          <p:cNvSpPr/>
          <p:nvPr/>
        </p:nvSpPr>
        <p:spPr>
          <a:xfrm>
            <a:off x="4979194" y="3837784"/>
            <a:ext cx="832693" cy="150019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796B"/>
                </a:solidFill>
              </a:rPr>
              <a:t>El Complaciente</a:t>
            </a:r>
            <a:endParaRPr lang="en-US" sz="534" dirty="0"/>
          </a:p>
        </p:txBody>
      </p:sp>
      <p:sp>
        <p:nvSpPr>
          <p:cNvPr id="30" name="Text 23"/>
          <p:cNvSpPr/>
          <p:nvPr/>
        </p:nvSpPr>
        <p:spPr>
          <a:xfrm>
            <a:off x="3653582" y="4539853"/>
            <a:ext cx="2251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666666"/>
                </a:solidFill>
              </a:rPr>
              <a:t>COMPASIÓN / CUIDADO (Conexión)</a:t>
            </a:r>
            <a:endParaRPr lang="en-US" sz="683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EL MOTOR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El Motor de la Acción Compasiva</a:t>
            </a:r>
            <a:endParaRPr lang="en-US" sz="2226" dirty="0"/>
          </a:p>
        </p:txBody>
      </p:sp>
      <p:sp>
        <p:nvSpPr>
          <p:cNvPr id="5" name="Shape 2"/>
          <p:cNvSpPr/>
          <p:nvPr/>
        </p:nvSpPr>
        <p:spPr>
          <a:xfrm>
            <a:off x="1500188" y="2460659"/>
            <a:ext cx="857250" cy="857250"/>
          </a:xfrm>
          <a:prstGeom prst="ellipse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707118"/>
            <a:ext cx="20002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08082" y="2935718"/>
            <a:ext cx="4414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FFFF"/>
                </a:solidFill>
              </a:rPr>
              <a:t>ACCIÓN</a:t>
            </a:r>
            <a:endParaRPr lang="en-US" sz="683" dirty="0"/>
          </a:p>
        </p:txBody>
      </p:sp>
      <p:sp>
        <p:nvSpPr>
          <p:cNvPr id="8" name="Shape 4"/>
          <p:cNvSpPr/>
          <p:nvPr/>
        </p:nvSpPr>
        <p:spPr>
          <a:xfrm>
            <a:off x="1607344" y="1603409"/>
            <a:ext cx="642938" cy="642938"/>
          </a:xfrm>
          <a:prstGeom prst="ellipse">
            <a:avLst/>
          </a:prstGeom>
          <a:solidFill>
            <a:srgbClr val="FFFFFF"/>
          </a:solidFill>
          <a:ln w="18288">
            <a:solidFill>
              <a:srgbClr val="DC8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0409" y="1778431"/>
            <a:ext cx="176808" cy="1571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13161" y="1964168"/>
            <a:ext cx="43127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DC8060"/>
                </a:solidFill>
              </a:rPr>
              <a:t>Presencia</a:t>
            </a:r>
            <a:endParaRPr lang="en-US" sz="534" dirty="0"/>
          </a:p>
        </p:txBody>
      </p:sp>
      <p:sp>
        <p:nvSpPr>
          <p:cNvPr id="11" name="Shape 6"/>
          <p:cNvSpPr/>
          <p:nvPr/>
        </p:nvSpPr>
        <p:spPr>
          <a:xfrm>
            <a:off x="2571750" y="2567815"/>
            <a:ext cx="642938" cy="642938"/>
          </a:xfrm>
          <a:prstGeom prst="ellipse">
            <a:avLst/>
          </a:prstGeom>
          <a:solidFill>
            <a:srgbClr val="FFFFFF"/>
          </a:solidFill>
          <a:ln w="18288">
            <a:solidFill>
              <a:srgbClr val="DC8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4460" y="2742837"/>
            <a:ext cx="137517" cy="1571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747665" y="2928575"/>
            <a:ext cx="29108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DC8060"/>
                </a:solidFill>
              </a:rPr>
              <a:t>Coraje</a:t>
            </a:r>
            <a:endParaRPr lang="en-US" sz="534" dirty="0"/>
          </a:p>
        </p:txBody>
      </p:sp>
      <p:sp>
        <p:nvSpPr>
          <p:cNvPr id="14" name="Shape 8"/>
          <p:cNvSpPr/>
          <p:nvPr/>
        </p:nvSpPr>
        <p:spPr>
          <a:xfrm>
            <a:off x="1607344" y="3532222"/>
            <a:ext cx="642938" cy="642938"/>
          </a:xfrm>
          <a:prstGeom prst="ellipse">
            <a:avLst/>
          </a:prstGeom>
          <a:solidFill>
            <a:srgbClr val="FFFFFF"/>
          </a:solidFill>
          <a:ln w="18288">
            <a:solidFill>
              <a:srgbClr val="DC8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0231" y="3707243"/>
            <a:ext cx="157163" cy="15716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89413" y="3892981"/>
            <a:ext cx="47879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DC8060"/>
                </a:solidFill>
              </a:rPr>
              <a:t>Franqueza</a:t>
            </a:r>
            <a:endParaRPr lang="en-US" sz="534" dirty="0"/>
          </a:p>
        </p:txBody>
      </p:sp>
      <p:sp>
        <p:nvSpPr>
          <p:cNvPr id="17" name="Shape 10"/>
          <p:cNvSpPr/>
          <p:nvPr/>
        </p:nvSpPr>
        <p:spPr>
          <a:xfrm>
            <a:off x="642938" y="2567815"/>
            <a:ext cx="642938" cy="642938"/>
          </a:xfrm>
          <a:prstGeom prst="ellipse">
            <a:avLst/>
          </a:prstGeom>
          <a:solidFill>
            <a:srgbClr val="FFFFFF"/>
          </a:solidFill>
          <a:ln w="18288">
            <a:solidFill>
              <a:srgbClr val="DC8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25" y="2742837"/>
            <a:ext cx="157163" cy="15716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37915" y="2928575"/>
            <a:ext cx="65301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DC8060"/>
                </a:solidFill>
              </a:rPr>
              <a:t>Transparencia</a:t>
            </a:r>
            <a:endParaRPr lang="en-US" sz="534" dirty="0"/>
          </a:p>
        </p:txBody>
      </p:sp>
      <p:sp>
        <p:nvSpPr>
          <p:cNvPr id="20" name="Shape 12"/>
          <p:cNvSpPr/>
          <p:nvPr/>
        </p:nvSpPr>
        <p:spPr>
          <a:xfrm>
            <a:off x="3643313" y="1662736"/>
            <a:ext cx="4929188" cy="527549"/>
          </a:xfrm>
          <a:prstGeom prst="rect">
            <a:avLst/>
          </a:prstGeom>
          <a:solidFill>
            <a:srgbClr val="E8F0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3"/>
          <p:cNvSpPr/>
          <p:nvPr/>
        </p:nvSpPr>
        <p:spPr>
          <a:xfrm>
            <a:off x="3643313" y="1662736"/>
            <a:ext cx="28575" cy="527549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4"/>
          <p:cNvSpPr/>
          <p:nvPr/>
        </p:nvSpPr>
        <p:spPr>
          <a:xfrm>
            <a:off x="3786188" y="1819340"/>
            <a:ext cx="1816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4A4E">
                    <a:alpha val="20000"/>
                  </a:srgbClr>
                </a:solidFill>
              </a:rPr>
              <a:t>01</a:t>
            </a:r>
            <a:endParaRPr lang="en-US" sz="1090" dirty="0"/>
          </a:p>
        </p:txBody>
      </p:sp>
      <p:sp>
        <p:nvSpPr>
          <p:cNvPr id="23" name="Text 15"/>
          <p:cNvSpPr/>
          <p:nvPr/>
        </p:nvSpPr>
        <p:spPr>
          <a:xfrm>
            <a:off x="4082179" y="1762748"/>
            <a:ext cx="434744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1F3A3D"/>
                </a:solidFill>
              </a:rPr>
              <a:t>Presencia</a:t>
            </a:r>
            <a:endParaRPr lang="en-US" sz="834" dirty="0"/>
          </a:p>
        </p:txBody>
      </p:sp>
      <p:sp>
        <p:nvSpPr>
          <p:cNvPr id="24" name="Text 16"/>
          <p:cNvSpPr/>
          <p:nvPr/>
        </p:nvSpPr>
        <p:spPr>
          <a:xfrm>
            <a:off x="4082179" y="1950272"/>
            <a:ext cx="434744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Estar aquí y ahora. Conectar con la persona antes de intentar corregir el problema.</a:t>
            </a:r>
            <a:endParaRPr lang="en-US" sz="727" dirty="0"/>
          </a:p>
        </p:txBody>
      </p:sp>
      <p:sp>
        <p:nvSpPr>
          <p:cNvPr id="25" name="Shape 17"/>
          <p:cNvSpPr/>
          <p:nvPr/>
        </p:nvSpPr>
        <p:spPr>
          <a:xfrm>
            <a:off x="3643313" y="2304585"/>
            <a:ext cx="4929188" cy="527549"/>
          </a:xfrm>
          <a:prstGeom prst="rect">
            <a:avLst/>
          </a:prstGeom>
          <a:solidFill>
            <a:srgbClr val="E8F0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18"/>
          <p:cNvSpPr/>
          <p:nvPr/>
        </p:nvSpPr>
        <p:spPr>
          <a:xfrm>
            <a:off x="3643313" y="2304585"/>
            <a:ext cx="28575" cy="527549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19"/>
          <p:cNvSpPr/>
          <p:nvPr/>
        </p:nvSpPr>
        <p:spPr>
          <a:xfrm>
            <a:off x="3786188" y="2461189"/>
            <a:ext cx="1816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4A4E">
                    <a:alpha val="20000"/>
                  </a:srgbClr>
                </a:solidFill>
              </a:rPr>
              <a:t>02</a:t>
            </a:r>
            <a:endParaRPr lang="en-US" sz="1090" dirty="0"/>
          </a:p>
        </p:txBody>
      </p:sp>
      <p:sp>
        <p:nvSpPr>
          <p:cNvPr id="28" name="Text 20"/>
          <p:cNvSpPr/>
          <p:nvPr/>
        </p:nvSpPr>
        <p:spPr>
          <a:xfrm>
            <a:off x="4082179" y="2404597"/>
            <a:ext cx="434744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1F3A3D"/>
                </a:solidFill>
              </a:rPr>
              <a:t>Coraje</a:t>
            </a:r>
            <a:endParaRPr lang="en-US" sz="834" dirty="0"/>
          </a:p>
        </p:txBody>
      </p:sp>
      <p:sp>
        <p:nvSpPr>
          <p:cNvPr id="29" name="Text 21"/>
          <p:cNvSpPr/>
          <p:nvPr/>
        </p:nvSpPr>
        <p:spPr>
          <a:xfrm>
            <a:off x="4082179" y="2592121"/>
            <a:ext cx="434744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La valentía de romper la armonía artificial para abordar lo que realmente importa.</a:t>
            </a:r>
            <a:endParaRPr lang="en-US" sz="727" dirty="0"/>
          </a:p>
        </p:txBody>
      </p:sp>
      <p:sp>
        <p:nvSpPr>
          <p:cNvPr id="30" name="Shape 22"/>
          <p:cNvSpPr/>
          <p:nvPr/>
        </p:nvSpPr>
        <p:spPr>
          <a:xfrm>
            <a:off x="3643313" y="2946434"/>
            <a:ext cx="4929188" cy="527549"/>
          </a:xfrm>
          <a:prstGeom prst="rect">
            <a:avLst/>
          </a:prstGeom>
          <a:solidFill>
            <a:srgbClr val="E8F0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Shape 23"/>
          <p:cNvSpPr/>
          <p:nvPr/>
        </p:nvSpPr>
        <p:spPr>
          <a:xfrm>
            <a:off x="3643313" y="2946434"/>
            <a:ext cx="28575" cy="527549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24"/>
          <p:cNvSpPr/>
          <p:nvPr/>
        </p:nvSpPr>
        <p:spPr>
          <a:xfrm>
            <a:off x="3786188" y="3103039"/>
            <a:ext cx="1816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4A4E">
                    <a:alpha val="20000"/>
                  </a:srgbClr>
                </a:solidFill>
              </a:rPr>
              <a:t>03</a:t>
            </a:r>
            <a:endParaRPr lang="en-US" sz="1090" dirty="0"/>
          </a:p>
        </p:txBody>
      </p:sp>
      <p:sp>
        <p:nvSpPr>
          <p:cNvPr id="33" name="Text 25"/>
          <p:cNvSpPr/>
          <p:nvPr/>
        </p:nvSpPr>
        <p:spPr>
          <a:xfrm>
            <a:off x="4082179" y="3046447"/>
            <a:ext cx="434744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1F3A3D"/>
                </a:solidFill>
              </a:rPr>
              <a:t>Franqueza</a:t>
            </a:r>
            <a:endParaRPr lang="en-US" sz="834" dirty="0"/>
          </a:p>
        </p:txBody>
      </p:sp>
      <p:sp>
        <p:nvSpPr>
          <p:cNvPr id="34" name="Text 26"/>
          <p:cNvSpPr/>
          <p:nvPr/>
        </p:nvSpPr>
        <p:spPr>
          <a:xfrm>
            <a:off x="4082179" y="3233970"/>
            <a:ext cx="434744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Decir la verdad directamente, sin rodeos manipuladores, pero con cuidado.</a:t>
            </a:r>
            <a:endParaRPr lang="en-US" sz="727" dirty="0"/>
          </a:p>
        </p:txBody>
      </p:sp>
      <p:sp>
        <p:nvSpPr>
          <p:cNvPr id="35" name="Shape 27"/>
          <p:cNvSpPr/>
          <p:nvPr/>
        </p:nvSpPr>
        <p:spPr>
          <a:xfrm>
            <a:off x="3643313" y="3588283"/>
            <a:ext cx="4929188" cy="527549"/>
          </a:xfrm>
          <a:prstGeom prst="rect">
            <a:avLst/>
          </a:prstGeom>
          <a:solidFill>
            <a:srgbClr val="E8F0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Shape 28"/>
          <p:cNvSpPr/>
          <p:nvPr/>
        </p:nvSpPr>
        <p:spPr>
          <a:xfrm>
            <a:off x="3643313" y="3588283"/>
            <a:ext cx="28575" cy="527549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29"/>
          <p:cNvSpPr/>
          <p:nvPr/>
        </p:nvSpPr>
        <p:spPr>
          <a:xfrm>
            <a:off x="3786188" y="3744888"/>
            <a:ext cx="1816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4A4E">
                    <a:alpha val="20000"/>
                  </a:srgbClr>
                </a:solidFill>
              </a:rPr>
              <a:t>04</a:t>
            </a:r>
            <a:endParaRPr lang="en-US" sz="1090" dirty="0"/>
          </a:p>
        </p:txBody>
      </p:sp>
      <p:sp>
        <p:nvSpPr>
          <p:cNvPr id="38" name="Text 30"/>
          <p:cNvSpPr/>
          <p:nvPr/>
        </p:nvSpPr>
        <p:spPr>
          <a:xfrm>
            <a:off x="4082179" y="3688296"/>
            <a:ext cx="434744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1F3A3D"/>
                </a:solidFill>
              </a:rPr>
              <a:t>Transparencia</a:t>
            </a:r>
            <a:endParaRPr lang="en-US" sz="834" dirty="0"/>
          </a:p>
        </p:txBody>
      </p:sp>
      <p:sp>
        <p:nvSpPr>
          <p:cNvPr id="39" name="Text 31"/>
          <p:cNvSpPr/>
          <p:nvPr/>
        </p:nvSpPr>
        <p:spPr>
          <a:xfrm>
            <a:off x="4082179" y="3875819"/>
            <a:ext cx="434744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No ocultar agendas. Compartir tu intención y tu "por qué" abiertamente.</a:t>
            </a:r>
            <a:endParaRPr lang="en-US" sz="727" dirty="0"/>
          </a:p>
        </p:txBody>
      </p:sp>
      <p:sp>
        <p:nvSpPr>
          <p:cNvPr id="40" name="Shape 32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Text 33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Compasión sabia = </a:t>
            </a:r>
            <a:r>
              <a:rPr lang="en-US" sz="888" i="1" dirty="0">
                <a:solidFill>
                  <a:srgbClr val="DC8060"/>
                </a:solidFill>
              </a:rPr>
              <a:t>sentir con el otro</a:t>
            </a:r>
            <a:r>
              <a:rPr lang="en-US" sz="888" dirty="0">
                <a:solidFill>
                  <a:srgbClr val="FFFFFF"/>
                </a:solidFill>
              </a:rPr>
              <a:t> + actuar por él con coraje.</a:t>
            </a:r>
            <a:endParaRPr lang="en-US" sz="888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1617166"/>
            <a:ext cx="1471054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27" b="1">
                <a:solidFill>
                  <a:srgbClr val="DC8060"/>
                </a:solidFill>
                <a:latin typeface="Montserrat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2679" y="1688604"/>
            <a:ext cx="4920816" cy="194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7" b="1">
                <a:solidFill>
                  <a:srgbClr val="E0EBEB"/>
                </a:solidFill>
                <a:latin typeface="Montserrat"/>
              </a:rPr>
              <a:t>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2679" y="2026146"/>
            <a:ext cx="4920816" cy="1005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94" b="1">
                <a:solidFill>
                  <a:srgbClr val="FFFFFF"/>
                </a:solidFill>
                <a:latin typeface="Montserrat"/>
              </a:rPr>
              <a:t>Comunicar</a:t>
            </a:r>
          </a:p>
          <a:p>
            <a:pPr algn="l"/>
            <a:r>
              <a:rPr sz="3294" b="1">
                <a:solidFill>
                  <a:srgbClr val="FFFFFF"/>
                </a:solidFill>
                <a:latin typeface="Montserrat"/>
              </a:rPr>
              <a:t>para Conectar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2679" y="3246276"/>
            <a:ext cx="4920816" cy="28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86" b="0">
                <a:solidFill>
                  <a:srgbClr val="E0EBEB"/>
                </a:solidFill>
                <a:latin typeface="Montserrat"/>
              </a:rPr>
              <a:t>Escucha profunda, semáforo conversacional y protocolo consciente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CO-ACTIVE COACHING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Los 3 Niveles de la Escucha</a:t>
            </a:r>
            <a:endParaRPr lang="en-US" sz="2226" dirty="0"/>
          </a:p>
        </p:txBody>
      </p:sp>
      <p:sp>
        <p:nvSpPr>
          <p:cNvPr id="5" name="Shape 2"/>
          <p:cNvSpPr/>
          <p:nvPr/>
        </p:nvSpPr>
        <p:spPr>
          <a:xfrm>
            <a:off x="1371600" y="1556975"/>
            <a:ext cx="6400800" cy="8429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371600" y="1556975"/>
            <a:ext cx="640080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7765256" y="1556975"/>
            <a:ext cx="7144" cy="84296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371600" y="2392793"/>
            <a:ext cx="640080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1371600" y="1556975"/>
            <a:ext cx="42863" cy="842963"/>
          </a:xfrm>
          <a:prstGeom prst="rect">
            <a:avLst/>
          </a:prstGeom>
          <a:solidFill>
            <a:srgbClr val="90A4A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1600200" y="1835581"/>
            <a:ext cx="33034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90A4AE">
                    <a:alpha val="30000"/>
                  </a:srgbClr>
                </a:solidFill>
              </a:rPr>
              <a:t>01</a:t>
            </a:r>
            <a:endParaRPr lang="en-US" sz="2016" dirty="0"/>
          </a:p>
        </p:txBody>
      </p:sp>
      <p:sp>
        <p:nvSpPr>
          <p:cNvPr id="11" name="Shape 8"/>
          <p:cNvSpPr/>
          <p:nvPr/>
        </p:nvSpPr>
        <p:spPr>
          <a:xfrm>
            <a:off x="2101993" y="1792718"/>
            <a:ext cx="371475" cy="371475"/>
          </a:xfrm>
          <a:prstGeom prst="ellipse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8972" y="1899875"/>
            <a:ext cx="137517" cy="15716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44918" y="1706993"/>
            <a:ext cx="40134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3A3D"/>
                </a:solidFill>
              </a:rPr>
              <a:t>Escucha Interna</a:t>
            </a:r>
            <a:endParaRPr lang="en-US" sz="1090" dirty="0"/>
          </a:p>
        </p:txBody>
      </p:sp>
      <p:sp>
        <p:nvSpPr>
          <p:cNvPr id="14" name="Text 10"/>
          <p:cNvSpPr/>
          <p:nvPr/>
        </p:nvSpPr>
        <p:spPr>
          <a:xfrm>
            <a:off x="2644918" y="1949881"/>
            <a:ext cx="401342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Escucho tus palabras, pero mi atención está en </a:t>
            </a:r>
            <a:r>
              <a:rPr lang="en-US" sz="734" b="1" dirty="0">
                <a:solidFill>
                  <a:srgbClr val="4A4A4A"/>
                </a:solidFill>
              </a:rPr>
              <a:t>lo que significan para mí</a:t>
            </a:r>
            <a:r>
              <a:rPr lang="en-US" sz="780" dirty="0">
                <a:solidFill>
                  <a:srgbClr val="4A4A4A"/>
                </a:solidFill>
              </a:rPr>
              <a:t>. Mis juicios, mis respuestas, mi historia.</a:t>
            </a:r>
            <a:endParaRPr lang="en-US" sz="780" dirty="0"/>
          </a:p>
        </p:txBody>
      </p:sp>
      <p:sp>
        <p:nvSpPr>
          <p:cNvPr id="15" name="Shape 11"/>
          <p:cNvSpPr/>
          <p:nvPr/>
        </p:nvSpPr>
        <p:spPr>
          <a:xfrm>
            <a:off x="6829788" y="1889159"/>
            <a:ext cx="714012" cy="178594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/>
          <p:nvPr/>
        </p:nvSpPr>
        <p:spPr>
          <a:xfrm>
            <a:off x="6829788" y="1889159"/>
            <a:ext cx="714012" cy="17859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kern="0" spc="1" dirty="0">
                <a:solidFill>
                  <a:srgbClr val="78909C"/>
                </a:solidFill>
              </a:rPr>
              <a:t>FOCO: EN MÍ</a:t>
            </a:r>
            <a:endParaRPr lang="en-US" sz="534" dirty="0"/>
          </a:p>
        </p:txBody>
      </p:sp>
      <p:sp>
        <p:nvSpPr>
          <p:cNvPr id="17" name="Shape 13"/>
          <p:cNvSpPr/>
          <p:nvPr/>
        </p:nvSpPr>
        <p:spPr>
          <a:xfrm>
            <a:off x="971550" y="2535668"/>
            <a:ext cx="7200900" cy="8429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971550" y="2535668"/>
            <a:ext cx="720090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5"/>
          <p:cNvSpPr/>
          <p:nvPr/>
        </p:nvSpPr>
        <p:spPr>
          <a:xfrm>
            <a:off x="8165306" y="2535668"/>
            <a:ext cx="7144" cy="84296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6"/>
          <p:cNvSpPr/>
          <p:nvPr/>
        </p:nvSpPr>
        <p:spPr>
          <a:xfrm>
            <a:off x="971550" y="3371487"/>
            <a:ext cx="720090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7"/>
          <p:cNvSpPr/>
          <p:nvPr/>
        </p:nvSpPr>
        <p:spPr>
          <a:xfrm>
            <a:off x="971550" y="2535668"/>
            <a:ext cx="42863" cy="842963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8"/>
          <p:cNvSpPr/>
          <p:nvPr/>
        </p:nvSpPr>
        <p:spPr>
          <a:xfrm>
            <a:off x="1200150" y="2814275"/>
            <a:ext cx="33034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2D4A4E">
                    <a:alpha val="30000"/>
                  </a:srgbClr>
                </a:solidFill>
              </a:rPr>
              <a:t>02</a:t>
            </a:r>
            <a:endParaRPr lang="en-US" sz="2016" dirty="0"/>
          </a:p>
        </p:txBody>
      </p:sp>
      <p:sp>
        <p:nvSpPr>
          <p:cNvPr id="23" name="Shape 19"/>
          <p:cNvSpPr/>
          <p:nvPr/>
        </p:nvSpPr>
        <p:spPr>
          <a:xfrm>
            <a:off x="1701943" y="2771412"/>
            <a:ext cx="371475" cy="371475"/>
          </a:xfrm>
          <a:prstGeom prst="ellipse">
            <a:avLst/>
          </a:prstGeom>
          <a:solidFill>
            <a:srgbClr val="E8F0E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9099" y="2878568"/>
            <a:ext cx="157163" cy="15716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244868" y="2685687"/>
            <a:ext cx="484212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3A3D"/>
                </a:solidFill>
              </a:rPr>
              <a:t>Escucha Enfocada</a:t>
            </a:r>
            <a:endParaRPr lang="en-US" sz="1090" dirty="0"/>
          </a:p>
        </p:txBody>
      </p:sp>
      <p:sp>
        <p:nvSpPr>
          <p:cNvPr id="26" name="Text 21"/>
          <p:cNvSpPr/>
          <p:nvPr/>
        </p:nvSpPr>
        <p:spPr>
          <a:xfrm>
            <a:off x="2244868" y="2928575"/>
            <a:ext cx="484212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Foco láser en ti. Escucho tus palabras, tu tono, tu expresión. </a:t>
            </a:r>
            <a:r>
              <a:rPr lang="en-US" sz="734" b="1" dirty="0">
                <a:solidFill>
                  <a:srgbClr val="4A4A4A"/>
                </a:solidFill>
              </a:rPr>
              <a:t>Yo desaparezco</a:t>
            </a:r>
            <a:r>
              <a:rPr lang="en-US" sz="780" dirty="0">
                <a:solidFill>
                  <a:srgbClr val="4A4A4A"/>
                </a:solidFill>
              </a:rPr>
              <a:t> de la ecuación momentáneamente.</a:t>
            </a:r>
            <a:endParaRPr lang="en-US" sz="780" dirty="0"/>
          </a:p>
        </p:txBody>
      </p:sp>
      <p:sp>
        <p:nvSpPr>
          <p:cNvPr id="27" name="Shape 22"/>
          <p:cNvSpPr/>
          <p:nvPr/>
        </p:nvSpPr>
        <p:spPr>
          <a:xfrm>
            <a:off x="7258441" y="2867853"/>
            <a:ext cx="685409" cy="178594"/>
          </a:xfrm>
          <a:prstGeom prst="rect">
            <a:avLst/>
          </a:prstGeom>
          <a:solidFill>
            <a:srgbClr val="E8F0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3"/>
          <p:cNvSpPr/>
          <p:nvPr/>
        </p:nvSpPr>
        <p:spPr>
          <a:xfrm>
            <a:off x="7258441" y="2867853"/>
            <a:ext cx="685409" cy="17859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kern="0" spc="1" dirty="0">
                <a:solidFill>
                  <a:srgbClr val="00695C"/>
                </a:solidFill>
              </a:rPr>
              <a:t>FOCO: EN TI</a:t>
            </a:r>
            <a:endParaRPr lang="en-US" sz="534" dirty="0"/>
          </a:p>
        </p:txBody>
      </p:sp>
      <p:sp>
        <p:nvSpPr>
          <p:cNvPr id="29" name="Shape 24"/>
          <p:cNvSpPr/>
          <p:nvPr/>
        </p:nvSpPr>
        <p:spPr>
          <a:xfrm>
            <a:off x="571500" y="3514362"/>
            <a:ext cx="8001000" cy="6929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Shape 25"/>
          <p:cNvSpPr/>
          <p:nvPr/>
        </p:nvSpPr>
        <p:spPr>
          <a:xfrm>
            <a:off x="571500" y="3514362"/>
            <a:ext cx="800100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Shape 26"/>
          <p:cNvSpPr/>
          <p:nvPr/>
        </p:nvSpPr>
        <p:spPr>
          <a:xfrm>
            <a:off x="8565356" y="3514362"/>
            <a:ext cx="7144" cy="6929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Shape 27"/>
          <p:cNvSpPr/>
          <p:nvPr/>
        </p:nvSpPr>
        <p:spPr>
          <a:xfrm>
            <a:off x="571500" y="4200162"/>
            <a:ext cx="800100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Shape 28"/>
          <p:cNvSpPr/>
          <p:nvPr/>
        </p:nvSpPr>
        <p:spPr>
          <a:xfrm>
            <a:off x="571500" y="3514362"/>
            <a:ext cx="42863" cy="692944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29"/>
          <p:cNvSpPr/>
          <p:nvPr/>
        </p:nvSpPr>
        <p:spPr>
          <a:xfrm>
            <a:off x="800100" y="3717959"/>
            <a:ext cx="33034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DC8060">
                    <a:alpha val="30000"/>
                  </a:srgbClr>
                </a:solidFill>
              </a:rPr>
              <a:t>03</a:t>
            </a:r>
            <a:endParaRPr lang="en-US" sz="2016" dirty="0"/>
          </a:p>
        </p:txBody>
      </p:sp>
      <p:sp>
        <p:nvSpPr>
          <p:cNvPr id="35" name="Shape 30"/>
          <p:cNvSpPr/>
          <p:nvPr/>
        </p:nvSpPr>
        <p:spPr>
          <a:xfrm>
            <a:off x="1301893" y="3675097"/>
            <a:ext cx="371475" cy="371475"/>
          </a:xfrm>
          <a:prstGeom prst="ellipse">
            <a:avLst/>
          </a:prstGeom>
          <a:solidFill>
            <a:srgbClr val="FFF5F2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9049" y="3782253"/>
            <a:ext cx="157163" cy="157163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844818" y="3664381"/>
            <a:ext cx="527630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3A3D"/>
                </a:solidFill>
              </a:rPr>
              <a:t>Escucha Global</a:t>
            </a:r>
            <a:endParaRPr lang="en-US" sz="1090" dirty="0"/>
          </a:p>
        </p:txBody>
      </p:sp>
      <p:sp>
        <p:nvSpPr>
          <p:cNvPr id="38" name="Text 32"/>
          <p:cNvSpPr/>
          <p:nvPr/>
        </p:nvSpPr>
        <p:spPr>
          <a:xfrm>
            <a:off x="1844818" y="3907268"/>
            <a:ext cx="527630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Escucho "suave". Percibo la energía, el ambiente, la emoción subyacente y </a:t>
            </a:r>
            <a:r>
              <a:rPr lang="en-US" sz="734" b="1" dirty="0">
                <a:solidFill>
                  <a:srgbClr val="4A4A4A"/>
                </a:solidFill>
              </a:rPr>
              <a:t>lo que no se está diciendo</a:t>
            </a:r>
            <a:r>
              <a:rPr lang="en-US" sz="780" dirty="0">
                <a:solidFill>
                  <a:srgbClr val="4A4A4A"/>
                </a:solidFill>
              </a:rPr>
              <a:t>.</a:t>
            </a:r>
            <a:endParaRPr lang="en-US" sz="780" dirty="0"/>
          </a:p>
        </p:txBody>
      </p:sp>
      <p:sp>
        <p:nvSpPr>
          <p:cNvPr id="39" name="Shape 33"/>
          <p:cNvSpPr/>
          <p:nvPr/>
        </p:nvSpPr>
        <p:spPr>
          <a:xfrm>
            <a:off x="7292569" y="3771537"/>
            <a:ext cx="1051331" cy="178594"/>
          </a:xfrm>
          <a:prstGeom prst="rect">
            <a:avLst/>
          </a:prstGeom>
          <a:solidFill>
            <a:srgbClr val="FFF5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4"/>
          <p:cNvSpPr/>
          <p:nvPr/>
        </p:nvSpPr>
        <p:spPr>
          <a:xfrm>
            <a:off x="7292569" y="3771537"/>
            <a:ext cx="1051331" cy="17859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kern="0" spc="1" dirty="0">
                <a:solidFill>
                  <a:srgbClr val="D84315"/>
                </a:solidFill>
              </a:rPr>
              <a:t>FOCO: EN EL CAMPO</a:t>
            </a:r>
            <a:endParaRPr lang="en-US" sz="534" dirty="0"/>
          </a:p>
        </p:txBody>
      </p:sp>
      <p:sp>
        <p:nvSpPr>
          <p:cNvPr id="41" name="Shape 35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36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Liderar es, ante todo, </a:t>
            </a:r>
            <a:r>
              <a:rPr lang="en-US" sz="888" i="1" dirty="0">
                <a:solidFill>
                  <a:srgbClr val="DC8060"/>
                </a:solidFill>
              </a:rPr>
              <a:t>escuchar</a:t>
            </a:r>
            <a:r>
              <a:rPr lang="en-US" sz="888" dirty="0">
                <a:solidFill>
                  <a:srgbClr val="FFFFFF"/>
                </a:solidFill>
              </a:rPr>
              <a:t> de verdad.</a:t>
            </a:r>
            <a:endParaRPr lang="en-US" sz="888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EL MODELO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El Semáforo de la Conversación</a:t>
            </a:r>
            <a:endParaRPr lang="en-US" sz="2226" dirty="0"/>
          </a:p>
        </p:txBody>
      </p:sp>
      <p:sp>
        <p:nvSpPr>
          <p:cNvPr id="5" name="Shape 2"/>
          <p:cNvSpPr/>
          <p:nvPr/>
        </p:nvSpPr>
        <p:spPr>
          <a:xfrm>
            <a:off x="678656" y="1603409"/>
            <a:ext cx="785813" cy="2571750"/>
          </a:xfrm>
          <a:prstGeom prst="round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928813" y="1603409"/>
            <a:ext cx="6643688" cy="78045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1928813" y="1603409"/>
            <a:ext cx="42863" cy="766167"/>
          </a:xfrm>
          <a:prstGeom prst="rect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2100263" y="1822186"/>
            <a:ext cx="328613" cy="328613"/>
          </a:xfrm>
          <a:prstGeom prst="ellipse">
            <a:avLst/>
          </a:prstGeom>
          <a:solidFill>
            <a:srgbClr val="FF5252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275" y="1922199"/>
            <a:ext cx="128588" cy="128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71750" y="1731997"/>
            <a:ext cx="58293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32F2F"/>
                </a:solidFill>
              </a:rPr>
              <a:t>Zona Roja: Reactividad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2571750" y="1935593"/>
            <a:ext cx="58293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Secuestro amigdalar. No hay escucha real, solo defensa o ataque.</a:t>
            </a:r>
            <a:endParaRPr lang="en-US" sz="780" dirty="0"/>
          </a:p>
        </p:txBody>
      </p:sp>
      <p:sp>
        <p:nvSpPr>
          <p:cNvPr id="12" name="Text 8"/>
          <p:cNvSpPr/>
          <p:nvPr/>
        </p:nvSpPr>
        <p:spPr>
          <a:xfrm>
            <a:off x="2571750" y="2114187"/>
            <a:ext cx="58293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i="1" dirty="0">
                <a:solidFill>
                  <a:srgbClr val="666666"/>
                </a:solidFill>
              </a:rPr>
              <a:t>Estado: Supervivencia (Lucha/Huida)</a:t>
            </a:r>
            <a:endParaRPr lang="en-US" sz="634" dirty="0"/>
          </a:p>
        </p:txBody>
      </p:sp>
      <p:sp>
        <p:nvSpPr>
          <p:cNvPr id="13" name="Shape 9"/>
          <p:cNvSpPr/>
          <p:nvPr/>
        </p:nvSpPr>
        <p:spPr>
          <a:xfrm>
            <a:off x="1928813" y="2491913"/>
            <a:ext cx="6643688" cy="78045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0"/>
          <p:cNvSpPr/>
          <p:nvPr/>
        </p:nvSpPr>
        <p:spPr>
          <a:xfrm>
            <a:off x="1928813" y="2499057"/>
            <a:ext cx="42863" cy="766167"/>
          </a:xfrm>
          <a:prstGeom prst="rect">
            <a:avLst/>
          </a:prstGeom>
          <a:solidFill>
            <a:srgbClr val="FFD7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2100263" y="2717834"/>
            <a:ext cx="328613" cy="328613"/>
          </a:xfrm>
          <a:prstGeom prst="ellipse">
            <a:avLst/>
          </a:prstGeom>
          <a:solidFill>
            <a:srgbClr val="FFD740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0275" y="2817847"/>
            <a:ext cx="128588" cy="128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571750" y="2627644"/>
            <a:ext cx="58293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57F17"/>
                </a:solidFill>
              </a:rPr>
              <a:t>Zona Amarilla: Prevención</a:t>
            </a:r>
            <a:endParaRPr lang="en-US" sz="885" dirty="0"/>
          </a:p>
        </p:txBody>
      </p:sp>
      <p:sp>
        <p:nvSpPr>
          <p:cNvPr id="18" name="Text 13"/>
          <p:cNvSpPr/>
          <p:nvPr/>
        </p:nvSpPr>
        <p:spPr>
          <a:xfrm>
            <a:off x="2571750" y="2831241"/>
            <a:ext cx="58293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Escucha evaluativa y calculadora. Buscas tener razón o no perder estatus.</a:t>
            </a:r>
            <a:endParaRPr lang="en-US" sz="780" dirty="0"/>
          </a:p>
        </p:txBody>
      </p:sp>
      <p:sp>
        <p:nvSpPr>
          <p:cNvPr id="19" name="Text 14"/>
          <p:cNvSpPr/>
          <p:nvPr/>
        </p:nvSpPr>
        <p:spPr>
          <a:xfrm>
            <a:off x="2571750" y="3009835"/>
            <a:ext cx="58293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i="1" dirty="0">
                <a:solidFill>
                  <a:srgbClr val="666666"/>
                </a:solidFill>
              </a:rPr>
              <a:t>Estado: Estrategia / Control</a:t>
            </a:r>
            <a:endParaRPr lang="en-US" sz="634" dirty="0"/>
          </a:p>
        </p:txBody>
      </p:sp>
      <p:sp>
        <p:nvSpPr>
          <p:cNvPr id="20" name="Shape 15"/>
          <p:cNvSpPr/>
          <p:nvPr/>
        </p:nvSpPr>
        <p:spPr>
          <a:xfrm>
            <a:off x="1928813" y="3394704"/>
            <a:ext cx="6643688" cy="78045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6"/>
          <p:cNvSpPr/>
          <p:nvPr/>
        </p:nvSpPr>
        <p:spPr>
          <a:xfrm>
            <a:off x="1928813" y="3408992"/>
            <a:ext cx="42863" cy="766167"/>
          </a:xfrm>
          <a:prstGeom prst="rect">
            <a:avLst/>
          </a:prstGeom>
          <a:solidFill>
            <a:srgbClr val="69F0A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17"/>
          <p:cNvSpPr/>
          <p:nvPr/>
        </p:nvSpPr>
        <p:spPr>
          <a:xfrm>
            <a:off x="2100263" y="3627769"/>
            <a:ext cx="328613" cy="328613"/>
          </a:xfrm>
          <a:prstGeom prst="ellipse">
            <a:avLst/>
          </a:prstGeom>
          <a:solidFill>
            <a:srgbClr val="69F0AE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4202" y="3727782"/>
            <a:ext cx="160734" cy="128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571750" y="3537579"/>
            <a:ext cx="58293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E7D32"/>
                </a:solidFill>
              </a:rPr>
              <a:t>Zona Verde: Conexión</a:t>
            </a:r>
            <a:endParaRPr lang="en-US" sz="885" dirty="0"/>
          </a:p>
        </p:txBody>
      </p:sp>
      <p:sp>
        <p:nvSpPr>
          <p:cNvPr id="25" name="Text 19"/>
          <p:cNvSpPr/>
          <p:nvPr/>
        </p:nvSpPr>
        <p:spPr>
          <a:xfrm>
            <a:off x="2571750" y="3741176"/>
            <a:ext cx="58293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Escucha generativa. Apertura a ser influenciado por el otro. Seguridad psicológica.</a:t>
            </a:r>
            <a:endParaRPr lang="en-US" sz="780" dirty="0"/>
          </a:p>
        </p:txBody>
      </p:sp>
      <p:sp>
        <p:nvSpPr>
          <p:cNvPr id="26" name="Text 20"/>
          <p:cNvSpPr/>
          <p:nvPr/>
        </p:nvSpPr>
        <p:spPr>
          <a:xfrm>
            <a:off x="2571750" y="3919770"/>
            <a:ext cx="58293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i="1" dirty="0">
                <a:solidFill>
                  <a:srgbClr val="666666"/>
                </a:solidFill>
              </a:rPr>
              <a:t>Estado: Calma / Creatividad</a:t>
            </a:r>
            <a:endParaRPr lang="en-US" sz="634" dirty="0"/>
          </a:p>
        </p:txBody>
      </p:sp>
      <p:sp>
        <p:nvSpPr>
          <p:cNvPr id="27" name="Shape 21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2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Antes de hablar, </a:t>
            </a:r>
            <a:r>
              <a:rPr lang="en-US" sz="888" i="1" dirty="0">
                <a:solidFill>
                  <a:srgbClr val="DC8060"/>
                </a:solidFill>
              </a:rPr>
              <a:t>comprueba tu semáforo</a:t>
            </a:r>
            <a:r>
              <a:rPr lang="en-US" sz="888" dirty="0">
                <a:solidFill>
                  <a:srgbClr val="FFFFFF"/>
                </a:solidFill>
              </a:rPr>
              <a:t> interior.</a:t>
            </a:r>
            <a:endParaRPr lang="en-US" sz="888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PROTOCOLO DE PREPARACIÓN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Antes de la Conversación</a:t>
            </a:r>
            <a:endParaRPr lang="en-US" sz="2226" dirty="0"/>
          </a:p>
        </p:txBody>
      </p:sp>
      <p:sp>
        <p:nvSpPr>
          <p:cNvPr id="5" name="Text 2"/>
          <p:cNvSpPr/>
          <p:nvPr/>
        </p:nvSpPr>
        <p:spPr>
          <a:xfrm>
            <a:off x="571500" y="1120843"/>
            <a:ext cx="23125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DC8060"/>
                </a:solidFill>
              </a:rPr>
              <a:t>01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917051" y="1135131"/>
            <a:ext cx="424073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3A3D"/>
                </a:solidFill>
              </a:rPr>
              <a:t>Chequeo de Intención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917051" y="1372660"/>
            <a:ext cx="42407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4A4A4A"/>
                </a:solidFill>
              </a:rPr>
              <a:t>¿Quiero ayudar, clarificar y construir, o quiero ganar, castigar y desahogarme?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71500" y="1763781"/>
            <a:ext cx="23125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DC8060"/>
                </a:solidFill>
              </a:rPr>
              <a:t>02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917051" y="1778068"/>
            <a:ext cx="424073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3A3D"/>
                </a:solidFill>
              </a:rPr>
              <a:t>Chequeo de Estado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917051" y="2015598"/>
            <a:ext cx="42407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4A4A4A"/>
                </a:solidFill>
              </a:rPr>
              <a:t>¿Estoy en mi ventana de tolerancia o estoy secuestrado por la amígdala?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71500" y="2406718"/>
            <a:ext cx="23125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DC8060"/>
                </a:solidFill>
              </a:rPr>
              <a:t>03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917051" y="2421006"/>
            <a:ext cx="424073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3A3D"/>
                </a:solidFill>
              </a:rPr>
              <a:t>Chequeo de Hechos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917051" y="2658535"/>
            <a:ext cx="42407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4A4A4A"/>
                </a:solidFill>
              </a:rPr>
              <a:t>¿Tengo datos objetivos o solo mis interpretaciones y juicios?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571500" y="3049656"/>
            <a:ext cx="23125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DC8060"/>
                </a:solidFill>
              </a:rPr>
              <a:t>04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917051" y="3063943"/>
            <a:ext cx="424073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3A3D"/>
                </a:solidFill>
              </a:rPr>
              <a:t>Chequeo de Contexto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917051" y="3301473"/>
            <a:ext cx="42407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4A4A4A"/>
                </a:solidFill>
              </a:rPr>
              <a:t>¿Tenemos el tiempo, la privacidad y la energía para esto ahora?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5514975" y="1135131"/>
            <a:ext cx="3057525" cy="1100138"/>
          </a:xfrm>
          <a:prstGeom prst="rect">
            <a:avLst/>
          </a:prstGeom>
          <a:solidFill>
            <a:srgbClr val="FFF5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5514975" y="1135131"/>
            <a:ext cx="28575" cy="1100138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1286935"/>
            <a:ext cx="157163" cy="15716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886450" y="1278006"/>
            <a:ext cx="7426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C8060"/>
                </a:solidFill>
              </a:rPr>
              <a:t>ESPERA SI...</a:t>
            </a:r>
            <a:endParaRPr lang="en-US" sz="885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850" y="1544110"/>
            <a:ext cx="67866" cy="1071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782866" y="1524465"/>
            <a:ext cx="121452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Estás furioso o agotado.</a:t>
            </a:r>
            <a:endParaRPr lang="en-US" sz="78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7850" y="1733420"/>
            <a:ext cx="67866" cy="1071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782866" y="1713774"/>
            <a:ext cx="104736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Tu objetivo es culpar.</a:t>
            </a:r>
            <a:endParaRPr lang="en-US" sz="78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850" y="1922729"/>
            <a:ext cx="67866" cy="1071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782866" y="1903084"/>
            <a:ext cx="127024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No tienes pruebas claras.</a:t>
            </a:r>
            <a:endParaRPr lang="en-US" sz="780" dirty="0"/>
          </a:p>
        </p:txBody>
      </p:sp>
      <p:sp>
        <p:nvSpPr>
          <p:cNvPr id="27" name="Shape 20"/>
          <p:cNvSpPr/>
          <p:nvPr/>
        </p:nvSpPr>
        <p:spPr>
          <a:xfrm>
            <a:off x="5514975" y="2349568"/>
            <a:ext cx="3057525" cy="1100138"/>
          </a:xfrm>
          <a:prstGeom prst="rect">
            <a:avLst/>
          </a:prstGeom>
          <a:solidFill>
            <a:srgbClr val="E8F0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Shape 21"/>
          <p:cNvSpPr/>
          <p:nvPr/>
        </p:nvSpPr>
        <p:spPr>
          <a:xfrm>
            <a:off x="5514975" y="2349568"/>
            <a:ext cx="28575" cy="1100138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7850" y="2501373"/>
            <a:ext cx="157163" cy="15716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886450" y="2492443"/>
            <a:ext cx="800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4A4E"/>
                </a:solidFill>
              </a:rPr>
              <a:t>AVANZA SI...</a:t>
            </a:r>
            <a:endParaRPr lang="en-US" sz="885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7850" y="2758548"/>
            <a:ext cx="107156" cy="10715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822156" y="2738903"/>
            <a:ext cx="122878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Estás calmado y curioso.</a:t>
            </a:r>
            <a:endParaRPr lang="en-US" sz="78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7850" y="2947857"/>
            <a:ext cx="107156" cy="10715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822156" y="2928212"/>
            <a:ext cx="148486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Quieres resolver el problema.</a:t>
            </a:r>
            <a:endParaRPr lang="en-US" sz="78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7850" y="3137167"/>
            <a:ext cx="107156" cy="10715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822156" y="3117521"/>
            <a:ext cx="108646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El otro está receptivo.</a:t>
            </a:r>
            <a:endParaRPr lang="en-US" sz="780" dirty="0"/>
          </a:p>
        </p:txBody>
      </p:sp>
      <p:sp>
        <p:nvSpPr>
          <p:cNvPr id="37" name="Shape 26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27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El éxito de una conversación difícil se determina en un 90% </a:t>
            </a:r>
            <a:r>
              <a:rPr lang="en-US" sz="888" i="1" dirty="0">
                <a:solidFill>
                  <a:srgbClr val="DC8060"/>
                </a:solidFill>
              </a:rPr>
              <a:t>antes</a:t>
            </a:r>
            <a:r>
              <a:rPr lang="en-US" sz="888" dirty="0">
                <a:solidFill>
                  <a:srgbClr val="FFFFFF"/>
                </a:solidFill>
              </a:rPr>
              <a:t> de abrir la boca.</a:t>
            </a:r>
            <a:endParaRPr lang="en-US" sz="888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PROTOCOLO II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Durante y Después</a:t>
            </a:r>
            <a:endParaRPr lang="en-US" sz="2226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61027"/>
            <a:ext cx="17859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1531" y="1135131"/>
            <a:ext cx="140946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4A4E"/>
                </a:solidFill>
              </a:rPr>
              <a:t>DURANTE: La Danza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771525" y="1501248"/>
            <a:ext cx="417195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1F3A3D"/>
                </a:solidFill>
              </a:rPr>
              <a:t>1. Aterrizaje Suave</a:t>
            </a:r>
            <a:endParaRPr lang="en-US" sz="834" dirty="0"/>
          </a:p>
        </p:txBody>
      </p:sp>
      <p:sp>
        <p:nvSpPr>
          <p:cNvPr id="8" name="Text 4"/>
          <p:cNvSpPr/>
          <p:nvPr/>
        </p:nvSpPr>
        <p:spPr>
          <a:xfrm>
            <a:off x="771525" y="1688771"/>
            <a:ext cx="41719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Verifica el momento. "¿Es buen momento para hablar de X?" Conecta antes de corregir.</a:t>
            </a:r>
            <a:endParaRPr lang="en-US" sz="780" dirty="0"/>
          </a:p>
        </p:txBody>
      </p:sp>
      <p:sp>
        <p:nvSpPr>
          <p:cNvPr id="9" name="Text 5"/>
          <p:cNvSpPr/>
          <p:nvPr/>
        </p:nvSpPr>
        <p:spPr>
          <a:xfrm>
            <a:off x="771525" y="2131684"/>
            <a:ext cx="417195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1F3A3D"/>
                </a:solidFill>
              </a:rPr>
              <a:t>2. Exposición de Hechos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771525" y="2319207"/>
            <a:ext cx="41719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Describe la situación objetiva (sin juicios) y su impacto. "Cuando pasó X, el impacto fue Y."</a:t>
            </a:r>
            <a:endParaRPr lang="en-US" sz="780" dirty="0"/>
          </a:p>
        </p:txBody>
      </p:sp>
      <p:sp>
        <p:nvSpPr>
          <p:cNvPr id="11" name="Text 7"/>
          <p:cNvSpPr/>
          <p:nvPr/>
        </p:nvSpPr>
        <p:spPr>
          <a:xfrm>
            <a:off x="771525" y="2762120"/>
            <a:ext cx="417195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1F3A3D"/>
                </a:solidFill>
              </a:rPr>
              <a:t>3. Indagación Curiosa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771525" y="2949643"/>
            <a:ext cx="41719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Pasa el micrófono. "¿Cómo lo ves tú?" Escucha para entender, no para rebatir.</a:t>
            </a:r>
            <a:endParaRPr lang="en-US" sz="780" dirty="0"/>
          </a:p>
        </p:txBody>
      </p:sp>
      <p:sp>
        <p:nvSpPr>
          <p:cNvPr id="13" name="Text 9"/>
          <p:cNvSpPr/>
          <p:nvPr/>
        </p:nvSpPr>
        <p:spPr>
          <a:xfrm>
            <a:off x="771525" y="3242537"/>
            <a:ext cx="417195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1F3A3D"/>
                </a:solidFill>
              </a:rPr>
              <a:t>4. Acuerdo de Futuro</a:t>
            </a:r>
            <a:endParaRPr lang="en-US" sz="834" dirty="0"/>
          </a:p>
        </p:txBody>
      </p:sp>
      <p:sp>
        <p:nvSpPr>
          <p:cNvPr id="14" name="Text 10"/>
          <p:cNvSpPr/>
          <p:nvPr/>
        </p:nvSpPr>
        <p:spPr>
          <a:xfrm>
            <a:off x="771525" y="3430060"/>
            <a:ext cx="41719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Co-crea la solución. "¿Qué haremos diferente la próxima vez?" Define acciones claras.</a:t>
            </a:r>
            <a:endParaRPr lang="en-US" sz="780" dirty="0"/>
          </a:p>
        </p:txBody>
      </p:sp>
      <p:sp>
        <p:nvSpPr>
          <p:cNvPr id="15" name="Shape 11"/>
          <p:cNvSpPr/>
          <p:nvPr/>
        </p:nvSpPr>
        <p:spPr>
          <a:xfrm>
            <a:off x="5300663" y="1135131"/>
            <a:ext cx="3271838" cy="35083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5300663" y="1135131"/>
            <a:ext cx="3271838" cy="35719"/>
          </a:xfrm>
          <a:prstGeom prst="rect">
            <a:avLst/>
          </a:prstGeom>
          <a:solidFill>
            <a:srgbClr val="DC80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8565356" y="1135131"/>
            <a:ext cx="7144" cy="3508307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5300663" y="4636294"/>
            <a:ext cx="3271838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5"/>
          <p:cNvSpPr/>
          <p:nvPr/>
        </p:nvSpPr>
        <p:spPr>
          <a:xfrm>
            <a:off x="5300663" y="1135131"/>
            <a:ext cx="7144" cy="3508307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0679" y="1332477"/>
            <a:ext cx="142875" cy="14287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694992" y="1306581"/>
            <a:ext cx="128989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C8060"/>
                </a:solidFill>
              </a:rPr>
              <a:t>DESPUÉS: El Cierre</a:t>
            </a:r>
            <a:endParaRPr lang="en-US" sz="987" dirty="0"/>
          </a:p>
        </p:txBody>
      </p:sp>
      <p:sp>
        <p:nvSpPr>
          <p:cNvPr id="22" name="Shape 17"/>
          <p:cNvSpPr/>
          <p:nvPr/>
        </p:nvSpPr>
        <p:spPr>
          <a:xfrm>
            <a:off x="5480679" y="1672698"/>
            <a:ext cx="271463" cy="271463"/>
          </a:xfrm>
          <a:prstGeom prst="ellipse">
            <a:avLst/>
          </a:prstGeom>
          <a:solidFill>
            <a:srgbClr val="DC8060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9261" y="1751279"/>
            <a:ext cx="114300" cy="1143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852154" y="1672698"/>
            <a:ext cx="25488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F3A3D"/>
                </a:solidFill>
              </a:rPr>
              <a:t>El "Acta de Confianza"</a:t>
            </a:r>
            <a:endParaRPr lang="en-US" sz="784" dirty="0"/>
          </a:p>
        </p:txBody>
      </p:sp>
      <p:sp>
        <p:nvSpPr>
          <p:cNvPr id="25" name="Text 19"/>
          <p:cNvSpPr/>
          <p:nvPr/>
        </p:nvSpPr>
        <p:spPr>
          <a:xfrm>
            <a:off x="5852154" y="1849506"/>
            <a:ext cx="254889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Envía un breve mensaje resumiendo lo acordado. Evita malentendidos y fija el compromiso.</a:t>
            </a:r>
            <a:endParaRPr lang="en-US" sz="727" dirty="0"/>
          </a:p>
        </p:txBody>
      </p:sp>
      <p:sp>
        <p:nvSpPr>
          <p:cNvPr id="26" name="Shape 20"/>
          <p:cNvSpPr/>
          <p:nvPr/>
        </p:nvSpPr>
        <p:spPr>
          <a:xfrm>
            <a:off x="5480679" y="2272382"/>
            <a:ext cx="271463" cy="271463"/>
          </a:xfrm>
          <a:prstGeom prst="ellipse">
            <a:avLst/>
          </a:prstGeom>
          <a:solidFill>
            <a:srgbClr val="DC8060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9261" y="2350963"/>
            <a:ext cx="114300" cy="1143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852154" y="2272382"/>
            <a:ext cx="25488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F3A3D"/>
                </a:solidFill>
              </a:rPr>
              <a:t>Cumplir lo Pactado</a:t>
            </a:r>
            <a:endParaRPr lang="en-US" sz="784" dirty="0"/>
          </a:p>
        </p:txBody>
      </p:sp>
      <p:sp>
        <p:nvSpPr>
          <p:cNvPr id="29" name="Text 22"/>
          <p:cNvSpPr/>
          <p:nvPr/>
        </p:nvSpPr>
        <p:spPr>
          <a:xfrm>
            <a:off x="5852154" y="2449190"/>
            <a:ext cx="254889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La confianza se rompe si no hay seguimiento. Si prometiste recursos o cambios, cumple.</a:t>
            </a:r>
            <a:endParaRPr lang="en-US" sz="727" dirty="0"/>
          </a:p>
        </p:txBody>
      </p:sp>
      <p:sp>
        <p:nvSpPr>
          <p:cNvPr id="30" name="Shape 23"/>
          <p:cNvSpPr/>
          <p:nvPr/>
        </p:nvSpPr>
        <p:spPr>
          <a:xfrm>
            <a:off x="5480679" y="2872067"/>
            <a:ext cx="271463" cy="271463"/>
          </a:xfrm>
          <a:prstGeom prst="ellipse">
            <a:avLst/>
          </a:prstGeom>
          <a:solidFill>
            <a:srgbClr val="DC8060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2117" y="2950648"/>
            <a:ext cx="128588" cy="1143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852154" y="2872067"/>
            <a:ext cx="25488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F3A3D"/>
                </a:solidFill>
              </a:rPr>
              <a:t>Reset Personal</a:t>
            </a:r>
            <a:endParaRPr lang="en-US" sz="784" dirty="0"/>
          </a:p>
        </p:txBody>
      </p:sp>
      <p:sp>
        <p:nvSpPr>
          <p:cNvPr id="33" name="Text 25"/>
          <p:cNvSpPr/>
          <p:nvPr/>
        </p:nvSpPr>
        <p:spPr>
          <a:xfrm>
            <a:off x="5852154" y="3048874"/>
            <a:ext cx="254889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Suelta la tensión. Tómate 5 minutos para regularte antes de la siguiente tarea.</a:t>
            </a:r>
            <a:endParaRPr lang="en-US" sz="727" dirty="0"/>
          </a:p>
        </p:txBody>
      </p:sp>
      <p:sp>
        <p:nvSpPr>
          <p:cNvPr id="34" name="Shape 26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27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La conversación no termina cuando se cuelga la llamada, termina cuando se </a:t>
            </a:r>
            <a:r>
              <a:rPr lang="en-US" sz="888" i="1" dirty="0">
                <a:solidFill>
                  <a:srgbClr val="DC8060"/>
                </a:solidFill>
              </a:rPr>
              <a:t>cumple el acuerdo</a:t>
            </a:r>
            <a:r>
              <a:rPr lang="en-US" sz="888" dirty="0">
                <a:solidFill>
                  <a:srgbClr val="FFFFFF"/>
                </a:solidFill>
              </a:rPr>
              <a:t>.</a:t>
            </a:r>
            <a:endParaRPr lang="en-US" sz="888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7313" y="2214563"/>
            <a:ext cx="272949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90" b="1" kern="0" spc="3" dirty="0">
                <a:solidFill>
                  <a:srgbClr val="DC8060"/>
                </a:solidFill>
              </a:rPr>
              <a:t>SECCIÓN</a:t>
            </a:r>
            <a:endParaRPr lang="en-US" sz="1090" dirty="0"/>
          </a:p>
        </p:txBody>
      </p:sp>
      <p:sp>
        <p:nvSpPr>
          <p:cNvPr id="4" name="Text 1"/>
          <p:cNvSpPr/>
          <p:nvPr/>
        </p:nvSpPr>
        <p:spPr>
          <a:xfrm>
            <a:off x="1357313" y="2253853"/>
            <a:ext cx="2729499" cy="7786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4500"/>
              </a:lnSpc>
              <a:buNone/>
            </a:pPr>
            <a:r>
              <a:rPr lang="en-US" sz="4145" b="1" kern="0" spc="-2" dirty="0">
                <a:solidFill>
                  <a:srgbClr val="DC8060"/>
                </a:solidFill>
              </a:rPr>
              <a:t>PRÁCTICA</a:t>
            </a:r>
            <a:endParaRPr lang="en-US" sz="4145" dirty="0"/>
          </a:p>
        </p:txBody>
      </p:sp>
      <p:sp>
        <p:nvSpPr>
          <p:cNvPr id="5" name="Text 2"/>
          <p:cNvSpPr/>
          <p:nvPr/>
        </p:nvSpPr>
        <p:spPr>
          <a:xfrm>
            <a:off x="4972636" y="1513052"/>
            <a:ext cx="2814051" cy="1414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3077" b="1" dirty="0">
                <a:solidFill>
                  <a:srgbClr val="FFFFFF"/>
                </a:solidFill>
              </a:rPr>
              <a:t>Meditación de
Compasión</a:t>
            </a:r>
            <a:endParaRPr lang="en-US" sz="3077" dirty="0"/>
          </a:p>
        </p:txBody>
      </p:sp>
      <p:sp>
        <p:nvSpPr>
          <p:cNvPr id="6" name="Text 3"/>
          <p:cNvSpPr/>
          <p:nvPr/>
        </p:nvSpPr>
        <p:spPr>
          <a:xfrm>
            <a:off x="4972636" y="3070389"/>
            <a:ext cx="2814051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C0C0C0"/>
                </a:solidFill>
              </a:rPr>
              <a:t>Entrenando el músculo del cuidado</a:t>
            </a:r>
            <a:endParaRPr lang="en-US" sz="1486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FUNDAMENTO CIENTÍFICO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Por qué funciona esta práctica</a:t>
            </a:r>
            <a:endParaRPr lang="en-US" sz="2226" dirty="0"/>
          </a:p>
        </p:txBody>
      </p:sp>
      <p:sp>
        <p:nvSpPr>
          <p:cNvPr id="5" name="Text 2"/>
          <p:cNvSpPr/>
          <p:nvPr/>
        </p:nvSpPr>
        <p:spPr>
          <a:xfrm>
            <a:off x="571500" y="1135131"/>
            <a:ext cx="642937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4A4A4A"/>
                </a:solidFill>
              </a:rPr>
              <a:t>La compasión no es solo una emoción pasajera, es un </a:t>
            </a:r>
            <a:r>
              <a:rPr lang="en-US" sz="1090" b="1" dirty="0">
                <a:solidFill>
                  <a:srgbClr val="DC8060"/>
                </a:solidFill>
              </a:rPr>
              <a:t>circuito neuronal</a:t>
            </a:r>
            <a:r>
              <a:rPr lang="en-US" sz="1159" dirty="0">
                <a:solidFill>
                  <a:srgbClr val="4A4A4A"/>
                </a:solidFill>
              </a:rPr>
              <a:t> que se fortalece con el uso repetido.</a:t>
            </a:r>
            <a:endParaRPr lang="en-US" sz="1159" dirty="0"/>
          </a:p>
        </p:txBody>
      </p:sp>
      <p:sp>
        <p:nvSpPr>
          <p:cNvPr id="6" name="Shape 3"/>
          <p:cNvSpPr/>
          <p:nvPr/>
        </p:nvSpPr>
        <p:spPr>
          <a:xfrm>
            <a:off x="571500" y="1832316"/>
            <a:ext cx="500063" cy="500063"/>
          </a:xfrm>
          <a:prstGeom prst="ellipse">
            <a:avLst/>
          </a:prstGeom>
          <a:solidFill>
            <a:srgbClr val="2D4A4E">
              <a:alpha val="6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16" y="1982335"/>
            <a:ext cx="250031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500" y="2475254"/>
            <a:ext cx="2428875" cy="266105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1F3A3D"/>
                </a:solidFill>
              </a:rPr>
              <a:t>Neuroplasticidad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571500" y="2812796"/>
            <a:ext cx="2428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Entrenamos al cerebro para responder al sufrimiento con apertura en lugar de contracción. Convertimos un estado en un rasgo.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3357563" y="1832316"/>
            <a:ext cx="500063" cy="500063"/>
          </a:xfrm>
          <a:prstGeom prst="ellipse">
            <a:avLst/>
          </a:prstGeom>
          <a:solidFill>
            <a:srgbClr val="2D4A4E">
              <a:alpha val="6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7581" y="1982335"/>
            <a:ext cx="200025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57563" y="2475254"/>
            <a:ext cx="2428875" cy="266105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1F3A3D"/>
                </a:solidFill>
              </a:rPr>
              <a:t>Cambio de Sistema</a:t>
            </a:r>
            <a:endParaRPr lang="en-US" sz="987" dirty="0"/>
          </a:p>
        </p:txBody>
      </p:sp>
      <p:sp>
        <p:nvSpPr>
          <p:cNvPr id="13" name="Text 8"/>
          <p:cNvSpPr/>
          <p:nvPr/>
        </p:nvSpPr>
        <p:spPr>
          <a:xfrm>
            <a:off x="3357563" y="2812796"/>
            <a:ext cx="2428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Desactivamos el sistema de </a:t>
            </a:r>
            <a:r>
              <a:rPr lang="en-US" sz="784" b="1" dirty="0">
                <a:solidFill>
                  <a:srgbClr val="4A4A4A"/>
                </a:solidFill>
              </a:rPr>
              <a:t>Amenaza</a:t>
            </a:r>
            <a:r>
              <a:rPr lang="en-US" sz="834" dirty="0">
                <a:solidFill>
                  <a:srgbClr val="4A4A4A"/>
                </a:solidFill>
              </a:rPr>
              <a:t> (lucha/huida) y activamos el sistema de </a:t>
            </a:r>
            <a:r>
              <a:rPr lang="en-US" sz="784" b="1" dirty="0">
                <a:solidFill>
                  <a:srgbClr val="4A4A4A"/>
                </a:solidFill>
              </a:rPr>
              <a:t>Cuidado</a:t>
            </a:r>
            <a:r>
              <a:rPr lang="en-US" sz="834" dirty="0">
                <a:solidFill>
                  <a:srgbClr val="4A4A4A"/>
                </a:solidFill>
              </a:rPr>
              <a:t> (oxitocina/vago), reduciendo el estrés.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6143625" y="1832316"/>
            <a:ext cx="500063" cy="500063"/>
          </a:xfrm>
          <a:prstGeom prst="ellipse">
            <a:avLst/>
          </a:prstGeom>
          <a:solidFill>
            <a:srgbClr val="2D4A4E">
              <a:alpha val="6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3644" y="1982335"/>
            <a:ext cx="200025" cy="2000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43625" y="2475254"/>
            <a:ext cx="2428875" cy="266105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1F3A3D"/>
                </a:solidFill>
              </a:rPr>
              <a:t>Protección</a:t>
            </a:r>
            <a:endParaRPr lang="en-US" sz="987" dirty="0"/>
          </a:p>
        </p:txBody>
      </p:sp>
      <p:sp>
        <p:nvSpPr>
          <p:cNvPr id="17" name="Text 11"/>
          <p:cNvSpPr/>
          <p:nvPr/>
        </p:nvSpPr>
        <p:spPr>
          <a:xfrm>
            <a:off x="6143625" y="2812796"/>
            <a:ext cx="24288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Al generar intenciones benevolentes, creamos un "colchón" emocional que previene el contagio del estrés y el burnout.</a:t>
            </a:r>
            <a:endParaRPr lang="en-US" sz="834" dirty="0"/>
          </a:p>
        </p:txBody>
      </p:sp>
      <p:sp>
        <p:nvSpPr>
          <p:cNvPr id="18" name="Shape 12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3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La compasión es una </a:t>
            </a:r>
            <a:r>
              <a:rPr lang="en-US" sz="888" i="1" dirty="0">
                <a:solidFill>
                  <a:srgbClr val="DC8060"/>
                </a:solidFill>
              </a:rPr>
              <a:t>habilidad entrenable</a:t>
            </a:r>
            <a:r>
              <a:rPr lang="en-US" sz="888" dirty="0">
                <a:solidFill>
                  <a:srgbClr val="FFFFFF"/>
                </a:solidFill>
              </a:rPr>
              <a:t>, como tocar un instrumento.</a:t>
            </a:r>
            <a:endParaRPr lang="en-US" sz="888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LA SECUENCIA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Los 4 Pasos de la Expansión</a:t>
            </a:r>
            <a:endParaRPr lang="en-US" sz="2226" dirty="0"/>
          </a:p>
        </p:txBody>
      </p:sp>
      <p:sp>
        <p:nvSpPr>
          <p:cNvPr id="5" name="Shape 2"/>
          <p:cNvSpPr/>
          <p:nvPr/>
        </p:nvSpPr>
        <p:spPr>
          <a:xfrm>
            <a:off x="964406" y="1335156"/>
            <a:ext cx="785813" cy="78581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2D4A4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798" y="1599474"/>
            <a:ext cx="225028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4247" y="2263843"/>
            <a:ext cx="7461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2D4A4E"/>
                </a:solidFill>
              </a:rPr>
              <a:t>Yo Mismo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667913" y="2569239"/>
            <a:ext cx="13788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La base necesaria. Llenar la</a:t>
            </a:r>
            <a:endParaRPr lang="en-US" sz="780" dirty="0"/>
          </a:p>
        </p:txBody>
      </p:sp>
      <p:sp>
        <p:nvSpPr>
          <p:cNvPr id="9" name="Text 5"/>
          <p:cNvSpPr/>
          <p:nvPr/>
        </p:nvSpPr>
        <p:spPr>
          <a:xfrm>
            <a:off x="828005" y="2719257"/>
            <a:ext cx="105861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propia copa primero.</a:t>
            </a:r>
            <a:endParaRPr lang="en-US" sz="780" dirty="0"/>
          </a:p>
        </p:txBody>
      </p:sp>
      <p:sp>
        <p:nvSpPr>
          <p:cNvPr id="10" name="Text 6"/>
          <p:cNvSpPr/>
          <p:nvPr/>
        </p:nvSpPr>
        <p:spPr>
          <a:xfrm>
            <a:off x="628650" y="2953215"/>
            <a:ext cx="1457325" cy="194304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i="1" dirty="0">
                <a:solidFill>
                  <a:srgbClr val="666666"/>
                </a:solidFill>
              </a:rPr>
              <a:t>"Que yo esté libre de sufrimiento."</a:t>
            </a:r>
            <a:endParaRPr lang="en-US" sz="674" dirty="0"/>
          </a:p>
        </p:txBody>
      </p:sp>
      <p:sp>
        <p:nvSpPr>
          <p:cNvPr id="11" name="Shape 7"/>
          <p:cNvSpPr/>
          <p:nvPr/>
        </p:nvSpPr>
        <p:spPr>
          <a:xfrm>
            <a:off x="3107531" y="1335156"/>
            <a:ext cx="785813" cy="78581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DC8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1850" y="1599474"/>
            <a:ext cx="257175" cy="2571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26048" y="2263843"/>
            <a:ext cx="94875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DC8060"/>
                </a:solidFill>
              </a:rPr>
              <a:t>Ser Querido</a:t>
            </a:r>
            <a:endParaRPr lang="en-US" sz="885" dirty="0"/>
          </a:p>
        </p:txBody>
      </p:sp>
      <p:sp>
        <p:nvSpPr>
          <p:cNvPr id="14" name="Text 9"/>
          <p:cNvSpPr/>
          <p:nvPr/>
        </p:nvSpPr>
        <p:spPr>
          <a:xfrm>
            <a:off x="2812042" y="2569239"/>
            <a:ext cx="137676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El flujo natural. Alguien con</a:t>
            </a:r>
            <a:endParaRPr lang="en-US" sz="780" dirty="0"/>
          </a:p>
        </p:txBody>
      </p:sp>
      <p:sp>
        <p:nvSpPr>
          <p:cNvPr id="15" name="Text 10"/>
          <p:cNvSpPr/>
          <p:nvPr/>
        </p:nvSpPr>
        <p:spPr>
          <a:xfrm>
            <a:off x="2933179" y="2719257"/>
            <a:ext cx="113448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quien es fácil conectar.</a:t>
            </a:r>
            <a:endParaRPr lang="en-US" sz="780" dirty="0"/>
          </a:p>
        </p:txBody>
      </p:sp>
      <p:sp>
        <p:nvSpPr>
          <p:cNvPr id="16" name="Text 11"/>
          <p:cNvSpPr/>
          <p:nvPr/>
        </p:nvSpPr>
        <p:spPr>
          <a:xfrm>
            <a:off x="2771775" y="2953215"/>
            <a:ext cx="1457325" cy="194304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i="1" dirty="0">
                <a:solidFill>
                  <a:srgbClr val="666666"/>
                </a:solidFill>
              </a:rPr>
              <a:t>"Que tú seas feliz y estés en paz."</a:t>
            </a:r>
            <a:endParaRPr lang="en-US" sz="674" dirty="0"/>
          </a:p>
        </p:txBody>
      </p:sp>
      <p:sp>
        <p:nvSpPr>
          <p:cNvPr id="17" name="Shape 12"/>
          <p:cNvSpPr/>
          <p:nvPr/>
        </p:nvSpPr>
        <p:spPr>
          <a:xfrm>
            <a:off x="5250656" y="1335156"/>
            <a:ext cx="785813" cy="78581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E5737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2828" y="1599474"/>
            <a:ext cx="321469" cy="2571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008718" y="2263843"/>
            <a:ext cx="126966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E57373"/>
                </a:solidFill>
              </a:rPr>
              <a:t>Persona Neutra</a:t>
            </a:r>
            <a:endParaRPr lang="en-US" sz="885" dirty="0"/>
          </a:p>
        </p:txBody>
      </p:sp>
      <p:sp>
        <p:nvSpPr>
          <p:cNvPr id="20" name="Text 14"/>
          <p:cNvSpPr/>
          <p:nvPr/>
        </p:nvSpPr>
        <p:spPr>
          <a:xfrm>
            <a:off x="4916323" y="2569239"/>
            <a:ext cx="145445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El entrenamiento. Reconocer</a:t>
            </a:r>
            <a:endParaRPr lang="en-US" sz="780" dirty="0"/>
          </a:p>
        </p:txBody>
      </p:sp>
      <p:sp>
        <p:nvSpPr>
          <p:cNvPr id="21" name="Text 15"/>
          <p:cNvSpPr/>
          <p:nvPr/>
        </p:nvSpPr>
        <p:spPr>
          <a:xfrm>
            <a:off x="5161248" y="2719257"/>
            <a:ext cx="96462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la humanidad en el</a:t>
            </a:r>
            <a:endParaRPr lang="en-US" sz="780" dirty="0"/>
          </a:p>
        </p:txBody>
      </p:sp>
      <p:sp>
        <p:nvSpPr>
          <p:cNvPr id="22" name="Text 16"/>
          <p:cNvSpPr/>
          <p:nvPr/>
        </p:nvSpPr>
        <p:spPr>
          <a:xfrm>
            <a:off x="5119139" y="2869276"/>
            <a:ext cx="104884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desconocido o difícil.</a:t>
            </a:r>
            <a:endParaRPr lang="en-US" sz="780" dirty="0"/>
          </a:p>
        </p:txBody>
      </p:sp>
      <p:sp>
        <p:nvSpPr>
          <p:cNvPr id="23" name="Text 17"/>
          <p:cNvSpPr/>
          <p:nvPr/>
        </p:nvSpPr>
        <p:spPr>
          <a:xfrm>
            <a:off x="4914900" y="3103234"/>
            <a:ext cx="1457325" cy="194304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i="1" dirty="0">
                <a:solidFill>
                  <a:srgbClr val="666666"/>
                </a:solidFill>
              </a:rPr>
              <a:t>"Tú también deseas estar bien."</a:t>
            </a:r>
            <a:endParaRPr lang="en-US" sz="674" dirty="0"/>
          </a:p>
        </p:txBody>
      </p:sp>
      <p:sp>
        <p:nvSpPr>
          <p:cNvPr id="24" name="Shape 18"/>
          <p:cNvSpPr/>
          <p:nvPr/>
        </p:nvSpPr>
        <p:spPr>
          <a:xfrm>
            <a:off x="7393781" y="1335156"/>
            <a:ext cx="785813" cy="78581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FBC0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8100" y="1599474"/>
            <a:ext cx="257175" cy="2571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67749" y="2263843"/>
            <a:ext cx="12378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F9A825"/>
                </a:solidFill>
              </a:rPr>
              <a:t>Todos los Seres</a:t>
            </a:r>
            <a:endParaRPr lang="en-US" sz="885" dirty="0"/>
          </a:p>
        </p:txBody>
      </p:sp>
      <p:sp>
        <p:nvSpPr>
          <p:cNvPr id="27" name="Text 20"/>
          <p:cNvSpPr/>
          <p:nvPr/>
        </p:nvSpPr>
        <p:spPr>
          <a:xfrm>
            <a:off x="7139174" y="2569239"/>
            <a:ext cx="12950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La disolución de barreras.</a:t>
            </a:r>
            <a:endParaRPr lang="en-US" sz="780" dirty="0"/>
          </a:p>
        </p:txBody>
      </p:sp>
      <p:sp>
        <p:nvSpPr>
          <p:cNvPr id="28" name="Text 21"/>
          <p:cNvSpPr/>
          <p:nvPr/>
        </p:nvSpPr>
        <p:spPr>
          <a:xfrm>
            <a:off x="7244851" y="2719257"/>
            <a:ext cx="108367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0" dirty="0">
                <a:solidFill>
                  <a:srgbClr val="4A4A4A"/>
                </a:solidFill>
              </a:rPr>
              <a:t>Compasión universal.</a:t>
            </a:r>
            <a:endParaRPr lang="en-US" sz="780" dirty="0"/>
          </a:p>
        </p:txBody>
      </p:sp>
      <p:sp>
        <p:nvSpPr>
          <p:cNvPr id="29" name="Text 22"/>
          <p:cNvSpPr/>
          <p:nvPr/>
        </p:nvSpPr>
        <p:spPr>
          <a:xfrm>
            <a:off x="7058025" y="2953215"/>
            <a:ext cx="1457325" cy="194304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i="1" dirty="0">
                <a:solidFill>
                  <a:srgbClr val="666666"/>
                </a:solidFill>
              </a:rPr>
              <a:t>"Que todos vivamos en paz."</a:t>
            </a:r>
            <a:endParaRPr lang="en-US" sz="674" dirty="0"/>
          </a:p>
        </p:txBody>
      </p:sp>
      <p:sp>
        <p:nvSpPr>
          <p:cNvPr id="30" name="Shape 23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4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Expandimos el </a:t>
            </a:r>
            <a:r>
              <a:rPr lang="en-US" sz="888" i="1" dirty="0">
                <a:solidFill>
                  <a:srgbClr val="DC8060"/>
                </a:solidFill>
              </a:rPr>
              <a:t>círculo de cuidado</a:t>
            </a:r>
            <a:r>
              <a:rPr lang="en-US" sz="888" dirty="0">
                <a:solidFill>
                  <a:srgbClr val="FFFFFF"/>
                </a:solidFill>
              </a:rPr>
              <a:t> desde el centro hacia afuera.</a:t>
            </a:r>
            <a:endParaRPr lang="en-US" sz="888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SÍNTESIS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3 Ideas para Llevar</a:t>
            </a:r>
            <a:endParaRPr lang="en-US" sz="2226" dirty="0"/>
          </a:p>
        </p:txBody>
      </p:sp>
      <p:sp>
        <p:nvSpPr>
          <p:cNvPr id="5" name="Text 2"/>
          <p:cNvSpPr/>
          <p:nvPr/>
        </p:nvSpPr>
        <p:spPr>
          <a:xfrm>
            <a:off x="514350" y="935106"/>
            <a:ext cx="59460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DC8060">
                    <a:alpha val="15000"/>
                  </a:srgbClr>
                </a:solidFill>
              </a:rPr>
              <a:t>01</a:t>
            </a:r>
            <a:endParaRPr lang="en-US" sz="3731" dirty="0"/>
          </a:p>
        </p:txBody>
      </p:sp>
      <p:sp>
        <p:nvSpPr>
          <p:cNvPr id="6" name="Shape 3"/>
          <p:cNvSpPr/>
          <p:nvPr/>
        </p:nvSpPr>
        <p:spPr>
          <a:xfrm>
            <a:off x="571500" y="1306581"/>
            <a:ext cx="400050" cy="400050"/>
          </a:xfrm>
          <a:prstGeom prst="ellipse">
            <a:avLst/>
          </a:prstGeom>
          <a:solidFill>
            <a:srgbClr val="2D4A4E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66" y="1428024"/>
            <a:ext cx="137517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500" y="1849506"/>
            <a:ext cx="1620822" cy="274309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3A3D"/>
                </a:solidFill>
              </a:rPr>
              <a:t>Conexión es Biología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571500" y="2223827"/>
            <a:ext cx="24574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No es una habilidad "blanda", es un imperativo de supervivencia. El dolor social activa las mismas redes que el dolor físico. </a:t>
            </a:r>
            <a:r>
              <a:rPr lang="en-US" sz="784" b="1" dirty="0">
                <a:solidFill>
                  <a:srgbClr val="DC8060"/>
                </a:solidFill>
              </a:rPr>
              <a:t>Sin seguridad psicológica, no hay alto rendimiento.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3286125" y="935106"/>
            <a:ext cx="59460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DC8060">
                    <a:alpha val="15000"/>
                  </a:srgbClr>
                </a:solidFill>
              </a:rPr>
              <a:t>02</a:t>
            </a:r>
            <a:endParaRPr lang="en-US" sz="3731" dirty="0"/>
          </a:p>
        </p:txBody>
      </p:sp>
      <p:sp>
        <p:nvSpPr>
          <p:cNvPr id="11" name="Shape 7"/>
          <p:cNvSpPr/>
          <p:nvPr/>
        </p:nvSpPr>
        <p:spPr>
          <a:xfrm>
            <a:off x="3343275" y="1306581"/>
            <a:ext cx="400050" cy="400050"/>
          </a:xfrm>
          <a:prstGeom prst="ellipse">
            <a:avLst/>
          </a:prstGeom>
          <a:solidFill>
            <a:srgbClr val="2D4A4E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4896" y="1428024"/>
            <a:ext cx="176808" cy="1571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43275" y="1849506"/>
            <a:ext cx="1692176" cy="274309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3A3D"/>
                </a:solidFill>
              </a:rPr>
              <a:t>Compasión ≠ Empatía</a:t>
            </a:r>
            <a:endParaRPr lang="en-US" sz="1090" dirty="0"/>
          </a:p>
        </p:txBody>
      </p:sp>
      <p:sp>
        <p:nvSpPr>
          <p:cNvPr id="14" name="Text 9"/>
          <p:cNvSpPr/>
          <p:nvPr/>
        </p:nvSpPr>
        <p:spPr>
          <a:xfrm>
            <a:off x="3343275" y="2223827"/>
            <a:ext cx="2457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La empatía siente y puede agotar. La compasión sabia </a:t>
            </a:r>
            <a:r>
              <a:rPr lang="en-US" sz="784" b="1" dirty="0">
                <a:solidFill>
                  <a:srgbClr val="DC8060"/>
                </a:solidFill>
              </a:rPr>
              <a:t>actúa y energiza</a:t>
            </a:r>
            <a:r>
              <a:rPr lang="en-US" sz="834" dirty="0">
                <a:solidFill>
                  <a:srgbClr val="4A4A4A"/>
                </a:solidFill>
              </a:rPr>
              <a:t>. Requiere el coraje de hacer lo difícil (feedback, límites) con humanidad.</a:t>
            </a:r>
            <a:endParaRPr lang="en-US" sz="834" dirty="0"/>
          </a:p>
        </p:txBody>
      </p:sp>
      <p:sp>
        <p:nvSpPr>
          <p:cNvPr id="15" name="Text 10"/>
          <p:cNvSpPr/>
          <p:nvPr/>
        </p:nvSpPr>
        <p:spPr>
          <a:xfrm>
            <a:off x="6057900" y="935106"/>
            <a:ext cx="59460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DC8060">
                    <a:alpha val="15000"/>
                  </a:srgbClr>
                </a:solidFill>
              </a:rPr>
              <a:t>03</a:t>
            </a:r>
            <a:endParaRPr lang="en-US" sz="3731" dirty="0"/>
          </a:p>
        </p:txBody>
      </p:sp>
      <p:sp>
        <p:nvSpPr>
          <p:cNvPr id="16" name="Shape 11"/>
          <p:cNvSpPr/>
          <p:nvPr/>
        </p:nvSpPr>
        <p:spPr>
          <a:xfrm>
            <a:off x="6115050" y="1306581"/>
            <a:ext cx="400050" cy="400050"/>
          </a:xfrm>
          <a:prstGeom prst="ellipse">
            <a:avLst/>
          </a:prstGeom>
          <a:solidFill>
            <a:srgbClr val="2D4A4E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494" y="1428024"/>
            <a:ext cx="157163" cy="15716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15050" y="1849506"/>
            <a:ext cx="2079278" cy="274309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3A3D"/>
                </a:solidFill>
              </a:rPr>
              <a:t>Estado antes de Estrategia</a:t>
            </a:r>
            <a:endParaRPr lang="en-US" sz="1090" dirty="0"/>
          </a:p>
        </p:txBody>
      </p:sp>
      <p:sp>
        <p:nvSpPr>
          <p:cNvPr id="19" name="Text 13"/>
          <p:cNvSpPr/>
          <p:nvPr/>
        </p:nvSpPr>
        <p:spPr>
          <a:xfrm>
            <a:off x="6115050" y="2223827"/>
            <a:ext cx="2457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En conversaciones difíciles, </a:t>
            </a:r>
            <a:r>
              <a:rPr lang="en-US" sz="834" i="1" dirty="0">
                <a:solidFill>
                  <a:srgbClr val="4A4A4A"/>
                </a:solidFill>
              </a:rPr>
              <a:t>quién eres</a:t>
            </a:r>
            <a:r>
              <a:rPr lang="en-US" sz="834" dirty="0">
                <a:solidFill>
                  <a:srgbClr val="4A4A4A"/>
                </a:solidFill>
              </a:rPr>
              <a:t> importa más que </a:t>
            </a:r>
            <a:r>
              <a:rPr lang="en-US" sz="834" i="1" dirty="0">
                <a:solidFill>
                  <a:srgbClr val="4A4A4A"/>
                </a:solidFill>
              </a:rPr>
              <a:t>qué dices</a:t>
            </a:r>
            <a:r>
              <a:rPr lang="en-US" sz="834" dirty="0">
                <a:solidFill>
                  <a:srgbClr val="4A4A4A"/>
                </a:solidFill>
              </a:rPr>
              <a:t>. Regúlate tú primero para poder co-regular al otro. </a:t>
            </a:r>
            <a:r>
              <a:rPr lang="en-US" sz="784" b="1" dirty="0">
                <a:solidFill>
                  <a:srgbClr val="DC8060"/>
                </a:solidFill>
              </a:rPr>
              <a:t>Sal de la zona roja antes de hablar.</a:t>
            </a:r>
            <a:endParaRPr lang="en-US" sz="834" dirty="0"/>
          </a:p>
        </p:txBody>
      </p:sp>
      <p:sp>
        <p:nvSpPr>
          <p:cNvPr id="20" name="Shape 14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5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Del </a:t>
            </a:r>
            <a:r>
              <a:rPr lang="en-US" sz="888" i="1" dirty="0">
                <a:solidFill>
                  <a:srgbClr val="DC8060"/>
                </a:solidFill>
              </a:rPr>
              <a:t>yo</a:t>
            </a:r>
            <a:r>
              <a:rPr lang="en-US" sz="888" dirty="0">
                <a:solidFill>
                  <a:srgbClr val="FFFFFF"/>
                </a:solidFill>
              </a:rPr>
              <a:t> al </a:t>
            </a:r>
            <a:r>
              <a:rPr lang="en-US" sz="888" i="1" dirty="0">
                <a:solidFill>
                  <a:srgbClr val="DC8060"/>
                </a:solidFill>
              </a:rPr>
              <a:t>nosotros</a:t>
            </a:r>
            <a:r>
              <a:rPr lang="en-US" sz="888" dirty="0">
                <a:solidFill>
                  <a:srgbClr val="FFFFFF"/>
                </a:solidFill>
              </a:rPr>
              <a:t>: la conexión consciente como base del liderazgo.</a:t>
            </a:r>
            <a:endParaRPr lang="en-US" sz="888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39303" y="964936"/>
            <a:ext cx="30653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4" dirty="0">
                <a:solidFill>
                  <a:srgbClr val="DC8060"/>
                </a:solidFill>
              </a:rPr>
              <a:t>MANIFIESTO DEL LÍDER SEMILLA</a:t>
            </a:r>
            <a:endParaRPr lang="en-US" sz="885" dirty="0"/>
          </a:p>
        </p:txBody>
      </p:sp>
      <p:sp>
        <p:nvSpPr>
          <p:cNvPr id="4" name="Shape 1"/>
          <p:cNvSpPr/>
          <p:nvPr/>
        </p:nvSpPr>
        <p:spPr>
          <a:xfrm>
            <a:off x="4214813" y="1339983"/>
            <a:ext cx="714375" cy="714375"/>
          </a:xfrm>
          <a:prstGeom prst="ellipse">
            <a:avLst/>
          </a:prstGeom>
          <a:solidFill>
            <a:srgbClr val="000000">
              <a:alpha val="0"/>
            </a:srgbClr>
          </a:solidFill>
          <a:ln w="18288">
            <a:solidFill>
              <a:srgbClr val="DC8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5" y="1554296"/>
            <a:ext cx="285750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456529" y="2254383"/>
            <a:ext cx="4230942" cy="4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FFFFFF"/>
                </a:solidFill>
              </a:rPr>
              <a:t>Conexión Consciente</a:t>
            </a:r>
            <a:endParaRPr lang="en-US" sz="2862" dirty="0"/>
          </a:p>
        </p:txBody>
      </p:sp>
      <p:sp>
        <p:nvSpPr>
          <p:cNvPr id="7" name="Text 3"/>
          <p:cNvSpPr/>
          <p:nvPr/>
        </p:nvSpPr>
        <p:spPr>
          <a:xfrm>
            <a:off x="1714500" y="2865872"/>
            <a:ext cx="5715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69" i="1" dirty="0">
                <a:solidFill>
                  <a:srgbClr val="C0C0C0"/>
                </a:solidFill>
              </a:rPr>
              <a:t>"Entiendo que no crezco solo. Elijo ver a cada persona como un </a:t>
            </a:r>
            <a:r>
              <a:rPr lang="en-US" sz="1193" b="1" dirty="0">
                <a:solidFill>
                  <a:srgbClr val="DC8060"/>
                </a:solidFill>
              </a:rPr>
              <a:t>legítimo otro</a:t>
            </a:r>
            <a:r>
              <a:rPr lang="en-US" sz="1269" i="1" dirty="0">
                <a:solidFill>
                  <a:srgbClr val="C0C0C0"/>
                </a:solidFill>
              </a:rPr>
              <a:t>, no como una herramienta. Construyo relaciones reales porque sé que la confianza es la tierra fértil de los resultados."</a:t>
            </a:r>
            <a:endParaRPr lang="en-US" sz="1269" dirty="0"/>
          </a:p>
        </p:txBody>
      </p:sp>
      <p:sp>
        <p:nvSpPr>
          <p:cNvPr id="8" name="Shape 4"/>
          <p:cNvSpPr/>
          <p:nvPr/>
        </p:nvSpPr>
        <p:spPr>
          <a:xfrm>
            <a:off x="2470231" y="3894572"/>
            <a:ext cx="1321315" cy="283964"/>
          </a:xfrm>
          <a:prstGeom prst="roundRect">
            <a:avLst/>
          </a:prstGeom>
          <a:solidFill>
            <a:srgbClr val="FFFFFF">
              <a:alpha val="8000"/>
            </a:srgbClr>
          </a:solidFill>
          <a:ln w="9144">
            <a:solidFill>
              <a:srgbClr val="DC806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5962" y="3979404"/>
            <a:ext cx="114300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77412" y="3958865"/>
            <a:ext cx="8784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Presencia Plena</a:t>
            </a:r>
            <a:endParaRPr lang="en-US" sz="784" dirty="0"/>
          </a:p>
        </p:txBody>
      </p:sp>
      <p:sp>
        <p:nvSpPr>
          <p:cNvPr id="11" name="Shape 6"/>
          <p:cNvSpPr/>
          <p:nvPr/>
        </p:nvSpPr>
        <p:spPr>
          <a:xfrm>
            <a:off x="3898702" y="3894572"/>
            <a:ext cx="1255263" cy="283964"/>
          </a:xfrm>
          <a:prstGeom prst="roundRect">
            <a:avLst/>
          </a:prstGeom>
          <a:solidFill>
            <a:srgbClr val="FFFFFF">
              <a:alpha val="8000"/>
            </a:srgbClr>
          </a:solidFill>
          <a:ln w="9144">
            <a:solidFill>
              <a:srgbClr val="DC806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4433" y="3979404"/>
            <a:ext cx="114300" cy="1143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205883" y="3958865"/>
            <a:ext cx="8123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Vulnerabilidad</a:t>
            </a:r>
            <a:endParaRPr lang="en-US" sz="784" dirty="0"/>
          </a:p>
        </p:txBody>
      </p:sp>
      <p:sp>
        <p:nvSpPr>
          <p:cNvPr id="14" name="Shape 8"/>
          <p:cNvSpPr/>
          <p:nvPr/>
        </p:nvSpPr>
        <p:spPr>
          <a:xfrm>
            <a:off x="5261121" y="3894572"/>
            <a:ext cx="1398361" cy="283964"/>
          </a:xfrm>
          <a:prstGeom prst="roundRect">
            <a:avLst/>
          </a:prstGeom>
          <a:solidFill>
            <a:srgbClr val="FFFFFF">
              <a:alpha val="8000"/>
            </a:srgbClr>
          </a:solidFill>
          <a:ln w="9144">
            <a:solidFill>
              <a:srgbClr val="DC806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6852" y="3979404"/>
            <a:ext cx="114300" cy="1143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568302" y="3958865"/>
            <a:ext cx="9554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Compasión Sabia</a:t>
            </a:r>
            <a:endParaRPr lang="en-US" sz="784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DC8060"/>
                </a:solidFill>
              </a:rPr>
              <a:t>MAPA DE RUTA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26" b="1" dirty="0">
                <a:solidFill>
                  <a:srgbClr val="1F3A3D"/>
                </a:solidFill>
              </a:rPr>
              <a:t>El Viaje: De la Raíz a la Red</a:t>
            </a:r>
            <a:endParaRPr lang="en-US" sz="2226" dirty="0"/>
          </a:p>
        </p:txBody>
      </p:sp>
      <p:sp>
        <p:nvSpPr>
          <p:cNvPr id="5" name="Shape 2"/>
          <p:cNvSpPr/>
          <p:nvPr/>
        </p:nvSpPr>
        <p:spPr>
          <a:xfrm>
            <a:off x="1271588" y="2254383"/>
            <a:ext cx="457200" cy="457200"/>
          </a:xfrm>
          <a:prstGeom prst="ellipse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2411546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07458" y="2797308"/>
            <a:ext cx="18543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4" b="1" kern="0" spc="1" dirty="0">
                <a:solidFill>
                  <a:srgbClr val="999999"/>
                </a:solidFill>
              </a:rPr>
              <a:t>M01</a:t>
            </a:r>
            <a:endParaRPr lang="en-US" sz="534" dirty="0"/>
          </a:p>
        </p:txBody>
      </p:sp>
      <p:sp>
        <p:nvSpPr>
          <p:cNvPr id="8" name="Text 4"/>
          <p:cNvSpPr/>
          <p:nvPr/>
        </p:nvSpPr>
        <p:spPr>
          <a:xfrm>
            <a:off x="1184077" y="2933040"/>
            <a:ext cx="63222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78909C"/>
                </a:solidFill>
              </a:rPr>
              <a:t>Consciencia</a:t>
            </a:r>
            <a:endParaRPr lang="en-US" sz="734" dirty="0"/>
          </a:p>
        </p:txBody>
      </p:sp>
      <p:sp>
        <p:nvSpPr>
          <p:cNvPr id="9" name="Shape 5"/>
          <p:cNvSpPr/>
          <p:nvPr/>
        </p:nvSpPr>
        <p:spPr>
          <a:xfrm>
            <a:off x="2500313" y="2254383"/>
            <a:ext cx="457200" cy="457200"/>
          </a:xfrm>
          <a:prstGeom prst="ellipse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7475" y="2411546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636183" y="2797308"/>
            <a:ext cx="18543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4" b="1" kern="0" spc="1" dirty="0">
                <a:solidFill>
                  <a:srgbClr val="999999"/>
                </a:solidFill>
              </a:rPr>
              <a:t>M02</a:t>
            </a:r>
            <a:endParaRPr lang="en-US" sz="534" dirty="0"/>
          </a:p>
        </p:txBody>
      </p:sp>
      <p:sp>
        <p:nvSpPr>
          <p:cNvPr id="12" name="Text 7"/>
          <p:cNvSpPr/>
          <p:nvPr/>
        </p:nvSpPr>
        <p:spPr>
          <a:xfrm>
            <a:off x="2442576" y="2933040"/>
            <a:ext cx="5726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78909C"/>
                </a:solidFill>
              </a:rPr>
              <a:t>Emociones</a:t>
            </a:r>
            <a:endParaRPr lang="en-US" sz="734" dirty="0"/>
          </a:p>
        </p:txBody>
      </p:sp>
      <p:sp>
        <p:nvSpPr>
          <p:cNvPr id="13" name="Shape 8"/>
          <p:cNvSpPr/>
          <p:nvPr/>
        </p:nvSpPr>
        <p:spPr>
          <a:xfrm>
            <a:off x="3729038" y="2254383"/>
            <a:ext cx="457200" cy="457200"/>
          </a:xfrm>
          <a:prstGeom prst="ellipse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411546"/>
            <a:ext cx="142875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864908" y="2797308"/>
            <a:ext cx="18543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4" b="1" kern="0" spc="1" dirty="0">
                <a:solidFill>
                  <a:srgbClr val="999999"/>
                </a:solidFill>
              </a:rPr>
              <a:t>M03</a:t>
            </a:r>
            <a:endParaRPr lang="en-US" sz="534" dirty="0"/>
          </a:p>
        </p:txBody>
      </p:sp>
      <p:sp>
        <p:nvSpPr>
          <p:cNvPr id="16" name="Text 10"/>
          <p:cNvSpPr/>
          <p:nvPr/>
        </p:nvSpPr>
        <p:spPr>
          <a:xfrm>
            <a:off x="3660530" y="2933040"/>
            <a:ext cx="59418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78909C"/>
                </a:solidFill>
              </a:rPr>
              <a:t>Regulación</a:t>
            </a:r>
            <a:endParaRPr lang="en-US" sz="734" dirty="0"/>
          </a:p>
        </p:txBody>
      </p:sp>
      <p:sp>
        <p:nvSpPr>
          <p:cNvPr id="17" name="Shape 11"/>
          <p:cNvSpPr/>
          <p:nvPr/>
        </p:nvSpPr>
        <p:spPr>
          <a:xfrm>
            <a:off x="4957763" y="2254383"/>
            <a:ext cx="457200" cy="457200"/>
          </a:xfrm>
          <a:prstGeom prst="ellipse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925" y="2411546"/>
            <a:ext cx="142875" cy="1428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93633" y="2797308"/>
            <a:ext cx="18543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4" b="1" kern="0" spc="1" dirty="0">
                <a:solidFill>
                  <a:srgbClr val="999999"/>
                </a:solidFill>
              </a:rPr>
              <a:t>M04</a:t>
            </a:r>
            <a:endParaRPr lang="en-US" sz="534" dirty="0"/>
          </a:p>
        </p:txBody>
      </p:sp>
      <p:sp>
        <p:nvSpPr>
          <p:cNvPr id="20" name="Text 13"/>
          <p:cNvSpPr/>
          <p:nvPr/>
        </p:nvSpPr>
        <p:spPr>
          <a:xfrm>
            <a:off x="4850467" y="2933040"/>
            <a:ext cx="67176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78909C"/>
                </a:solidFill>
              </a:rPr>
              <a:t>Necesidades</a:t>
            </a:r>
            <a:endParaRPr lang="en-US" sz="734" dirty="0"/>
          </a:p>
        </p:txBody>
      </p:sp>
      <p:sp>
        <p:nvSpPr>
          <p:cNvPr id="21" name="Shape 14"/>
          <p:cNvSpPr/>
          <p:nvPr/>
        </p:nvSpPr>
        <p:spPr>
          <a:xfrm>
            <a:off x="6129338" y="2188666"/>
            <a:ext cx="571500" cy="571500"/>
          </a:xfrm>
          <a:prstGeom prst="ellipse">
            <a:avLst/>
          </a:prstGeom>
          <a:solidFill>
            <a:srgbClr val="DC8060"/>
          </a:solidFill>
          <a:ln w="27432">
            <a:solidFill>
              <a:srgbClr val="DC806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0072" y="2374404"/>
            <a:ext cx="250031" cy="20002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322358" y="2845891"/>
            <a:ext cx="18543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4" b="1" kern="0" spc="1" dirty="0">
                <a:solidFill>
                  <a:srgbClr val="DC8060"/>
                </a:solidFill>
              </a:rPr>
              <a:t>M05</a:t>
            </a:r>
            <a:endParaRPr lang="en-US" sz="534" dirty="0"/>
          </a:p>
        </p:txBody>
      </p:sp>
      <p:sp>
        <p:nvSpPr>
          <p:cNvPr id="24" name="Text 16"/>
          <p:cNvSpPr/>
          <p:nvPr/>
        </p:nvSpPr>
        <p:spPr>
          <a:xfrm>
            <a:off x="6133133" y="2981623"/>
            <a:ext cx="563882" cy="145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DC8060"/>
                </a:solidFill>
              </a:rPr>
              <a:t>Conexión</a:t>
            </a:r>
            <a:endParaRPr lang="en-US" sz="834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3445" y="2411546"/>
            <a:ext cx="160734" cy="14287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551083" y="2797308"/>
            <a:ext cx="18543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4" b="1" kern="0" spc="1" dirty="0">
                <a:solidFill>
                  <a:srgbClr val="999999"/>
                </a:solidFill>
              </a:rPr>
              <a:t>M06</a:t>
            </a:r>
            <a:endParaRPr lang="en-US" sz="534" dirty="0"/>
          </a:p>
        </p:txBody>
      </p:sp>
      <p:sp>
        <p:nvSpPr>
          <p:cNvPr id="27" name="Text 18"/>
          <p:cNvSpPr/>
          <p:nvPr/>
        </p:nvSpPr>
        <p:spPr>
          <a:xfrm>
            <a:off x="7387279" y="2933040"/>
            <a:ext cx="5130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B0BEC5"/>
                </a:solidFill>
              </a:rPr>
              <a:t>Propósito</a:t>
            </a:r>
            <a:endParaRPr lang="en-US" sz="734" dirty="0"/>
          </a:p>
        </p:txBody>
      </p:sp>
      <p:sp>
        <p:nvSpPr>
          <p:cNvPr id="28" name="Text 19"/>
          <p:cNvSpPr/>
          <p:nvPr/>
        </p:nvSpPr>
        <p:spPr>
          <a:xfrm>
            <a:off x="1000125" y="3384519"/>
            <a:ext cx="23812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2D4A4E"/>
                </a:solidFill>
              </a:rPr>
              <a:t>Fase I: La Raíz</a:t>
            </a:r>
            <a:endParaRPr lang="en-US" sz="683" dirty="0"/>
          </a:p>
        </p:txBody>
      </p:sp>
      <p:sp>
        <p:nvSpPr>
          <p:cNvPr id="29" name="Text 20"/>
          <p:cNvSpPr/>
          <p:nvPr/>
        </p:nvSpPr>
        <p:spPr>
          <a:xfrm>
            <a:off x="1000125" y="3548825"/>
            <a:ext cx="23812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Liderarme a mí mismo</a:t>
            </a:r>
            <a:endParaRPr lang="en-US" sz="674" dirty="0"/>
          </a:p>
        </p:txBody>
      </p:sp>
      <p:sp>
        <p:nvSpPr>
          <p:cNvPr id="30" name="Text 21"/>
          <p:cNvSpPr/>
          <p:nvPr/>
        </p:nvSpPr>
        <p:spPr>
          <a:xfrm>
            <a:off x="3381366" y="3384519"/>
            <a:ext cx="23812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2D4A4E"/>
                </a:solidFill>
              </a:rPr>
              <a:t>Fase II: El Tronco</a:t>
            </a:r>
            <a:endParaRPr lang="en-US" sz="683" dirty="0"/>
          </a:p>
        </p:txBody>
      </p:sp>
      <p:sp>
        <p:nvSpPr>
          <p:cNvPr id="31" name="Text 22"/>
          <p:cNvSpPr/>
          <p:nvPr/>
        </p:nvSpPr>
        <p:spPr>
          <a:xfrm>
            <a:off x="3381366" y="3548825"/>
            <a:ext cx="23812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Liderar la relación</a:t>
            </a:r>
            <a:endParaRPr lang="en-US" sz="674" dirty="0"/>
          </a:p>
        </p:txBody>
      </p:sp>
      <p:sp>
        <p:nvSpPr>
          <p:cNvPr id="32" name="Text 23"/>
          <p:cNvSpPr/>
          <p:nvPr/>
        </p:nvSpPr>
        <p:spPr>
          <a:xfrm>
            <a:off x="5762606" y="3384519"/>
            <a:ext cx="23812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2D4A4E"/>
                </a:solidFill>
              </a:rPr>
              <a:t>Fase III: La Red</a:t>
            </a:r>
            <a:endParaRPr lang="en-US" sz="683" dirty="0"/>
          </a:p>
        </p:txBody>
      </p:sp>
      <p:sp>
        <p:nvSpPr>
          <p:cNvPr id="33" name="Text 24"/>
          <p:cNvSpPr/>
          <p:nvPr/>
        </p:nvSpPr>
        <p:spPr>
          <a:xfrm>
            <a:off x="5762606" y="3548825"/>
            <a:ext cx="23812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Liderar el sistema</a:t>
            </a:r>
            <a:endParaRPr lang="en-US" sz="674" dirty="0"/>
          </a:p>
        </p:txBody>
      </p:sp>
      <p:sp>
        <p:nvSpPr>
          <p:cNvPr id="34" name="Shape 25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solidFill>
            <a:srgbClr val="2D4A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26"/>
          <p:cNvSpPr/>
          <p:nvPr/>
        </p:nvSpPr>
        <p:spPr>
          <a:xfrm>
            <a:off x="0" y="4777383"/>
            <a:ext cx="9144000" cy="366117"/>
          </a:xfrm>
          <a:prstGeom prst="rect">
            <a:avLst/>
          </a:prstGeom>
          <a:noFill/>
          <a:ln/>
        </p:spPr>
        <p:txBody>
          <a:bodyPr wrap="square" lIns="680339" tIns="119126" rIns="680339" bIns="11912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88" dirty="0">
                <a:solidFill>
                  <a:srgbClr val="FFFFFF"/>
                </a:solidFill>
              </a:rPr>
              <a:t>Hemos cruzado el umbral del </a:t>
            </a:r>
            <a:r>
              <a:rPr lang="en-US" sz="888" i="1" dirty="0">
                <a:solidFill>
                  <a:srgbClr val="DC8060"/>
                </a:solidFill>
              </a:rPr>
              <a:t>"Yo"</a:t>
            </a:r>
            <a:r>
              <a:rPr lang="en-US" sz="888" dirty="0">
                <a:solidFill>
                  <a:srgbClr val="FFFFFF"/>
                </a:solidFill>
              </a:rPr>
              <a:t> al </a:t>
            </a:r>
            <a:r>
              <a:rPr lang="en-US" sz="888" i="1" dirty="0">
                <a:solidFill>
                  <a:srgbClr val="DC8060"/>
                </a:solidFill>
              </a:rPr>
              <a:t>"Nosotros"</a:t>
            </a:r>
            <a:r>
              <a:rPr lang="en-US" sz="888" dirty="0">
                <a:solidFill>
                  <a:srgbClr val="FFFFFF"/>
                </a:solidFill>
              </a:rPr>
              <a:t>.</a:t>
            </a:r>
            <a:endParaRPr lang="en-US" sz="888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98621" y="1163176"/>
            <a:ext cx="17467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4" dirty="0">
                <a:solidFill>
                  <a:srgbClr val="DC8060"/>
                </a:solidFill>
              </a:rPr>
              <a:t>PRÓXIMO MÓDULO</a:t>
            </a:r>
            <a:endParaRPr lang="en-US" sz="885" dirty="0"/>
          </a:p>
        </p:txBody>
      </p:sp>
      <p:sp>
        <p:nvSpPr>
          <p:cNvPr id="4" name="Shape 1"/>
          <p:cNvSpPr/>
          <p:nvPr/>
        </p:nvSpPr>
        <p:spPr>
          <a:xfrm>
            <a:off x="4214813" y="1538222"/>
            <a:ext cx="714375" cy="714375"/>
          </a:xfrm>
          <a:prstGeom prst="ellipse">
            <a:avLst/>
          </a:prstGeom>
          <a:solidFill>
            <a:srgbClr val="000000">
              <a:alpha val="0"/>
            </a:srgbClr>
          </a:solidFill>
          <a:ln w="18288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266" y="1752535"/>
            <a:ext cx="321469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39029" y="2452622"/>
            <a:ext cx="5665915" cy="4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FFFFFF"/>
                </a:solidFill>
              </a:rPr>
              <a:t>Consciente de lo que Quiero</a:t>
            </a:r>
            <a:endParaRPr lang="en-US" sz="2862" dirty="0"/>
          </a:p>
        </p:txBody>
      </p:sp>
      <p:sp>
        <p:nvSpPr>
          <p:cNvPr id="7" name="Text 3"/>
          <p:cNvSpPr/>
          <p:nvPr/>
        </p:nvSpPr>
        <p:spPr>
          <a:xfrm>
            <a:off x="3038298" y="2978386"/>
            <a:ext cx="306740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86" dirty="0">
                <a:solidFill>
                  <a:srgbClr val="C0C0C0"/>
                </a:solidFill>
              </a:rPr>
              <a:t>Módulo 06 — Propósito y Sistema</a:t>
            </a:r>
            <a:endParaRPr lang="en-US" sz="1486" dirty="0"/>
          </a:p>
        </p:txBody>
      </p:sp>
      <p:sp>
        <p:nvSpPr>
          <p:cNvPr id="8" name="Text 4"/>
          <p:cNvSpPr/>
          <p:nvPr/>
        </p:nvSpPr>
        <p:spPr>
          <a:xfrm>
            <a:off x="2071688" y="3508809"/>
            <a:ext cx="500062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159" i="1" dirty="0">
                <a:solidFill>
                  <a:srgbClr val="FFFFFF">
                    <a:alpha val="70000"/>
                  </a:srgbClr>
                </a:solidFill>
              </a:rPr>
              <a:t>"Pasaremos de ser jardineros de una sola planta a ser </a:t>
            </a:r>
            <a:r>
              <a:rPr lang="en-US" sz="1090" b="1" dirty="0">
                <a:solidFill>
                  <a:srgbClr val="DC8060"/>
                </a:solidFill>
              </a:rPr>
              <a:t>arquitectos del ecosistema</a:t>
            </a:r>
            <a:r>
              <a:rPr lang="en-US" sz="1159" i="1" dirty="0">
                <a:solidFill>
                  <a:srgbClr val="FFFFFF">
                    <a:alpha val="70000"/>
                  </a:srgbClr>
                </a:solidFill>
              </a:rPr>
              <a:t>."</a:t>
            </a:r>
            <a:endParaRPr lang="en-US" sz="1159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4883" y="1456432"/>
            <a:ext cx="3954205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18" b="1">
                <a:solidFill>
                  <a:srgbClr val="DC8060"/>
                </a:solidFill>
                <a:latin typeface="Montserrat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4883" y="2770882"/>
            <a:ext cx="3954205" cy="312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4" b="0">
                <a:solidFill>
                  <a:srgbClr val="FFFFFF"/>
                </a:solidFill>
                <a:latin typeface="Montserrat"/>
              </a:rPr>
              <a:t>Liderar con Consciencia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94883" y="3512046"/>
            <a:ext cx="3954205" cy="17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42" b="0">
                <a:solidFill>
                  <a:srgbClr val="A8B0A8"/>
                </a:solidFill>
                <a:latin typeface="Montserrat"/>
              </a:rPr>
              <a:t>www.liderarconconsciencia.com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E1B4BEC-C3FA-49BA-8DB1-85DB72AC7327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2784</Words>
  <Application>Microsoft Office PowerPoint</Application>
  <PresentationFormat>Presentación en pantalla (16:9)</PresentationFormat>
  <Paragraphs>468</Paragraphs>
  <Slides>37</Slides>
  <Notes>37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0" baseType="lpstr">
      <vt:lpstr>Arial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Sergio LG</cp:lastModifiedBy>
  <cp:revision>6</cp:revision>
  <dcterms:created xsi:type="dcterms:W3CDTF">2026-02-14T06:53:19Z</dcterms:created>
  <dcterms:modified xsi:type="dcterms:W3CDTF">2026-02-15T19:03:40Z</dcterms:modified>
</cp:coreProperties>
</file>